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1.png"/><Relationship Id="rId2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1.png"/><Relationship Id="rId2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1.png"/><Relationship Id="rId2" Type="http://schemas.openxmlformats.org/officeDocument/2006/relationships/image" Target="../media/image4.jpeg"/></Relationships>
</file>

<file path=ppt/slides/_rels/slide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560000" y="165000"/>
            <a:ext cx="60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 b="1">
                <a:solidFill>
                  <a:srgbClr val="E5F0FF"/>
                </a:solidFill>
                <a:latin typeface="Aptos"/>
              </a:rPr>
              <a:t>Airmius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0700000" y="165000"/>
            <a:ext cx="85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de-DE" sz="1200" b="1">
                <a:solidFill>
                  <a:srgbClr val="7DD3FC"/>
                </a:solidFill>
                <a:latin typeface="Aptos"/>
              </a:rPr>
              <a:t>01</a:t>
            </a:r>
          </a:p>
        </p:txBody>
      </p:sp>
      <p:pic>
        <p:nvPicPr>
          <p:cNvPr id="14" name="Pi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000" y="540000"/>
            <a:ext cx="1900000" cy="520000"/>
          </a:xfrm>
          <a:prstGeom prst="rect">
            <a:avLst/>
          </a:prstGeom>
        </p:spPr>
      </p:pic>
      <p:pic>
        <p:nvPicPr>
          <p:cNvPr id="15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000" y="900000"/>
            <a:ext cx="4800000" cy="3400000"/>
          </a:xfrm>
          <a:prstGeom prst="rect">
            <a:avLst/>
          </a:prstGeom>
        </p:spPr>
      </p:pic>
      <p:sp>
        <p:nvSpPr>
          <p:cNvPr id="16" name="Shape"/>
          <p:cNvSpPr/>
          <p:nvPr/>
        </p:nvSpPr>
        <p:spPr>
          <a:xfrm>
            <a:off x="6350000" y="800000"/>
            <a:ext cx="5000000" cy="3600000"/>
          </a:xfrm>
          <a:prstGeom prst="rect">
            <a:avLst/>
          </a:prstGeom>
          <a:solidFill>
            <a:srgbClr val="0b1220">
              <a:alpha val="4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"/>
          <p:cNvSpPr txBox="1"/>
          <p:nvPr/>
        </p:nvSpPr>
        <p:spPr>
          <a:xfrm>
            <a:off x="700000" y="1700000"/>
            <a:ext cx="56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4200" b="1">
                <a:solidFill>
                  <a:srgbClr val="FFFFFF"/>
                </a:solidFill>
                <a:latin typeface="Aptos"/>
              </a:rPr>
              <a:t>Airmius Use Cases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720000" y="2800000"/>
            <a:ext cx="5200000" cy="7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2100">
                <a:solidFill>
                  <a:srgbClr val="BFDBFE"/>
                </a:solidFill>
                <a:latin typeface="Aptos"/>
              </a:rPr>
              <a:t>Vollständige Plattformübersicht für Beta, Produkt, Verein, Nutzer und Admin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760000" y="390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300" b="1">
                <a:solidFill>
                  <a:srgbClr val="7DD3FC"/>
                </a:solidFill>
                <a:latin typeface="Aptos"/>
              </a:rPr>
              <a:t>Stand: 03.05.2026</a:t>
            </a:r>
          </a:p>
        </p:txBody>
      </p:sp>
      <p:sp>
        <p:nvSpPr>
          <p:cNvPr id="20" name="Shape"/>
          <p:cNvSpPr/>
          <p:nvPr/>
        </p:nvSpPr>
        <p:spPr>
          <a:xfrm>
            <a:off x="720000" y="4500000"/>
            <a:ext cx="3600000" cy="9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Shape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"/>
          <p:cNvSpPr txBox="1"/>
          <p:nvPr/>
        </p:nvSpPr>
        <p:spPr>
          <a:xfrm>
            <a:off x="560000" y="165000"/>
            <a:ext cx="60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 b="1">
                <a:solidFill>
                  <a:srgbClr val="E5F0FF"/>
                </a:solidFill>
                <a:latin typeface="Aptos"/>
              </a:rPr>
              <a:t>Airmius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10700000" y="165000"/>
            <a:ext cx="85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de-DE" sz="1200" b="1">
                <a:solidFill>
                  <a:srgbClr val="7DD3FC"/>
                </a:solidFill>
                <a:latin typeface="Aptos"/>
              </a:rPr>
              <a:t>02</a:t>
            </a:r>
          </a:p>
        </p:txBody>
      </p:sp>
      <p:pic>
        <p:nvPicPr>
          <p:cNvPr id="25" name="Pi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000" y="540000"/>
            <a:ext cx="1900000" cy="520000"/>
          </a:xfrm>
          <a:prstGeom prst="rect">
            <a:avLst/>
          </a:prstGeom>
        </p:spPr>
      </p:pic>
      <p:sp>
        <p:nvSpPr>
          <p:cNvPr id="26" name="Text"/>
          <p:cNvSpPr txBox="1"/>
          <p:nvPr/>
        </p:nvSpPr>
        <p:spPr>
          <a:xfrm>
            <a:off x="620000" y="820000"/>
            <a:ext cx="69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3000" b="1">
                <a:solidFill>
                  <a:srgbClr val="FFFFFF"/>
                </a:solidFill>
                <a:latin typeface="Aptos"/>
              </a:rPr>
              <a:t>Warum Airmius?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640000" y="1410000"/>
            <a:ext cx="77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>
                <a:solidFill>
                  <a:srgbClr val="BFDBFE"/>
                </a:solidFill>
                <a:latin typeface="Aptos"/>
              </a:rPr>
              <a:t>Eine Plattform für Sportorganisation, Kommunikation und Wachstum.</a:t>
            </a:r>
          </a:p>
        </p:txBody>
      </p:sp>
      <p:pic>
        <p:nvPicPr>
          <p:cNvPr id="28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000" y="1050000"/>
            <a:ext cx="3000000" cy="2100000"/>
          </a:xfrm>
          <a:prstGeom prst="rect">
            <a:avLst/>
          </a:prstGeom>
        </p:spPr>
      </p:pic>
      <p:sp>
        <p:nvSpPr>
          <p:cNvPr id="29" name="Shape"/>
          <p:cNvSpPr/>
          <p:nvPr/>
        </p:nvSpPr>
        <p:spPr>
          <a:xfrm>
            <a:off x="8050000" y="960000"/>
            <a:ext cx="3200000" cy="2300000"/>
          </a:xfrm>
          <a:prstGeom prst="rect">
            <a:avLst/>
          </a:prstGeom>
          <a:solidFill>
            <a:srgbClr val="11182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Bullets"/>
          <p:cNvSpPr txBox="1"/>
          <p:nvPr/>
        </p:nvSpPr>
        <p:spPr>
          <a:xfrm>
            <a:off x="830000" y="2200000"/>
            <a:ext cx="6500000" cy="3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Vereine brauchen Mitgliederverwaltung, Beitragslogik, Kommunikation und Sicherheit an einem Ort.</a:t>
            </a:r>
          </a:p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Sportler brauchen Profil, Teams, Events, Marketplace und transparente Zahlungen.</a:t>
            </a:r>
          </a:p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Eltern, Trainer, Sponsoren und Anbieter bekommen eigene klare Abläufe.</a:t>
            </a:r>
          </a:p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Admin- und Systemprozesse machen die Beta steuerbar und überprüfbar.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Shape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Text"/>
          <p:cNvSpPr txBox="1"/>
          <p:nvPr/>
        </p:nvSpPr>
        <p:spPr>
          <a:xfrm>
            <a:off x="560000" y="165000"/>
            <a:ext cx="60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 b="1">
                <a:solidFill>
                  <a:srgbClr val="E5F0FF"/>
                </a:solidFill>
                <a:latin typeface="Aptos"/>
              </a:rPr>
              <a:t>Airmius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10700000" y="165000"/>
            <a:ext cx="85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de-DE" sz="1200" b="1">
                <a:solidFill>
                  <a:srgbClr val="7DD3FC"/>
                </a:solidFill>
                <a:latin typeface="Aptos"/>
              </a:rPr>
              <a:t>03</a:t>
            </a:r>
          </a:p>
        </p:txBody>
      </p:sp>
      <p:pic>
        <p:nvPicPr>
          <p:cNvPr id="35" name="Pi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000" y="540000"/>
            <a:ext cx="1900000" cy="520000"/>
          </a:xfrm>
          <a:prstGeom prst="rect">
            <a:avLst/>
          </a:prstGeom>
        </p:spPr>
      </p:pic>
      <p:sp>
        <p:nvSpPr>
          <p:cNvPr id="36" name="Text"/>
          <p:cNvSpPr txBox="1"/>
          <p:nvPr/>
        </p:nvSpPr>
        <p:spPr>
          <a:xfrm>
            <a:off x="620000" y="820000"/>
            <a:ext cx="69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3000" b="1">
                <a:solidFill>
                  <a:srgbClr val="FFFFFF"/>
                </a:solidFill>
                <a:latin typeface="Aptos"/>
              </a:rPr>
              <a:t>Rollen und Akteure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640000" y="1410000"/>
            <a:ext cx="77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>
                <a:solidFill>
                  <a:srgbClr val="BFDBFE"/>
                </a:solidFill>
                <a:latin typeface="Aptos"/>
              </a:rPr>
              <a:t>Airmius ist nicht nur Vereinssoftware, sondern ein Rollenmodell für das Sport-Ökosystem.</a:t>
            </a:r>
          </a:p>
        </p:txBody>
      </p:sp>
      <p:sp>
        <p:nvSpPr>
          <p:cNvPr id="38" name="Shape"/>
          <p:cNvSpPr/>
          <p:nvPr/>
        </p:nvSpPr>
        <p:spPr>
          <a:xfrm>
            <a:off x="720000" y="2200000"/>
            <a:ext cx="3400000" cy="105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Shape"/>
          <p:cNvSpPr/>
          <p:nvPr/>
        </p:nvSpPr>
        <p:spPr>
          <a:xfrm>
            <a:off x="720000" y="2200000"/>
            <a:ext cx="90000" cy="105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Text"/>
          <p:cNvSpPr txBox="1"/>
          <p:nvPr/>
        </p:nvSpPr>
        <p:spPr>
          <a:xfrm>
            <a:off x="940000" y="2370000"/>
            <a:ext cx="304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700" b="1">
                <a:solidFill>
                  <a:srgbClr val="FFFFFF"/>
                </a:solidFill>
                <a:latin typeface="Aptos"/>
              </a:rPr>
              <a:t>Besucher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940000" y="2710000"/>
            <a:ext cx="304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200">
                <a:solidFill>
                  <a:srgbClr val="BFDBFE"/>
                </a:solidFill>
                <a:latin typeface="Aptos"/>
              </a:rPr>
              <a:t>Entdecken, Preise, Blog, Registrierung</a:t>
            </a:r>
          </a:p>
        </p:txBody>
      </p:sp>
      <p:sp>
        <p:nvSpPr>
          <p:cNvPr id="42" name="Shape"/>
          <p:cNvSpPr/>
          <p:nvPr/>
        </p:nvSpPr>
        <p:spPr>
          <a:xfrm>
            <a:off x="4420000" y="2200000"/>
            <a:ext cx="3400000" cy="105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4420000" y="2200000"/>
            <a:ext cx="90000" cy="105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4640000" y="2370000"/>
            <a:ext cx="304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700" b="1">
                <a:solidFill>
                  <a:srgbClr val="FFFFFF"/>
                </a:solidFill>
                <a:latin typeface="Aptos"/>
              </a:rPr>
              <a:t>Sportler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4640000" y="2710000"/>
            <a:ext cx="304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200">
                <a:solidFill>
                  <a:srgbClr val="BFDBFE"/>
                </a:solidFill>
                <a:latin typeface="Aptos"/>
              </a:rPr>
              <a:t>Profil, Skills, Feed, Teams, Events</a:t>
            </a:r>
          </a:p>
        </p:txBody>
      </p:sp>
      <p:sp>
        <p:nvSpPr>
          <p:cNvPr id="46" name="Shape"/>
          <p:cNvSpPr/>
          <p:nvPr/>
        </p:nvSpPr>
        <p:spPr>
          <a:xfrm>
            <a:off x="8120000" y="2200000"/>
            <a:ext cx="3400000" cy="105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Shape"/>
          <p:cNvSpPr/>
          <p:nvPr/>
        </p:nvSpPr>
        <p:spPr>
          <a:xfrm>
            <a:off x="8120000" y="2200000"/>
            <a:ext cx="90000" cy="105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Text"/>
          <p:cNvSpPr txBox="1"/>
          <p:nvPr/>
        </p:nvSpPr>
        <p:spPr>
          <a:xfrm>
            <a:off x="8340000" y="2370000"/>
            <a:ext cx="304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700" b="1">
                <a:solidFill>
                  <a:srgbClr val="FFFFFF"/>
                </a:solidFill>
                <a:latin typeface="Aptos"/>
              </a:rPr>
              <a:t>Eltern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8340000" y="2710000"/>
            <a:ext cx="304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200">
                <a:solidFill>
                  <a:srgbClr val="BFDBFE"/>
                </a:solidFill>
                <a:latin typeface="Aptos"/>
              </a:rPr>
              <a:t>Zustimmung, Widerruf, Kinderüberblick</a:t>
            </a:r>
          </a:p>
        </p:txBody>
      </p:sp>
      <p:sp>
        <p:nvSpPr>
          <p:cNvPr id="50" name="Shape"/>
          <p:cNvSpPr/>
          <p:nvPr/>
        </p:nvSpPr>
        <p:spPr>
          <a:xfrm>
            <a:off x="720000" y="3550000"/>
            <a:ext cx="3400000" cy="105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Shape"/>
          <p:cNvSpPr/>
          <p:nvPr/>
        </p:nvSpPr>
        <p:spPr>
          <a:xfrm>
            <a:off x="720000" y="3550000"/>
            <a:ext cx="90000" cy="105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ext"/>
          <p:cNvSpPr txBox="1"/>
          <p:nvPr/>
        </p:nvSpPr>
        <p:spPr>
          <a:xfrm>
            <a:off x="940000" y="3720000"/>
            <a:ext cx="304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700" b="1">
                <a:solidFill>
                  <a:srgbClr val="FFFFFF"/>
                </a:solidFill>
                <a:latin typeface="Aptos"/>
              </a:rPr>
              <a:t>Trainer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940000" y="4060000"/>
            <a:ext cx="304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200">
                <a:solidFill>
                  <a:srgbClr val="BFDBFE"/>
                </a:solidFill>
                <a:latin typeface="Aptos"/>
              </a:rPr>
              <a:t>Teams, Training, Empfehlungen, Angebote</a:t>
            </a:r>
          </a:p>
        </p:txBody>
      </p:sp>
      <p:sp>
        <p:nvSpPr>
          <p:cNvPr id="54" name="Shape"/>
          <p:cNvSpPr/>
          <p:nvPr/>
        </p:nvSpPr>
        <p:spPr>
          <a:xfrm>
            <a:off x="4420000" y="3550000"/>
            <a:ext cx="3400000" cy="105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Shape"/>
          <p:cNvSpPr/>
          <p:nvPr/>
        </p:nvSpPr>
        <p:spPr>
          <a:xfrm>
            <a:off x="4420000" y="3550000"/>
            <a:ext cx="90000" cy="105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Text"/>
          <p:cNvSpPr txBox="1"/>
          <p:nvPr/>
        </p:nvSpPr>
        <p:spPr>
          <a:xfrm>
            <a:off x="4640000" y="3720000"/>
            <a:ext cx="304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700" b="1">
                <a:solidFill>
                  <a:srgbClr val="FFFFFF"/>
                </a:solidFill>
                <a:latin typeface="Aptos"/>
              </a:rPr>
              <a:t>Verein</a:t>
            </a:r>
          </a:p>
        </p:txBody>
      </p:sp>
      <p:sp>
        <p:nvSpPr>
          <p:cNvPr id="57" name="Text"/>
          <p:cNvSpPr txBox="1"/>
          <p:nvPr/>
        </p:nvSpPr>
        <p:spPr>
          <a:xfrm>
            <a:off x="4640000" y="4060000"/>
            <a:ext cx="304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200">
                <a:solidFill>
                  <a:srgbClr val="BFDBFE"/>
                </a:solidFill>
                <a:latin typeface="Aptos"/>
              </a:rPr>
              <a:t>Mitglieder, Beiträge, Rechnungen, DATEV</a:t>
            </a:r>
          </a:p>
        </p:txBody>
      </p:sp>
      <p:sp>
        <p:nvSpPr>
          <p:cNvPr id="58" name="Shape"/>
          <p:cNvSpPr/>
          <p:nvPr/>
        </p:nvSpPr>
        <p:spPr>
          <a:xfrm>
            <a:off x="8120000" y="3550000"/>
            <a:ext cx="3400000" cy="105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Shape"/>
          <p:cNvSpPr/>
          <p:nvPr/>
        </p:nvSpPr>
        <p:spPr>
          <a:xfrm>
            <a:off x="8120000" y="3550000"/>
            <a:ext cx="90000" cy="105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Text"/>
          <p:cNvSpPr txBox="1"/>
          <p:nvPr/>
        </p:nvSpPr>
        <p:spPr>
          <a:xfrm>
            <a:off x="8340000" y="3720000"/>
            <a:ext cx="304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7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61" name="Text"/>
          <p:cNvSpPr txBox="1"/>
          <p:nvPr/>
        </p:nvSpPr>
        <p:spPr>
          <a:xfrm>
            <a:off x="8340000" y="4060000"/>
            <a:ext cx="304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200">
                <a:solidFill>
                  <a:srgbClr val="BFDBFE"/>
                </a:solidFill>
                <a:latin typeface="Aptos"/>
              </a:rPr>
              <a:t>Pläne, Moderation, Commerce, Betrieb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Shape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Text"/>
          <p:cNvSpPr txBox="1"/>
          <p:nvPr/>
        </p:nvSpPr>
        <p:spPr>
          <a:xfrm>
            <a:off x="560000" y="165000"/>
            <a:ext cx="60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 b="1">
                <a:solidFill>
                  <a:srgbClr val="E5F0FF"/>
                </a:solidFill>
                <a:latin typeface="Aptos"/>
              </a:rPr>
              <a:t>Airmius</a:t>
            </a:r>
          </a:p>
        </p:txBody>
      </p:sp>
      <p:sp>
        <p:nvSpPr>
          <p:cNvPr id="65" name="Text"/>
          <p:cNvSpPr txBox="1"/>
          <p:nvPr/>
        </p:nvSpPr>
        <p:spPr>
          <a:xfrm>
            <a:off x="10700000" y="165000"/>
            <a:ext cx="85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de-DE" sz="1200" b="1">
                <a:solidFill>
                  <a:srgbClr val="7DD3FC"/>
                </a:solidFill>
                <a:latin typeface="Aptos"/>
              </a:rPr>
              <a:t>04</a:t>
            </a:r>
          </a:p>
        </p:txBody>
      </p:sp>
      <p:pic>
        <p:nvPicPr>
          <p:cNvPr id="66" name="Pi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000" y="540000"/>
            <a:ext cx="1900000" cy="520000"/>
          </a:xfrm>
          <a:prstGeom prst="rect">
            <a:avLst/>
          </a:prstGeom>
        </p:spPr>
      </p:pic>
      <p:sp>
        <p:nvSpPr>
          <p:cNvPr id="67" name="Text"/>
          <p:cNvSpPr txBox="1"/>
          <p:nvPr/>
        </p:nvSpPr>
        <p:spPr>
          <a:xfrm>
            <a:off x="620000" y="820000"/>
            <a:ext cx="69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3000" b="1">
                <a:solidFill>
                  <a:srgbClr val="FFFFFF"/>
                </a:solidFill>
                <a:latin typeface="Aptos"/>
              </a:rPr>
              <a:t>Öffentliche Journey</a:t>
            </a:r>
          </a:p>
        </p:txBody>
      </p:sp>
      <p:sp>
        <p:nvSpPr>
          <p:cNvPr id="68" name="Text"/>
          <p:cNvSpPr txBox="1"/>
          <p:nvPr/>
        </p:nvSpPr>
        <p:spPr>
          <a:xfrm>
            <a:off x="640000" y="1410000"/>
            <a:ext cx="77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>
                <a:solidFill>
                  <a:srgbClr val="BFDBFE"/>
                </a:solidFill>
                <a:latin typeface="Aptos"/>
              </a:rPr>
              <a:t>Vom ersten Besuch bis zur Registrierung.</a:t>
            </a:r>
          </a:p>
        </p:txBody>
      </p:sp>
      <p:sp>
        <p:nvSpPr>
          <p:cNvPr id="69" name="Bullets"/>
          <p:cNvSpPr txBox="1"/>
          <p:nvPr/>
        </p:nvSpPr>
        <p:spPr>
          <a:xfrm>
            <a:off x="830000" y="2200000"/>
            <a:ext cx="6500000" cy="3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Startseite, Preise, Vereine, Blog, Jobs, E-Learning und rechtliche Seiten sind öffentlich erreichbar.</a:t>
            </a:r>
          </a:p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Besucher können Sprache wechseln und sich per E-Mail, Google oder Microsoft/Outlook anmelden.</a:t>
            </a:r>
          </a:p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SEO wird über Sitemap, Robots und SeoHead für öffentliche Seiten vorbereitet.</a:t>
            </a:r>
          </a:p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Preise zeigen verschiedene Zielgruppen: Sportler, Trainer, Vereine, Eltern, Sponsoren, Anbieter.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Shape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"/>
          <p:cNvSpPr txBox="1"/>
          <p:nvPr/>
        </p:nvSpPr>
        <p:spPr>
          <a:xfrm>
            <a:off x="560000" y="165000"/>
            <a:ext cx="60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 b="1">
                <a:solidFill>
                  <a:srgbClr val="E5F0FF"/>
                </a:solidFill>
                <a:latin typeface="Aptos"/>
              </a:rPr>
              <a:t>Airmius</a:t>
            </a:r>
          </a:p>
        </p:txBody>
      </p:sp>
      <p:sp>
        <p:nvSpPr>
          <p:cNvPr id="73" name="Text"/>
          <p:cNvSpPr txBox="1"/>
          <p:nvPr/>
        </p:nvSpPr>
        <p:spPr>
          <a:xfrm>
            <a:off x="10700000" y="165000"/>
            <a:ext cx="85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de-DE" sz="1200" b="1">
                <a:solidFill>
                  <a:srgbClr val="7DD3FC"/>
                </a:solidFill>
                <a:latin typeface="Aptos"/>
              </a:rPr>
              <a:t>05</a:t>
            </a:r>
          </a:p>
        </p:txBody>
      </p:sp>
      <p:pic>
        <p:nvPicPr>
          <p:cNvPr id="74" name="Pi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000" y="540000"/>
            <a:ext cx="1900000" cy="520000"/>
          </a:xfrm>
          <a:prstGeom prst="rect">
            <a:avLst/>
          </a:prstGeom>
        </p:spPr>
      </p:pic>
      <p:sp>
        <p:nvSpPr>
          <p:cNvPr id="75" name="Text"/>
          <p:cNvSpPr txBox="1"/>
          <p:nvPr/>
        </p:nvSpPr>
        <p:spPr>
          <a:xfrm>
            <a:off x="620000" y="820000"/>
            <a:ext cx="69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3000" b="1">
                <a:solidFill>
                  <a:srgbClr val="FFFFFF"/>
                </a:solidFill>
                <a:latin typeface="Aptos"/>
              </a:rPr>
              <a:t>Registrierung und Jugendschutz</a:t>
            </a:r>
          </a:p>
        </p:txBody>
      </p:sp>
      <p:sp>
        <p:nvSpPr>
          <p:cNvPr id="76" name="Text"/>
          <p:cNvSpPr txBox="1"/>
          <p:nvPr/>
        </p:nvSpPr>
        <p:spPr>
          <a:xfrm>
            <a:off x="640000" y="1410000"/>
            <a:ext cx="77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>
                <a:solidFill>
                  <a:srgbClr val="BFDBFE"/>
                </a:solidFill>
                <a:latin typeface="Aptos"/>
              </a:rPr>
              <a:t>Unter 16 Jahren wird die soziale Nutzung erst nach Elternentscheidung freigeschaltet.</a:t>
            </a:r>
          </a:p>
        </p:txBody>
      </p:sp>
      <p:pic>
        <p:nvPicPr>
          <p:cNvPr id="77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000" y="1050000"/>
            <a:ext cx="3000000" cy="2100000"/>
          </a:xfrm>
          <a:prstGeom prst="rect">
            <a:avLst/>
          </a:prstGeom>
        </p:spPr>
      </p:pic>
      <p:sp>
        <p:nvSpPr>
          <p:cNvPr id="78" name="Shape"/>
          <p:cNvSpPr/>
          <p:nvPr/>
        </p:nvSpPr>
        <p:spPr>
          <a:xfrm>
            <a:off x="8050000" y="960000"/>
            <a:ext cx="3200000" cy="2300000"/>
          </a:xfrm>
          <a:prstGeom prst="rect">
            <a:avLst/>
          </a:prstGeom>
          <a:solidFill>
            <a:srgbClr val="11182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Shape"/>
          <p:cNvSpPr/>
          <p:nvPr/>
        </p:nvSpPr>
        <p:spPr>
          <a:xfrm>
            <a:off x="820000" y="2250000"/>
            <a:ext cx="430000" cy="43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Text"/>
          <p:cNvSpPr txBox="1"/>
          <p:nvPr/>
        </p:nvSpPr>
        <p:spPr>
          <a:xfrm>
            <a:off x="937000" y="2337000"/>
            <a:ext cx="200000" cy="1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de-DE" sz="1600" b="1">
                <a:solidFill>
                  <a:srgbClr val="07111D"/>
                </a:solidFill>
                <a:latin typeface="Aptos"/>
              </a:rPr>
              <a:t>1</a:t>
            </a:r>
          </a:p>
        </p:txBody>
      </p:sp>
      <p:sp>
        <p:nvSpPr>
          <p:cNvPr id="81" name="Text"/>
          <p:cNvSpPr txBox="1"/>
          <p:nvPr/>
        </p:nvSpPr>
        <p:spPr>
          <a:xfrm>
            <a:off x="1420000" y="2285000"/>
            <a:ext cx="850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800">
                <a:solidFill>
                  <a:srgbClr val="E5E7EB"/>
                </a:solidFill>
                <a:latin typeface="Aptos"/>
              </a:rPr>
              <a:t>Registrierung mit Geburtsdatum</a:t>
            </a:r>
          </a:p>
        </p:txBody>
      </p:sp>
      <p:sp>
        <p:nvSpPr>
          <p:cNvPr id="82" name="Shape"/>
          <p:cNvSpPr/>
          <p:nvPr/>
        </p:nvSpPr>
        <p:spPr>
          <a:xfrm>
            <a:off x="820000" y="2870000"/>
            <a:ext cx="430000" cy="43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Text"/>
          <p:cNvSpPr txBox="1"/>
          <p:nvPr/>
        </p:nvSpPr>
        <p:spPr>
          <a:xfrm>
            <a:off x="937000" y="2957000"/>
            <a:ext cx="200000" cy="1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de-DE" sz="1600" b="1">
                <a:solidFill>
                  <a:srgbClr val="07111D"/>
                </a:solidFill>
                <a:latin typeface="Aptos"/>
              </a:rPr>
              <a:t>2</a:t>
            </a:r>
          </a:p>
        </p:txBody>
      </p:sp>
      <p:sp>
        <p:nvSpPr>
          <p:cNvPr id="84" name="Text"/>
          <p:cNvSpPr txBox="1"/>
          <p:nvPr/>
        </p:nvSpPr>
        <p:spPr>
          <a:xfrm>
            <a:off x="1420000" y="2905000"/>
            <a:ext cx="850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800">
                <a:solidFill>
                  <a:srgbClr val="E5E7EB"/>
                </a:solidFill>
                <a:latin typeface="Aptos"/>
              </a:rPr>
              <a:t>Eltern-E-Mail speichern</a:t>
            </a:r>
          </a:p>
        </p:txBody>
      </p:sp>
      <p:sp>
        <p:nvSpPr>
          <p:cNvPr id="85" name="Shape"/>
          <p:cNvSpPr/>
          <p:nvPr/>
        </p:nvSpPr>
        <p:spPr>
          <a:xfrm>
            <a:off x="820000" y="3490000"/>
            <a:ext cx="430000" cy="43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Text"/>
          <p:cNvSpPr txBox="1"/>
          <p:nvPr/>
        </p:nvSpPr>
        <p:spPr>
          <a:xfrm>
            <a:off x="937000" y="3577000"/>
            <a:ext cx="200000" cy="1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de-DE" sz="1600" b="1">
                <a:solidFill>
                  <a:srgbClr val="07111D"/>
                </a:solidFill>
                <a:latin typeface="Aptos"/>
              </a:rPr>
              <a:t>3</a:t>
            </a:r>
          </a:p>
        </p:txBody>
      </p:sp>
      <p:sp>
        <p:nvSpPr>
          <p:cNvPr id="87" name="Text"/>
          <p:cNvSpPr txBox="1"/>
          <p:nvPr/>
        </p:nvSpPr>
        <p:spPr>
          <a:xfrm>
            <a:off x="1420000" y="3525000"/>
            <a:ext cx="850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800">
                <a:solidFill>
                  <a:srgbClr val="E5E7EB"/>
                </a:solidFill>
                <a:latin typeface="Aptos"/>
              </a:rPr>
              <a:t>Zustimmung per Token oder Eltern-Login</a:t>
            </a:r>
          </a:p>
        </p:txBody>
      </p:sp>
      <p:sp>
        <p:nvSpPr>
          <p:cNvPr id="88" name="Shape"/>
          <p:cNvSpPr/>
          <p:nvPr/>
        </p:nvSpPr>
        <p:spPr>
          <a:xfrm>
            <a:off x="820000" y="4110000"/>
            <a:ext cx="430000" cy="43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Text"/>
          <p:cNvSpPr txBox="1"/>
          <p:nvPr/>
        </p:nvSpPr>
        <p:spPr>
          <a:xfrm>
            <a:off x="937000" y="4197000"/>
            <a:ext cx="200000" cy="1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de-DE" sz="1600" b="1">
                <a:solidFill>
                  <a:srgbClr val="07111D"/>
                </a:solidFill>
                <a:latin typeface="Aptos"/>
              </a:rPr>
              <a:t>4</a:t>
            </a:r>
          </a:p>
        </p:txBody>
      </p:sp>
      <p:sp>
        <p:nvSpPr>
          <p:cNvPr id="90" name="Text"/>
          <p:cNvSpPr txBox="1"/>
          <p:nvPr/>
        </p:nvSpPr>
        <p:spPr>
          <a:xfrm>
            <a:off x="1420000" y="4145000"/>
            <a:ext cx="850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800">
                <a:solidFill>
                  <a:srgbClr val="E5E7EB"/>
                </a:solidFill>
                <a:latin typeface="Aptos"/>
              </a:rPr>
              <a:t>Pending-Seite bis zur Entscheidung</a:t>
            </a:r>
          </a:p>
        </p:txBody>
      </p:sp>
      <p:sp>
        <p:nvSpPr>
          <p:cNvPr id="91" name="Shape"/>
          <p:cNvSpPr/>
          <p:nvPr/>
        </p:nvSpPr>
        <p:spPr>
          <a:xfrm>
            <a:off x="820000" y="4730000"/>
            <a:ext cx="430000" cy="43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Text"/>
          <p:cNvSpPr txBox="1"/>
          <p:nvPr/>
        </p:nvSpPr>
        <p:spPr>
          <a:xfrm>
            <a:off x="937000" y="4817000"/>
            <a:ext cx="200000" cy="1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de-DE" sz="1600" b="1">
                <a:solidFill>
                  <a:srgbClr val="07111D"/>
                </a:solidFill>
                <a:latin typeface="Aptos"/>
              </a:rPr>
              <a:t>5</a:t>
            </a:r>
          </a:p>
        </p:txBody>
      </p:sp>
      <p:sp>
        <p:nvSpPr>
          <p:cNvPr id="93" name="Text"/>
          <p:cNvSpPr txBox="1"/>
          <p:nvPr/>
        </p:nvSpPr>
        <p:spPr>
          <a:xfrm>
            <a:off x="1420000" y="4765000"/>
            <a:ext cx="850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800">
                <a:solidFill>
                  <a:srgbClr val="E5E7EB"/>
                </a:solidFill>
                <a:latin typeface="Aptos"/>
              </a:rPr>
              <a:t>Widerruf später möglich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Shape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Text"/>
          <p:cNvSpPr txBox="1"/>
          <p:nvPr/>
        </p:nvSpPr>
        <p:spPr>
          <a:xfrm>
            <a:off x="560000" y="165000"/>
            <a:ext cx="60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 b="1">
                <a:solidFill>
                  <a:srgbClr val="E5F0FF"/>
                </a:solidFill>
                <a:latin typeface="Aptos"/>
              </a:rPr>
              <a:t>Airmius</a:t>
            </a:r>
          </a:p>
        </p:txBody>
      </p:sp>
      <p:sp>
        <p:nvSpPr>
          <p:cNvPr id="97" name="Text"/>
          <p:cNvSpPr txBox="1"/>
          <p:nvPr/>
        </p:nvSpPr>
        <p:spPr>
          <a:xfrm>
            <a:off x="10700000" y="165000"/>
            <a:ext cx="85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de-DE" sz="1200" b="1">
                <a:solidFill>
                  <a:srgbClr val="7DD3FC"/>
                </a:solidFill>
                <a:latin typeface="Aptos"/>
              </a:rPr>
              <a:t>06</a:t>
            </a:r>
          </a:p>
        </p:txBody>
      </p:sp>
      <p:pic>
        <p:nvPicPr>
          <p:cNvPr id="98" name="Pi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000" y="540000"/>
            <a:ext cx="1900000" cy="520000"/>
          </a:xfrm>
          <a:prstGeom prst="rect">
            <a:avLst/>
          </a:prstGeom>
        </p:spPr>
      </p:pic>
      <p:sp>
        <p:nvSpPr>
          <p:cNvPr id="99" name="Text"/>
          <p:cNvSpPr txBox="1"/>
          <p:nvPr/>
        </p:nvSpPr>
        <p:spPr>
          <a:xfrm>
            <a:off x="620000" y="820000"/>
            <a:ext cx="69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3000" b="1">
                <a:solidFill>
                  <a:srgbClr val="FFFFFF"/>
                </a:solidFill>
                <a:latin typeface="Aptos"/>
              </a:rPr>
              <a:t>Sportler-Use-Cases</a:t>
            </a:r>
          </a:p>
        </p:txBody>
      </p:sp>
      <p:sp>
        <p:nvSpPr>
          <p:cNvPr id="100" name="Text"/>
          <p:cNvSpPr txBox="1"/>
          <p:nvPr/>
        </p:nvSpPr>
        <p:spPr>
          <a:xfrm>
            <a:off x="640000" y="1410000"/>
            <a:ext cx="77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>
                <a:solidFill>
                  <a:srgbClr val="BFDBFE"/>
                </a:solidFill>
                <a:latin typeface="Aptos"/>
              </a:rPr>
              <a:t>Der Sportler steht im Netzwerk, aber mit kontrollierter Sichtbarkeit.</a:t>
            </a:r>
          </a:p>
        </p:txBody>
      </p:sp>
      <p:sp>
        <p:nvSpPr>
          <p:cNvPr id="101" name="Bullets"/>
          <p:cNvSpPr txBox="1"/>
          <p:nvPr/>
        </p:nvSpPr>
        <p:spPr>
          <a:xfrm>
            <a:off x="830000" y="2200000"/>
            <a:ext cx="6500000" cy="3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Profil mit Sportarten, Skills, Lizenznummer und Sichtbarkeit pflegen.</a:t>
            </a:r>
          </a:p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Feed, Beiträge, Kommentare, Likes, Helpful und Meldungen nutzen.</a:t>
            </a:r>
          </a:p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Teams beitreten, Events besuchen und Fahrgemeinschaften organisieren.</a:t>
            </a:r>
          </a:p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Marketplace kaufen und Zahlungs- oder Bestellprobleme melden.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Shape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Text"/>
          <p:cNvSpPr txBox="1"/>
          <p:nvPr/>
        </p:nvSpPr>
        <p:spPr>
          <a:xfrm>
            <a:off x="560000" y="165000"/>
            <a:ext cx="60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 b="1">
                <a:solidFill>
                  <a:srgbClr val="E5F0FF"/>
                </a:solidFill>
                <a:latin typeface="Aptos"/>
              </a:rPr>
              <a:t>Airmius</a:t>
            </a:r>
          </a:p>
        </p:txBody>
      </p:sp>
      <p:sp>
        <p:nvSpPr>
          <p:cNvPr id="105" name="Text"/>
          <p:cNvSpPr txBox="1"/>
          <p:nvPr/>
        </p:nvSpPr>
        <p:spPr>
          <a:xfrm>
            <a:off x="10700000" y="165000"/>
            <a:ext cx="85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de-DE" sz="1200" b="1">
                <a:solidFill>
                  <a:srgbClr val="7DD3FC"/>
                </a:solidFill>
                <a:latin typeface="Aptos"/>
              </a:rPr>
              <a:t>07</a:t>
            </a:r>
          </a:p>
        </p:txBody>
      </p:sp>
      <p:pic>
        <p:nvPicPr>
          <p:cNvPr id="106" name="Pi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000" y="540000"/>
            <a:ext cx="1900000" cy="520000"/>
          </a:xfrm>
          <a:prstGeom prst="rect">
            <a:avLst/>
          </a:prstGeom>
        </p:spPr>
      </p:pic>
      <p:sp>
        <p:nvSpPr>
          <p:cNvPr id="107" name="Text"/>
          <p:cNvSpPr txBox="1"/>
          <p:nvPr/>
        </p:nvSpPr>
        <p:spPr>
          <a:xfrm>
            <a:off x="620000" y="820000"/>
            <a:ext cx="69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3000" b="1">
                <a:solidFill>
                  <a:srgbClr val="FFFFFF"/>
                </a:solidFill>
                <a:latin typeface="Aptos"/>
              </a:rPr>
              <a:t>Vereinsverwaltung</a:t>
            </a:r>
          </a:p>
        </p:txBody>
      </p:sp>
      <p:sp>
        <p:nvSpPr>
          <p:cNvPr id="108" name="Text"/>
          <p:cNvSpPr txBox="1"/>
          <p:nvPr/>
        </p:nvSpPr>
        <p:spPr>
          <a:xfrm>
            <a:off x="640000" y="1410000"/>
            <a:ext cx="77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>
                <a:solidFill>
                  <a:srgbClr val="BFDBFE"/>
                </a:solidFill>
                <a:latin typeface="Aptos"/>
              </a:rPr>
              <a:t>Der Verein bekommt operative Werkzeuge für Mitglieder, Beiträge und Organisation.</a:t>
            </a:r>
          </a:p>
        </p:txBody>
      </p:sp>
      <p:sp>
        <p:nvSpPr>
          <p:cNvPr id="109" name="Shape"/>
          <p:cNvSpPr/>
          <p:nvPr/>
        </p:nvSpPr>
        <p:spPr>
          <a:xfrm>
            <a:off x="720000" y="2200000"/>
            <a:ext cx="3400000" cy="105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Shape"/>
          <p:cNvSpPr/>
          <p:nvPr/>
        </p:nvSpPr>
        <p:spPr>
          <a:xfrm>
            <a:off x="720000" y="2200000"/>
            <a:ext cx="90000" cy="105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Text"/>
          <p:cNvSpPr txBox="1"/>
          <p:nvPr/>
        </p:nvSpPr>
        <p:spPr>
          <a:xfrm>
            <a:off x="940000" y="2370000"/>
            <a:ext cx="304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700" b="1">
                <a:solidFill>
                  <a:srgbClr val="FFFFFF"/>
                </a:solidFill>
                <a:latin typeface="Aptos"/>
              </a:rPr>
              <a:t>Mitglieder</a:t>
            </a:r>
          </a:p>
        </p:txBody>
      </p:sp>
      <p:sp>
        <p:nvSpPr>
          <p:cNvPr id="112" name="Text"/>
          <p:cNvSpPr txBox="1"/>
          <p:nvPr/>
        </p:nvSpPr>
        <p:spPr>
          <a:xfrm>
            <a:off x="940000" y="2710000"/>
            <a:ext cx="304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200">
                <a:solidFill>
                  <a:srgbClr val="BFDBFE"/>
                </a:solidFill>
                <a:latin typeface="Aptos"/>
              </a:rPr>
              <a:t>Status, Nummern, Lizenz, Eintritt, Ende</a:t>
            </a:r>
          </a:p>
        </p:txBody>
      </p:sp>
      <p:sp>
        <p:nvSpPr>
          <p:cNvPr id="113" name="Shape"/>
          <p:cNvSpPr/>
          <p:nvPr/>
        </p:nvSpPr>
        <p:spPr>
          <a:xfrm>
            <a:off x="4420000" y="2200000"/>
            <a:ext cx="3400000" cy="105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Shape"/>
          <p:cNvSpPr/>
          <p:nvPr/>
        </p:nvSpPr>
        <p:spPr>
          <a:xfrm>
            <a:off x="4420000" y="2200000"/>
            <a:ext cx="90000" cy="105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Text"/>
          <p:cNvSpPr txBox="1"/>
          <p:nvPr/>
        </p:nvSpPr>
        <p:spPr>
          <a:xfrm>
            <a:off x="4640000" y="2370000"/>
            <a:ext cx="304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700" b="1">
                <a:solidFill>
                  <a:srgbClr val="FFFFFF"/>
                </a:solidFill>
                <a:latin typeface="Aptos"/>
              </a:rPr>
              <a:t>Import</a:t>
            </a:r>
          </a:p>
        </p:txBody>
      </p:sp>
      <p:sp>
        <p:nvSpPr>
          <p:cNvPr id="116" name="Text"/>
          <p:cNvSpPr txBox="1"/>
          <p:nvPr/>
        </p:nvSpPr>
        <p:spPr>
          <a:xfrm>
            <a:off x="4640000" y="2710000"/>
            <a:ext cx="304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200">
                <a:solidFill>
                  <a:srgbClr val="BFDBFE"/>
                </a:solidFill>
                <a:latin typeface="Aptos"/>
              </a:rPr>
              <a:t>Excel/CSV, externe Mitglieder, spätere Einladung</a:t>
            </a:r>
          </a:p>
        </p:txBody>
      </p:sp>
      <p:sp>
        <p:nvSpPr>
          <p:cNvPr id="117" name="Shape"/>
          <p:cNvSpPr/>
          <p:nvPr/>
        </p:nvSpPr>
        <p:spPr>
          <a:xfrm>
            <a:off x="8120000" y="2200000"/>
            <a:ext cx="3400000" cy="105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Shape"/>
          <p:cNvSpPr/>
          <p:nvPr/>
        </p:nvSpPr>
        <p:spPr>
          <a:xfrm>
            <a:off x="8120000" y="2200000"/>
            <a:ext cx="90000" cy="105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Text"/>
          <p:cNvSpPr txBox="1"/>
          <p:nvPr/>
        </p:nvSpPr>
        <p:spPr>
          <a:xfrm>
            <a:off x="8340000" y="2370000"/>
            <a:ext cx="304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700" b="1">
                <a:solidFill>
                  <a:srgbClr val="FFFFFF"/>
                </a:solidFill>
                <a:latin typeface="Aptos"/>
              </a:rPr>
              <a:t>Beiträge</a:t>
            </a:r>
          </a:p>
        </p:txBody>
      </p:sp>
      <p:sp>
        <p:nvSpPr>
          <p:cNvPr id="120" name="Text"/>
          <p:cNvSpPr txBox="1"/>
          <p:nvPr/>
        </p:nvSpPr>
        <p:spPr>
          <a:xfrm>
            <a:off x="8340000" y="2710000"/>
            <a:ext cx="304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200">
                <a:solidFill>
                  <a:srgbClr val="BFDBFE"/>
                </a:solidFill>
                <a:latin typeface="Aptos"/>
              </a:rPr>
              <a:t>Intervall, Rechnungen, Mahnungen</a:t>
            </a:r>
          </a:p>
        </p:txBody>
      </p:sp>
      <p:sp>
        <p:nvSpPr>
          <p:cNvPr id="121" name="Shape"/>
          <p:cNvSpPr/>
          <p:nvPr/>
        </p:nvSpPr>
        <p:spPr>
          <a:xfrm>
            <a:off x="720000" y="3550000"/>
            <a:ext cx="3400000" cy="105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" name="Shape"/>
          <p:cNvSpPr/>
          <p:nvPr/>
        </p:nvSpPr>
        <p:spPr>
          <a:xfrm>
            <a:off x="720000" y="3550000"/>
            <a:ext cx="90000" cy="105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Text"/>
          <p:cNvSpPr txBox="1"/>
          <p:nvPr/>
        </p:nvSpPr>
        <p:spPr>
          <a:xfrm>
            <a:off x="940000" y="3720000"/>
            <a:ext cx="304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700" b="1">
                <a:solidFill>
                  <a:srgbClr val="FFFFFF"/>
                </a:solidFill>
                <a:latin typeface="Aptos"/>
              </a:rPr>
              <a:t>Finanzen</a:t>
            </a:r>
          </a:p>
        </p:txBody>
      </p:sp>
      <p:sp>
        <p:nvSpPr>
          <p:cNvPr id="124" name="Text"/>
          <p:cNvSpPr txBox="1"/>
          <p:nvPr/>
        </p:nvSpPr>
        <p:spPr>
          <a:xfrm>
            <a:off x="940000" y="4060000"/>
            <a:ext cx="304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200">
                <a:solidFill>
                  <a:srgbClr val="BFDBFE"/>
                </a:solidFill>
                <a:latin typeface="Aptos"/>
              </a:rPr>
              <a:t>SEPA, Bankabgleich, DATEV/SKR42</a:t>
            </a:r>
          </a:p>
        </p:txBody>
      </p:sp>
      <p:sp>
        <p:nvSpPr>
          <p:cNvPr id="125" name="Shape"/>
          <p:cNvSpPr/>
          <p:nvPr/>
        </p:nvSpPr>
        <p:spPr>
          <a:xfrm>
            <a:off x="4420000" y="3550000"/>
            <a:ext cx="3400000" cy="105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" name="Shape"/>
          <p:cNvSpPr/>
          <p:nvPr/>
        </p:nvSpPr>
        <p:spPr>
          <a:xfrm>
            <a:off x="4420000" y="3550000"/>
            <a:ext cx="90000" cy="105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Text"/>
          <p:cNvSpPr txBox="1"/>
          <p:nvPr/>
        </p:nvSpPr>
        <p:spPr>
          <a:xfrm>
            <a:off x="4640000" y="3720000"/>
            <a:ext cx="304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700" b="1">
                <a:solidFill>
                  <a:srgbClr val="FFFFFF"/>
                </a:solidFill>
                <a:latin typeface="Aptos"/>
              </a:rPr>
              <a:t>Teams</a:t>
            </a:r>
          </a:p>
        </p:txBody>
      </p:sp>
      <p:sp>
        <p:nvSpPr>
          <p:cNvPr id="128" name="Text"/>
          <p:cNvSpPr txBox="1"/>
          <p:nvPr/>
        </p:nvSpPr>
        <p:spPr>
          <a:xfrm>
            <a:off x="4640000" y="4060000"/>
            <a:ext cx="304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200">
                <a:solidFill>
                  <a:srgbClr val="BFDBFE"/>
                </a:solidFill>
                <a:latin typeface="Aptos"/>
              </a:rPr>
              <a:t>Rollen, Anfragen, Teamstruktur</a:t>
            </a:r>
          </a:p>
        </p:txBody>
      </p:sp>
      <p:sp>
        <p:nvSpPr>
          <p:cNvPr id="129" name="Shape"/>
          <p:cNvSpPr/>
          <p:nvPr/>
        </p:nvSpPr>
        <p:spPr>
          <a:xfrm>
            <a:off x="8120000" y="3550000"/>
            <a:ext cx="3400000" cy="105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" name="Shape"/>
          <p:cNvSpPr/>
          <p:nvPr/>
        </p:nvSpPr>
        <p:spPr>
          <a:xfrm>
            <a:off x="8120000" y="3550000"/>
            <a:ext cx="90000" cy="105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Text"/>
          <p:cNvSpPr txBox="1"/>
          <p:nvPr/>
        </p:nvSpPr>
        <p:spPr>
          <a:xfrm>
            <a:off x="8340000" y="3720000"/>
            <a:ext cx="304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700" b="1">
                <a:solidFill>
                  <a:srgbClr val="FFFFFF"/>
                </a:solidFill>
                <a:latin typeface="Aptos"/>
              </a:rPr>
              <a:t>Services</a:t>
            </a:r>
          </a:p>
        </p:txBody>
      </p:sp>
      <p:sp>
        <p:nvSpPr>
          <p:cNvPr id="132" name="Text"/>
          <p:cNvSpPr txBox="1"/>
          <p:nvPr/>
        </p:nvSpPr>
        <p:spPr>
          <a:xfrm>
            <a:off x="8340000" y="4060000"/>
            <a:ext cx="304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200">
                <a:solidFill>
                  <a:srgbClr val="BFDBFE"/>
                </a:solidFill>
                <a:latin typeface="Aptos"/>
              </a:rPr>
              <a:t>Add-ons, Website-Anfrage, Sponsorendaten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Shape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Text"/>
          <p:cNvSpPr txBox="1"/>
          <p:nvPr/>
        </p:nvSpPr>
        <p:spPr>
          <a:xfrm>
            <a:off x="560000" y="165000"/>
            <a:ext cx="60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 b="1">
                <a:solidFill>
                  <a:srgbClr val="E5F0FF"/>
                </a:solidFill>
                <a:latin typeface="Aptos"/>
              </a:rPr>
              <a:t>Airmius</a:t>
            </a:r>
          </a:p>
        </p:txBody>
      </p:sp>
      <p:sp>
        <p:nvSpPr>
          <p:cNvPr id="136" name="Text"/>
          <p:cNvSpPr txBox="1"/>
          <p:nvPr/>
        </p:nvSpPr>
        <p:spPr>
          <a:xfrm>
            <a:off x="10700000" y="165000"/>
            <a:ext cx="85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de-DE" sz="1200" b="1">
                <a:solidFill>
                  <a:srgbClr val="7DD3FC"/>
                </a:solidFill>
                <a:latin typeface="Aptos"/>
              </a:rPr>
              <a:t>08</a:t>
            </a:r>
          </a:p>
        </p:txBody>
      </p:sp>
      <p:pic>
        <p:nvPicPr>
          <p:cNvPr id="137" name="Pi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000" y="540000"/>
            <a:ext cx="1900000" cy="520000"/>
          </a:xfrm>
          <a:prstGeom prst="rect">
            <a:avLst/>
          </a:prstGeom>
        </p:spPr>
      </p:pic>
      <p:sp>
        <p:nvSpPr>
          <p:cNvPr id="138" name="Text"/>
          <p:cNvSpPr txBox="1"/>
          <p:nvPr/>
        </p:nvSpPr>
        <p:spPr>
          <a:xfrm>
            <a:off x="620000" y="820000"/>
            <a:ext cx="69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3000" b="1">
                <a:solidFill>
                  <a:srgbClr val="FFFFFF"/>
                </a:solidFill>
                <a:latin typeface="Aptos"/>
              </a:rPr>
              <a:t>Team, Chat und Events</a:t>
            </a:r>
          </a:p>
        </p:txBody>
      </p:sp>
      <p:sp>
        <p:nvSpPr>
          <p:cNvPr id="139" name="Text"/>
          <p:cNvSpPr txBox="1"/>
          <p:nvPr/>
        </p:nvSpPr>
        <p:spPr>
          <a:xfrm>
            <a:off x="640000" y="1410000"/>
            <a:ext cx="77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>
                <a:solidFill>
                  <a:srgbClr val="BFDBFE"/>
                </a:solidFill>
                <a:latin typeface="Aptos"/>
              </a:rPr>
              <a:t>Teams arbeiten in Hauptchats, Events und strukturierten Rollen.</a:t>
            </a:r>
          </a:p>
        </p:txBody>
      </p:sp>
      <p:sp>
        <p:nvSpPr>
          <p:cNvPr id="140" name="Bullets"/>
          <p:cNvSpPr txBox="1"/>
          <p:nvPr/>
        </p:nvSpPr>
        <p:spPr>
          <a:xfrm>
            <a:off x="830000" y="2200000"/>
            <a:ext cx="6500000" cy="3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Teams können erstellt, bearbeitet, bebildert und gelöscht werden.</a:t>
            </a:r>
          </a:p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Beitritte laufen über Anfrage und Freigabe durch Team oder Verein.</a:t>
            </a:r>
          </a:p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Chats öffnen nicht automatisch; Nutzer wählen bewusst die Konversation.</a:t>
            </a:r>
          </a:p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Gruppen können verlassen werden, bei letzter Person ist Löschung möglich.</a:t>
            </a:r>
          </a:p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Trainingstermine können als Systemhinweis im Team-Hauptchat erscheinen.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" name="Shape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Text"/>
          <p:cNvSpPr txBox="1"/>
          <p:nvPr/>
        </p:nvSpPr>
        <p:spPr>
          <a:xfrm>
            <a:off x="560000" y="165000"/>
            <a:ext cx="60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 b="1">
                <a:solidFill>
                  <a:srgbClr val="E5F0FF"/>
                </a:solidFill>
                <a:latin typeface="Aptos"/>
              </a:rPr>
              <a:t>Airmius</a:t>
            </a:r>
          </a:p>
        </p:txBody>
      </p:sp>
      <p:sp>
        <p:nvSpPr>
          <p:cNvPr id="144" name="Text"/>
          <p:cNvSpPr txBox="1"/>
          <p:nvPr/>
        </p:nvSpPr>
        <p:spPr>
          <a:xfrm>
            <a:off x="10700000" y="165000"/>
            <a:ext cx="85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de-DE" sz="1200" b="1">
                <a:solidFill>
                  <a:srgbClr val="7DD3FC"/>
                </a:solidFill>
                <a:latin typeface="Aptos"/>
              </a:rPr>
              <a:t>09</a:t>
            </a:r>
          </a:p>
        </p:txBody>
      </p:sp>
      <p:pic>
        <p:nvPicPr>
          <p:cNvPr id="145" name="Pi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000" y="540000"/>
            <a:ext cx="1900000" cy="520000"/>
          </a:xfrm>
          <a:prstGeom prst="rect">
            <a:avLst/>
          </a:prstGeom>
        </p:spPr>
      </p:pic>
      <p:sp>
        <p:nvSpPr>
          <p:cNvPr id="146" name="Text"/>
          <p:cNvSpPr txBox="1"/>
          <p:nvPr/>
        </p:nvSpPr>
        <p:spPr>
          <a:xfrm>
            <a:off x="620000" y="820000"/>
            <a:ext cx="69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3000" b="1">
                <a:solidFill>
                  <a:srgbClr val="FFFFFF"/>
                </a:solidFill>
                <a:latin typeface="Aptos"/>
              </a:rPr>
              <a:t>Finanz-Engine für Vereine</a:t>
            </a:r>
          </a:p>
        </p:txBody>
      </p:sp>
      <p:sp>
        <p:nvSpPr>
          <p:cNvPr id="147" name="Text"/>
          <p:cNvSpPr txBox="1"/>
          <p:nvPr/>
        </p:nvSpPr>
        <p:spPr>
          <a:xfrm>
            <a:off x="640000" y="1410000"/>
            <a:ext cx="77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>
                <a:solidFill>
                  <a:srgbClr val="BFDBFE"/>
                </a:solidFill>
                <a:latin typeface="Aptos"/>
              </a:rPr>
              <a:t>Beiträge werden vom manuellen Aufwand in prüfbare Abläufe überführt.</a:t>
            </a:r>
          </a:p>
        </p:txBody>
      </p:sp>
      <p:sp>
        <p:nvSpPr>
          <p:cNvPr id="148" name="Shape"/>
          <p:cNvSpPr/>
          <p:nvPr/>
        </p:nvSpPr>
        <p:spPr>
          <a:xfrm>
            <a:off x="820000" y="2250000"/>
            <a:ext cx="430000" cy="43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" name="Text"/>
          <p:cNvSpPr txBox="1"/>
          <p:nvPr/>
        </p:nvSpPr>
        <p:spPr>
          <a:xfrm>
            <a:off x="937000" y="2337000"/>
            <a:ext cx="200000" cy="1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de-DE" sz="1600" b="1">
                <a:solidFill>
                  <a:srgbClr val="07111D"/>
                </a:solidFill>
                <a:latin typeface="Aptos"/>
              </a:rPr>
              <a:t>1</a:t>
            </a:r>
          </a:p>
        </p:txBody>
      </p:sp>
      <p:sp>
        <p:nvSpPr>
          <p:cNvPr id="150" name="Text"/>
          <p:cNvSpPr txBox="1"/>
          <p:nvPr/>
        </p:nvSpPr>
        <p:spPr>
          <a:xfrm>
            <a:off x="1420000" y="2285000"/>
            <a:ext cx="850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800">
                <a:solidFill>
                  <a:srgbClr val="E5E7EB"/>
                </a:solidFill>
                <a:latin typeface="Aptos"/>
              </a:rPr>
              <a:t>Mitgliedsdaten und Beitragsintervall pflegen</a:t>
            </a:r>
          </a:p>
        </p:txBody>
      </p:sp>
      <p:sp>
        <p:nvSpPr>
          <p:cNvPr id="151" name="Shape"/>
          <p:cNvSpPr/>
          <p:nvPr/>
        </p:nvSpPr>
        <p:spPr>
          <a:xfrm>
            <a:off x="820000" y="2870000"/>
            <a:ext cx="430000" cy="43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" name="Text"/>
          <p:cNvSpPr txBox="1"/>
          <p:nvPr/>
        </p:nvSpPr>
        <p:spPr>
          <a:xfrm>
            <a:off x="937000" y="2957000"/>
            <a:ext cx="200000" cy="1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de-DE" sz="1600" b="1">
                <a:solidFill>
                  <a:srgbClr val="07111D"/>
                </a:solidFill>
                <a:latin typeface="Aptos"/>
              </a:rPr>
              <a:t>2</a:t>
            </a:r>
          </a:p>
        </p:txBody>
      </p:sp>
      <p:sp>
        <p:nvSpPr>
          <p:cNvPr id="153" name="Text"/>
          <p:cNvSpPr txBox="1"/>
          <p:nvPr/>
        </p:nvSpPr>
        <p:spPr>
          <a:xfrm>
            <a:off x="1420000" y="2905000"/>
            <a:ext cx="850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800">
                <a:solidFill>
                  <a:srgbClr val="E5E7EB"/>
                </a:solidFill>
                <a:latin typeface="Aptos"/>
              </a:rPr>
              <a:t>Rechnungen manuell oder wiederkehrend erzeugen</a:t>
            </a:r>
          </a:p>
        </p:txBody>
      </p:sp>
      <p:sp>
        <p:nvSpPr>
          <p:cNvPr id="154" name="Shape"/>
          <p:cNvSpPr/>
          <p:nvPr/>
        </p:nvSpPr>
        <p:spPr>
          <a:xfrm>
            <a:off x="820000" y="3490000"/>
            <a:ext cx="430000" cy="43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" name="Text"/>
          <p:cNvSpPr txBox="1"/>
          <p:nvPr/>
        </p:nvSpPr>
        <p:spPr>
          <a:xfrm>
            <a:off x="937000" y="3577000"/>
            <a:ext cx="200000" cy="1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de-DE" sz="1600" b="1">
                <a:solidFill>
                  <a:srgbClr val="07111D"/>
                </a:solidFill>
                <a:latin typeface="Aptos"/>
              </a:rPr>
              <a:t>3</a:t>
            </a:r>
          </a:p>
        </p:txBody>
      </p:sp>
      <p:sp>
        <p:nvSpPr>
          <p:cNvPr id="156" name="Text"/>
          <p:cNvSpPr txBox="1"/>
          <p:nvPr/>
        </p:nvSpPr>
        <p:spPr>
          <a:xfrm>
            <a:off x="1420000" y="3525000"/>
            <a:ext cx="850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800">
                <a:solidFill>
                  <a:srgbClr val="E5E7EB"/>
                </a:solidFill>
                <a:latin typeface="Aptos"/>
              </a:rPr>
              <a:t>Zahlung erfassen oder Banktransaktion importieren</a:t>
            </a:r>
          </a:p>
        </p:txBody>
      </p:sp>
      <p:sp>
        <p:nvSpPr>
          <p:cNvPr id="157" name="Shape"/>
          <p:cNvSpPr/>
          <p:nvPr/>
        </p:nvSpPr>
        <p:spPr>
          <a:xfrm>
            <a:off x="820000" y="4110000"/>
            <a:ext cx="430000" cy="43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" name="Text"/>
          <p:cNvSpPr txBox="1"/>
          <p:nvPr/>
        </p:nvSpPr>
        <p:spPr>
          <a:xfrm>
            <a:off x="937000" y="4197000"/>
            <a:ext cx="200000" cy="1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de-DE" sz="1600" b="1">
                <a:solidFill>
                  <a:srgbClr val="07111D"/>
                </a:solidFill>
                <a:latin typeface="Aptos"/>
              </a:rPr>
              <a:t>4</a:t>
            </a:r>
          </a:p>
        </p:txBody>
      </p:sp>
      <p:sp>
        <p:nvSpPr>
          <p:cNvPr id="159" name="Text"/>
          <p:cNvSpPr txBox="1"/>
          <p:nvPr/>
        </p:nvSpPr>
        <p:spPr>
          <a:xfrm>
            <a:off x="1420000" y="4145000"/>
            <a:ext cx="850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800">
                <a:solidFill>
                  <a:srgbClr val="E5E7EB"/>
                </a:solidFill>
                <a:latin typeface="Aptos"/>
              </a:rPr>
              <a:t>Mahnungen und Erinnerungen senden</a:t>
            </a:r>
          </a:p>
        </p:txBody>
      </p:sp>
      <p:sp>
        <p:nvSpPr>
          <p:cNvPr id="160" name="Shape"/>
          <p:cNvSpPr/>
          <p:nvPr/>
        </p:nvSpPr>
        <p:spPr>
          <a:xfrm>
            <a:off x="820000" y="4730000"/>
            <a:ext cx="430000" cy="43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" name="Text"/>
          <p:cNvSpPr txBox="1"/>
          <p:nvPr/>
        </p:nvSpPr>
        <p:spPr>
          <a:xfrm>
            <a:off x="937000" y="4817000"/>
            <a:ext cx="200000" cy="1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de-DE" sz="1600" b="1">
                <a:solidFill>
                  <a:srgbClr val="07111D"/>
                </a:solidFill>
                <a:latin typeface="Aptos"/>
              </a:rPr>
              <a:t>5</a:t>
            </a:r>
          </a:p>
        </p:txBody>
      </p:sp>
      <p:sp>
        <p:nvSpPr>
          <p:cNvPr id="162" name="Text"/>
          <p:cNvSpPr txBox="1"/>
          <p:nvPr/>
        </p:nvSpPr>
        <p:spPr>
          <a:xfrm>
            <a:off x="1420000" y="4765000"/>
            <a:ext cx="850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800">
                <a:solidFill>
                  <a:srgbClr val="E5E7EB"/>
                </a:solidFill>
                <a:latin typeface="Aptos"/>
              </a:rPr>
              <a:t>SEPA-XML und DATEV/SKR42 exportieren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" name="Shape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" name="Text"/>
          <p:cNvSpPr txBox="1"/>
          <p:nvPr/>
        </p:nvSpPr>
        <p:spPr>
          <a:xfrm>
            <a:off x="560000" y="165000"/>
            <a:ext cx="60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 b="1">
                <a:solidFill>
                  <a:srgbClr val="E5F0FF"/>
                </a:solidFill>
                <a:latin typeface="Aptos"/>
              </a:rPr>
              <a:t>Airmius</a:t>
            </a:r>
          </a:p>
        </p:txBody>
      </p:sp>
      <p:sp>
        <p:nvSpPr>
          <p:cNvPr id="166" name="Text"/>
          <p:cNvSpPr txBox="1"/>
          <p:nvPr/>
        </p:nvSpPr>
        <p:spPr>
          <a:xfrm>
            <a:off x="10700000" y="165000"/>
            <a:ext cx="85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de-DE" sz="1200" b="1">
                <a:solidFill>
                  <a:srgbClr val="7DD3FC"/>
                </a:solidFill>
                <a:latin typeface="Aptos"/>
              </a:rPr>
              <a:t>10</a:t>
            </a:r>
          </a:p>
        </p:txBody>
      </p:sp>
      <p:pic>
        <p:nvPicPr>
          <p:cNvPr id="167" name="Pi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000" y="540000"/>
            <a:ext cx="1900000" cy="520000"/>
          </a:xfrm>
          <a:prstGeom prst="rect">
            <a:avLst/>
          </a:prstGeom>
        </p:spPr>
      </p:pic>
      <p:sp>
        <p:nvSpPr>
          <p:cNvPr id="168" name="Text"/>
          <p:cNvSpPr txBox="1"/>
          <p:nvPr/>
        </p:nvSpPr>
        <p:spPr>
          <a:xfrm>
            <a:off x="620000" y="820000"/>
            <a:ext cx="69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3000" b="1">
                <a:solidFill>
                  <a:srgbClr val="FFFFFF"/>
                </a:solidFill>
                <a:latin typeface="Aptos"/>
              </a:rPr>
              <a:t>Airmius-Abos und Zahlungen</a:t>
            </a:r>
          </a:p>
        </p:txBody>
      </p:sp>
      <p:sp>
        <p:nvSpPr>
          <p:cNvPr id="169" name="Text"/>
          <p:cNvSpPr txBox="1"/>
          <p:nvPr/>
        </p:nvSpPr>
        <p:spPr>
          <a:xfrm>
            <a:off x="640000" y="1410000"/>
            <a:ext cx="77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>
                <a:solidFill>
                  <a:srgbClr val="BFDBFE"/>
                </a:solidFill>
                <a:latin typeface="Aptos"/>
              </a:rPr>
              <a:t>Stripe, PayPal und Überweisung decken schnelle Onlinezahlung und klassische Vereine ab.</a:t>
            </a:r>
          </a:p>
        </p:txBody>
      </p:sp>
      <p:sp>
        <p:nvSpPr>
          <p:cNvPr id="170" name="Bullets"/>
          <p:cNvSpPr txBox="1"/>
          <p:nvPr/>
        </p:nvSpPr>
        <p:spPr>
          <a:xfrm>
            <a:off x="830000" y="2200000"/>
            <a:ext cx="6500000" cy="3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Abo-Pläne für Zielgruppen und Vereinsgrößen werden zentral verwaltet.</a:t>
            </a:r>
          </a:p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Feature-Gates prüfen Limits und Module serverseitig.</a:t>
            </a:r>
          </a:p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Rechnungen, PDFs, Zahlungserinnerungen und Kündigungen sind Teil des Flows.</a:t>
            </a:r>
          </a:p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Webhooks aktivieren Zahlungen auch ohne Rückkehr zur Plattform.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" name="Shape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" name="Text"/>
          <p:cNvSpPr txBox="1"/>
          <p:nvPr/>
        </p:nvSpPr>
        <p:spPr>
          <a:xfrm>
            <a:off x="560000" y="165000"/>
            <a:ext cx="60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 b="1">
                <a:solidFill>
                  <a:srgbClr val="E5F0FF"/>
                </a:solidFill>
                <a:latin typeface="Aptos"/>
              </a:rPr>
              <a:t>Airmius</a:t>
            </a:r>
          </a:p>
        </p:txBody>
      </p:sp>
      <p:sp>
        <p:nvSpPr>
          <p:cNvPr id="174" name="Text"/>
          <p:cNvSpPr txBox="1"/>
          <p:nvPr/>
        </p:nvSpPr>
        <p:spPr>
          <a:xfrm>
            <a:off x="10700000" y="165000"/>
            <a:ext cx="85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de-DE" sz="1200" b="1">
                <a:solidFill>
                  <a:srgbClr val="7DD3FC"/>
                </a:solidFill>
                <a:latin typeface="Aptos"/>
              </a:rPr>
              <a:t>11</a:t>
            </a:r>
          </a:p>
        </p:txBody>
      </p:sp>
      <p:pic>
        <p:nvPicPr>
          <p:cNvPr id="175" name="Pi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000" y="540000"/>
            <a:ext cx="1900000" cy="520000"/>
          </a:xfrm>
          <a:prstGeom prst="rect">
            <a:avLst/>
          </a:prstGeom>
        </p:spPr>
      </p:pic>
      <p:sp>
        <p:nvSpPr>
          <p:cNvPr id="176" name="Text"/>
          <p:cNvSpPr txBox="1"/>
          <p:nvPr/>
        </p:nvSpPr>
        <p:spPr>
          <a:xfrm>
            <a:off x="620000" y="820000"/>
            <a:ext cx="69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3000" b="1">
                <a:solidFill>
                  <a:srgbClr val="FFFFFF"/>
                </a:solidFill>
                <a:latin typeface="Aptos"/>
              </a:rPr>
              <a:t>Marketplace, Ads und Website-Service</a:t>
            </a:r>
          </a:p>
        </p:txBody>
      </p:sp>
      <p:sp>
        <p:nvSpPr>
          <p:cNvPr id="177" name="Text"/>
          <p:cNvSpPr txBox="1"/>
          <p:nvPr/>
        </p:nvSpPr>
        <p:spPr>
          <a:xfrm>
            <a:off x="640000" y="1410000"/>
            <a:ext cx="77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>
                <a:solidFill>
                  <a:srgbClr val="BFDBFE"/>
                </a:solidFill>
                <a:latin typeface="Aptos"/>
              </a:rPr>
              <a:t>Airmius öffnet zusätzliche Erlösquellen, ohne den Verein zu überladen.</a:t>
            </a:r>
          </a:p>
        </p:txBody>
      </p:sp>
      <p:sp>
        <p:nvSpPr>
          <p:cNvPr id="178" name="Shape"/>
          <p:cNvSpPr/>
          <p:nvPr/>
        </p:nvSpPr>
        <p:spPr>
          <a:xfrm>
            <a:off x="720000" y="2200000"/>
            <a:ext cx="3400000" cy="105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" name="Shape"/>
          <p:cNvSpPr/>
          <p:nvPr/>
        </p:nvSpPr>
        <p:spPr>
          <a:xfrm>
            <a:off x="720000" y="2200000"/>
            <a:ext cx="90000" cy="105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" name="Text"/>
          <p:cNvSpPr txBox="1"/>
          <p:nvPr/>
        </p:nvSpPr>
        <p:spPr>
          <a:xfrm>
            <a:off x="940000" y="2370000"/>
            <a:ext cx="304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700" b="1">
                <a:solidFill>
                  <a:srgbClr val="FFFFFF"/>
                </a:solidFill>
                <a:latin typeface="Aptos"/>
              </a:rPr>
              <a:t>Marketplace</a:t>
            </a:r>
          </a:p>
        </p:txBody>
      </p:sp>
      <p:sp>
        <p:nvSpPr>
          <p:cNvPr id="181" name="Text"/>
          <p:cNvSpPr txBox="1"/>
          <p:nvPr/>
        </p:nvSpPr>
        <p:spPr>
          <a:xfrm>
            <a:off x="940000" y="2710000"/>
            <a:ext cx="304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200">
                <a:solidFill>
                  <a:srgbClr val="BFDBFE"/>
                </a:solidFill>
                <a:latin typeface="Aptos"/>
              </a:rPr>
              <a:t>Produkte, Camps, Kurse, Services</a:t>
            </a:r>
          </a:p>
        </p:txBody>
      </p:sp>
      <p:sp>
        <p:nvSpPr>
          <p:cNvPr id="182" name="Shape"/>
          <p:cNvSpPr/>
          <p:nvPr/>
        </p:nvSpPr>
        <p:spPr>
          <a:xfrm>
            <a:off x="4420000" y="2200000"/>
            <a:ext cx="3400000" cy="105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" name="Shape"/>
          <p:cNvSpPr/>
          <p:nvPr/>
        </p:nvSpPr>
        <p:spPr>
          <a:xfrm>
            <a:off x="4420000" y="2200000"/>
            <a:ext cx="90000" cy="105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" name="Text"/>
          <p:cNvSpPr txBox="1"/>
          <p:nvPr/>
        </p:nvSpPr>
        <p:spPr>
          <a:xfrm>
            <a:off x="4640000" y="2370000"/>
            <a:ext cx="304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700" b="1">
                <a:solidFill>
                  <a:srgbClr val="FFFFFF"/>
                </a:solidFill>
                <a:latin typeface="Aptos"/>
              </a:rPr>
              <a:t>Anbieter</a:t>
            </a:r>
          </a:p>
        </p:txBody>
      </p:sp>
      <p:sp>
        <p:nvSpPr>
          <p:cNvPr id="185" name="Text"/>
          <p:cNvSpPr txBox="1"/>
          <p:nvPr/>
        </p:nvSpPr>
        <p:spPr>
          <a:xfrm>
            <a:off x="4640000" y="2710000"/>
            <a:ext cx="304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200">
                <a:solidFill>
                  <a:srgbClr val="BFDBFE"/>
                </a:solidFill>
                <a:latin typeface="Aptos"/>
              </a:rPr>
              <a:t>Auszahlungsprofil, Provision, Auszahlungen</a:t>
            </a:r>
          </a:p>
        </p:txBody>
      </p:sp>
      <p:sp>
        <p:nvSpPr>
          <p:cNvPr id="186" name="Shape"/>
          <p:cNvSpPr/>
          <p:nvPr/>
        </p:nvSpPr>
        <p:spPr>
          <a:xfrm>
            <a:off x="8120000" y="2200000"/>
            <a:ext cx="3400000" cy="105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" name="Shape"/>
          <p:cNvSpPr/>
          <p:nvPr/>
        </p:nvSpPr>
        <p:spPr>
          <a:xfrm>
            <a:off x="8120000" y="2200000"/>
            <a:ext cx="90000" cy="105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" name="Text"/>
          <p:cNvSpPr txBox="1"/>
          <p:nvPr/>
        </p:nvSpPr>
        <p:spPr>
          <a:xfrm>
            <a:off x="8340000" y="2370000"/>
            <a:ext cx="304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700" b="1">
                <a:solidFill>
                  <a:srgbClr val="FFFFFF"/>
                </a:solidFill>
                <a:latin typeface="Aptos"/>
              </a:rPr>
              <a:t>Ads</a:t>
            </a:r>
          </a:p>
        </p:txBody>
      </p:sp>
      <p:sp>
        <p:nvSpPr>
          <p:cNvPr id="189" name="Text"/>
          <p:cNvSpPr txBox="1"/>
          <p:nvPr/>
        </p:nvSpPr>
        <p:spPr>
          <a:xfrm>
            <a:off x="8340000" y="2710000"/>
            <a:ext cx="304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200">
                <a:solidFill>
                  <a:srgbClr val="BFDBFE"/>
                </a:solidFill>
                <a:latin typeface="Aptos"/>
              </a:rPr>
              <a:t>Kampagnen, Klicks, Impressionen, CTR</a:t>
            </a:r>
          </a:p>
        </p:txBody>
      </p:sp>
      <p:sp>
        <p:nvSpPr>
          <p:cNvPr id="190" name="Shape"/>
          <p:cNvSpPr/>
          <p:nvPr/>
        </p:nvSpPr>
        <p:spPr>
          <a:xfrm>
            <a:off x="720000" y="3550000"/>
            <a:ext cx="3400000" cy="105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" name="Shape"/>
          <p:cNvSpPr/>
          <p:nvPr/>
        </p:nvSpPr>
        <p:spPr>
          <a:xfrm>
            <a:off x="720000" y="3550000"/>
            <a:ext cx="90000" cy="105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" name="Text"/>
          <p:cNvSpPr txBox="1"/>
          <p:nvPr/>
        </p:nvSpPr>
        <p:spPr>
          <a:xfrm>
            <a:off x="940000" y="3720000"/>
            <a:ext cx="304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700" b="1">
                <a:solidFill>
                  <a:srgbClr val="FFFFFF"/>
                </a:solidFill>
                <a:latin typeface="Aptos"/>
              </a:rPr>
              <a:t>Sponsoren</a:t>
            </a:r>
          </a:p>
        </p:txBody>
      </p:sp>
      <p:sp>
        <p:nvSpPr>
          <p:cNvPr id="193" name="Text"/>
          <p:cNvSpPr txBox="1"/>
          <p:nvPr/>
        </p:nvSpPr>
        <p:spPr>
          <a:xfrm>
            <a:off x="940000" y="4060000"/>
            <a:ext cx="304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200">
                <a:solidFill>
                  <a:srgbClr val="BFDBFE"/>
                </a:solidFill>
                <a:latin typeface="Aptos"/>
              </a:rPr>
              <a:t>Budget, Ziel-URL, Reporting</a:t>
            </a:r>
          </a:p>
        </p:txBody>
      </p:sp>
      <p:sp>
        <p:nvSpPr>
          <p:cNvPr id="194" name="Shape"/>
          <p:cNvSpPr/>
          <p:nvPr/>
        </p:nvSpPr>
        <p:spPr>
          <a:xfrm>
            <a:off x="4420000" y="3550000"/>
            <a:ext cx="3400000" cy="105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" name="Shape"/>
          <p:cNvSpPr/>
          <p:nvPr/>
        </p:nvSpPr>
        <p:spPr>
          <a:xfrm>
            <a:off x="4420000" y="3550000"/>
            <a:ext cx="90000" cy="105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" name="Text"/>
          <p:cNvSpPr txBox="1"/>
          <p:nvPr/>
        </p:nvSpPr>
        <p:spPr>
          <a:xfrm>
            <a:off x="4640000" y="3720000"/>
            <a:ext cx="304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700" b="1">
                <a:solidFill>
                  <a:srgbClr val="FFFFFF"/>
                </a:solidFill>
                <a:latin typeface="Aptos"/>
              </a:rPr>
              <a:t>Website</a:t>
            </a:r>
          </a:p>
        </p:txBody>
      </p:sp>
      <p:sp>
        <p:nvSpPr>
          <p:cNvPr id="197" name="Text"/>
          <p:cNvSpPr txBox="1"/>
          <p:nvPr/>
        </p:nvSpPr>
        <p:spPr>
          <a:xfrm>
            <a:off x="4640000" y="4060000"/>
            <a:ext cx="304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200">
                <a:solidFill>
                  <a:srgbClr val="BFDBFE"/>
                </a:solidFill>
                <a:latin typeface="Aptos"/>
              </a:rPr>
              <a:t>Domainwunsch, Ziele, Angebot, Umsetzung</a:t>
            </a:r>
          </a:p>
        </p:txBody>
      </p:sp>
      <p:sp>
        <p:nvSpPr>
          <p:cNvPr id="198" name="Shape"/>
          <p:cNvSpPr/>
          <p:nvPr/>
        </p:nvSpPr>
        <p:spPr>
          <a:xfrm>
            <a:off x="8120000" y="3550000"/>
            <a:ext cx="3400000" cy="105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" name="Shape"/>
          <p:cNvSpPr/>
          <p:nvPr/>
        </p:nvSpPr>
        <p:spPr>
          <a:xfrm>
            <a:off x="8120000" y="3550000"/>
            <a:ext cx="90000" cy="105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0" name="Text"/>
          <p:cNvSpPr txBox="1"/>
          <p:nvPr/>
        </p:nvSpPr>
        <p:spPr>
          <a:xfrm>
            <a:off x="8340000" y="3720000"/>
            <a:ext cx="304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700" b="1">
                <a:solidFill>
                  <a:srgbClr val="FFFFFF"/>
                </a:solidFill>
                <a:latin typeface="Aptos"/>
              </a:rPr>
              <a:t>Support</a:t>
            </a:r>
          </a:p>
        </p:txBody>
      </p:sp>
      <p:sp>
        <p:nvSpPr>
          <p:cNvPr id="201" name="Text"/>
          <p:cNvSpPr txBox="1"/>
          <p:nvPr/>
        </p:nvSpPr>
        <p:spPr>
          <a:xfrm>
            <a:off x="8340000" y="4060000"/>
            <a:ext cx="304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200">
                <a:solidFill>
                  <a:srgbClr val="BFDBFE"/>
                </a:solidFill>
                <a:latin typeface="Aptos"/>
              </a:rPr>
              <a:t>Problemfälle melden und adminseitig lösen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Shape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Text"/>
          <p:cNvSpPr txBox="1"/>
          <p:nvPr/>
        </p:nvSpPr>
        <p:spPr>
          <a:xfrm>
            <a:off x="560000" y="165000"/>
            <a:ext cx="60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 b="1">
                <a:solidFill>
                  <a:srgbClr val="E5F0FF"/>
                </a:solidFill>
                <a:latin typeface="Aptos"/>
              </a:rPr>
              <a:t>Airmius</a:t>
            </a:r>
          </a:p>
        </p:txBody>
      </p:sp>
      <p:sp>
        <p:nvSpPr>
          <p:cNvPr id="205" name="Text"/>
          <p:cNvSpPr txBox="1"/>
          <p:nvPr/>
        </p:nvSpPr>
        <p:spPr>
          <a:xfrm>
            <a:off x="10700000" y="165000"/>
            <a:ext cx="85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de-DE" sz="1200" b="1">
                <a:solidFill>
                  <a:srgbClr val="7DD3FC"/>
                </a:solidFill>
                <a:latin typeface="Aptos"/>
              </a:rPr>
              <a:t>12</a:t>
            </a:r>
          </a:p>
        </p:txBody>
      </p:sp>
      <p:pic>
        <p:nvPicPr>
          <p:cNvPr id="206" name="Pi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000" y="540000"/>
            <a:ext cx="1900000" cy="520000"/>
          </a:xfrm>
          <a:prstGeom prst="rect">
            <a:avLst/>
          </a:prstGeom>
        </p:spPr>
      </p:pic>
      <p:sp>
        <p:nvSpPr>
          <p:cNvPr id="207" name="Text"/>
          <p:cNvSpPr txBox="1"/>
          <p:nvPr/>
        </p:nvSpPr>
        <p:spPr>
          <a:xfrm>
            <a:off x="620000" y="820000"/>
            <a:ext cx="69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3000" b="1">
                <a:solidFill>
                  <a:srgbClr val="FFFFFF"/>
                </a:solidFill>
                <a:latin typeface="Aptos"/>
              </a:rPr>
              <a:t>Moderation und Sicherheit</a:t>
            </a:r>
          </a:p>
        </p:txBody>
      </p:sp>
      <p:sp>
        <p:nvSpPr>
          <p:cNvPr id="208" name="Text"/>
          <p:cNvSpPr txBox="1"/>
          <p:nvPr/>
        </p:nvSpPr>
        <p:spPr>
          <a:xfrm>
            <a:off x="640000" y="1410000"/>
            <a:ext cx="77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>
                <a:solidFill>
                  <a:srgbClr val="BFDBFE"/>
                </a:solidFill>
                <a:latin typeface="Aptos"/>
              </a:rPr>
              <a:t>Auto-Kontrolle schützt Community, Minderjährige und Plattformbetrieb.</a:t>
            </a:r>
          </a:p>
        </p:txBody>
      </p:sp>
      <p:sp>
        <p:nvSpPr>
          <p:cNvPr id="209" name="Bullets"/>
          <p:cNvSpPr txBox="1"/>
          <p:nvPr/>
        </p:nvSpPr>
        <p:spPr>
          <a:xfrm>
            <a:off x="830000" y="2200000"/>
            <a:ext cx="6500000" cy="3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Kategorien: Beleidigung, Drohung, Hass, sexuelle Inhalte, Spam.</a:t>
            </a:r>
          </a:p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Low wird beobachtet, Medium erzeugt Flag und Warnpunkt, High hält Inhalte zurück.</a:t>
            </a:r>
          </a:p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Sperre bei 5 Warnpunkten oder 2 schweren Verstößen in 90 Tagen.</a:t>
            </a:r>
          </a:p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Admins prüfen Flags, Meldungen, entfernte Inhalte und gesperrte Konten.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1" name="Shape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2" name="Text"/>
          <p:cNvSpPr txBox="1"/>
          <p:nvPr/>
        </p:nvSpPr>
        <p:spPr>
          <a:xfrm>
            <a:off x="560000" y="165000"/>
            <a:ext cx="60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 b="1">
                <a:solidFill>
                  <a:srgbClr val="E5F0FF"/>
                </a:solidFill>
                <a:latin typeface="Aptos"/>
              </a:rPr>
              <a:t>Airmius</a:t>
            </a:r>
          </a:p>
        </p:txBody>
      </p:sp>
      <p:sp>
        <p:nvSpPr>
          <p:cNvPr id="213" name="Text"/>
          <p:cNvSpPr txBox="1"/>
          <p:nvPr/>
        </p:nvSpPr>
        <p:spPr>
          <a:xfrm>
            <a:off x="10700000" y="165000"/>
            <a:ext cx="85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de-DE" sz="1200" b="1">
                <a:solidFill>
                  <a:srgbClr val="7DD3FC"/>
                </a:solidFill>
                <a:latin typeface="Aptos"/>
              </a:rPr>
              <a:t>13</a:t>
            </a:r>
          </a:p>
        </p:txBody>
      </p:sp>
      <p:pic>
        <p:nvPicPr>
          <p:cNvPr id="214" name="Pi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000" y="540000"/>
            <a:ext cx="1900000" cy="520000"/>
          </a:xfrm>
          <a:prstGeom prst="rect">
            <a:avLst/>
          </a:prstGeom>
        </p:spPr>
      </p:pic>
      <p:sp>
        <p:nvSpPr>
          <p:cNvPr id="215" name="Text"/>
          <p:cNvSpPr txBox="1"/>
          <p:nvPr/>
        </p:nvSpPr>
        <p:spPr>
          <a:xfrm>
            <a:off x="620000" y="820000"/>
            <a:ext cx="69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3000" b="1">
                <a:solidFill>
                  <a:srgbClr val="FFFFFF"/>
                </a:solidFill>
                <a:latin typeface="Aptos"/>
              </a:rPr>
              <a:t>Admin- und Systembereiche</a:t>
            </a:r>
          </a:p>
        </p:txBody>
      </p:sp>
      <p:sp>
        <p:nvSpPr>
          <p:cNvPr id="216" name="Text"/>
          <p:cNvSpPr txBox="1"/>
          <p:nvPr/>
        </p:nvSpPr>
        <p:spPr>
          <a:xfrm>
            <a:off x="640000" y="1410000"/>
            <a:ext cx="77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>
                <a:solidFill>
                  <a:srgbClr val="BFDBFE"/>
                </a:solidFill>
                <a:latin typeface="Aptos"/>
              </a:rPr>
              <a:t>System Admins steuern Beta, Rechte, Pläne, Commerce und Betrieb.</a:t>
            </a:r>
          </a:p>
        </p:txBody>
      </p:sp>
      <p:sp>
        <p:nvSpPr>
          <p:cNvPr id="217" name="Bullets"/>
          <p:cNvSpPr txBox="1"/>
          <p:nvPr/>
        </p:nvSpPr>
        <p:spPr>
          <a:xfrm>
            <a:off x="830000" y="2200000"/>
            <a:ext cx="6500000" cy="3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Nutzer, Mitglieder, Rollen, Permissions, Sportarten und Gamification.</a:t>
            </a:r>
          </a:p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Moderation, Blog CMS, Payments, Rechnungen, Sponsoren und Settings.</a:t>
            </a:r>
          </a:p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Subscriptions, Subscription Invoices, Commerce, Auszahlungen und Website-Anfragen.</a:t>
            </a:r>
          </a:p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Wartungsmodus blockiert normale Nutzer, berechtigte Admins können weiterarbeiten.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" name="Shape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Text"/>
          <p:cNvSpPr txBox="1"/>
          <p:nvPr/>
        </p:nvSpPr>
        <p:spPr>
          <a:xfrm>
            <a:off x="560000" y="165000"/>
            <a:ext cx="60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 b="1">
                <a:solidFill>
                  <a:srgbClr val="E5F0FF"/>
                </a:solidFill>
                <a:latin typeface="Aptos"/>
              </a:rPr>
              <a:t>Airmius</a:t>
            </a:r>
          </a:p>
        </p:txBody>
      </p:sp>
      <p:sp>
        <p:nvSpPr>
          <p:cNvPr id="221" name="Text"/>
          <p:cNvSpPr txBox="1"/>
          <p:nvPr/>
        </p:nvSpPr>
        <p:spPr>
          <a:xfrm>
            <a:off x="10700000" y="165000"/>
            <a:ext cx="85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de-DE" sz="1200" b="1">
                <a:solidFill>
                  <a:srgbClr val="7DD3FC"/>
                </a:solidFill>
                <a:latin typeface="Aptos"/>
              </a:rPr>
              <a:t>14</a:t>
            </a:r>
          </a:p>
        </p:txBody>
      </p:sp>
      <p:pic>
        <p:nvPicPr>
          <p:cNvPr id="222" name="Pi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000" y="540000"/>
            <a:ext cx="1900000" cy="520000"/>
          </a:xfrm>
          <a:prstGeom prst="rect">
            <a:avLst/>
          </a:prstGeom>
        </p:spPr>
      </p:pic>
      <p:sp>
        <p:nvSpPr>
          <p:cNvPr id="223" name="Text"/>
          <p:cNvSpPr txBox="1"/>
          <p:nvPr/>
        </p:nvSpPr>
        <p:spPr>
          <a:xfrm>
            <a:off x="620000" y="820000"/>
            <a:ext cx="69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3000" b="1">
                <a:solidFill>
                  <a:srgbClr val="FFFFFF"/>
                </a:solidFill>
                <a:latin typeface="Aptos"/>
              </a:rPr>
              <a:t>Automatisierung und Integrationen</a:t>
            </a:r>
          </a:p>
        </p:txBody>
      </p:sp>
      <p:sp>
        <p:nvSpPr>
          <p:cNvPr id="224" name="Text"/>
          <p:cNvSpPr txBox="1"/>
          <p:nvPr/>
        </p:nvSpPr>
        <p:spPr>
          <a:xfrm>
            <a:off x="640000" y="1410000"/>
            <a:ext cx="77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>
                <a:solidFill>
                  <a:srgbClr val="BFDBFE"/>
                </a:solidFill>
                <a:latin typeface="Aptos"/>
              </a:rPr>
              <a:t>Cron, Webhooks und Sportprogramme bilden die technische Betriebsbasis.</a:t>
            </a:r>
          </a:p>
        </p:txBody>
      </p:sp>
      <p:sp>
        <p:nvSpPr>
          <p:cNvPr id="225" name="Shape"/>
          <p:cNvSpPr/>
          <p:nvPr/>
        </p:nvSpPr>
        <p:spPr>
          <a:xfrm>
            <a:off x="820000" y="2250000"/>
            <a:ext cx="430000" cy="43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" name="Text"/>
          <p:cNvSpPr txBox="1"/>
          <p:nvPr/>
        </p:nvSpPr>
        <p:spPr>
          <a:xfrm>
            <a:off x="937000" y="2337000"/>
            <a:ext cx="200000" cy="1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de-DE" sz="1600" b="1">
                <a:solidFill>
                  <a:srgbClr val="07111D"/>
                </a:solidFill>
                <a:latin typeface="Aptos"/>
              </a:rPr>
              <a:t>1</a:t>
            </a:r>
          </a:p>
        </p:txBody>
      </p:sp>
      <p:sp>
        <p:nvSpPr>
          <p:cNvPr id="227" name="Text"/>
          <p:cNvSpPr txBox="1"/>
          <p:nvPr/>
        </p:nvSpPr>
        <p:spPr>
          <a:xfrm>
            <a:off x="1420000" y="2285000"/>
            <a:ext cx="850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800">
                <a:solidFill>
                  <a:srgbClr val="E5E7EB"/>
                </a:solidFill>
                <a:latin typeface="Aptos"/>
              </a:rPr>
              <a:t>Laravel Scheduler per Cron starten</a:t>
            </a:r>
          </a:p>
        </p:txBody>
      </p:sp>
      <p:sp>
        <p:nvSpPr>
          <p:cNvPr id="228" name="Shape"/>
          <p:cNvSpPr/>
          <p:nvPr/>
        </p:nvSpPr>
        <p:spPr>
          <a:xfrm>
            <a:off x="820000" y="2870000"/>
            <a:ext cx="430000" cy="43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" name="Text"/>
          <p:cNvSpPr txBox="1"/>
          <p:nvPr/>
        </p:nvSpPr>
        <p:spPr>
          <a:xfrm>
            <a:off x="937000" y="2957000"/>
            <a:ext cx="200000" cy="1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de-DE" sz="1600" b="1">
                <a:solidFill>
                  <a:srgbClr val="07111D"/>
                </a:solidFill>
                <a:latin typeface="Aptos"/>
              </a:rPr>
              <a:t>2</a:t>
            </a:r>
          </a:p>
        </p:txBody>
      </p:sp>
      <p:sp>
        <p:nvSpPr>
          <p:cNvPr id="230" name="Text"/>
          <p:cNvSpPr txBox="1"/>
          <p:nvPr/>
        </p:nvSpPr>
        <p:spPr>
          <a:xfrm>
            <a:off x="1420000" y="2905000"/>
            <a:ext cx="850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800">
                <a:solidFill>
                  <a:srgbClr val="E5E7EB"/>
                </a:solidFill>
                <a:latin typeface="Aptos"/>
              </a:rPr>
              <a:t>Wiederkehrende Beitragsrechnungen erstellen</a:t>
            </a:r>
          </a:p>
        </p:txBody>
      </p:sp>
      <p:sp>
        <p:nvSpPr>
          <p:cNvPr id="231" name="Shape"/>
          <p:cNvSpPr/>
          <p:nvPr/>
        </p:nvSpPr>
        <p:spPr>
          <a:xfrm>
            <a:off x="820000" y="3490000"/>
            <a:ext cx="430000" cy="43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2" name="Text"/>
          <p:cNvSpPr txBox="1"/>
          <p:nvPr/>
        </p:nvSpPr>
        <p:spPr>
          <a:xfrm>
            <a:off x="937000" y="3577000"/>
            <a:ext cx="200000" cy="1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de-DE" sz="1600" b="1">
                <a:solidFill>
                  <a:srgbClr val="07111D"/>
                </a:solidFill>
                <a:latin typeface="Aptos"/>
              </a:rPr>
              <a:t>3</a:t>
            </a:r>
          </a:p>
        </p:txBody>
      </p:sp>
      <p:sp>
        <p:nvSpPr>
          <p:cNvPr id="233" name="Text"/>
          <p:cNvSpPr txBox="1"/>
          <p:nvPr/>
        </p:nvSpPr>
        <p:spPr>
          <a:xfrm>
            <a:off x="1420000" y="3525000"/>
            <a:ext cx="850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800">
                <a:solidFill>
                  <a:srgbClr val="E5E7EB"/>
                </a:solidFill>
                <a:latin typeface="Aptos"/>
              </a:rPr>
              <a:t>Abo- und Zahlungs-Erinnerungen versenden</a:t>
            </a:r>
          </a:p>
        </p:txBody>
      </p:sp>
      <p:sp>
        <p:nvSpPr>
          <p:cNvPr id="234" name="Shape"/>
          <p:cNvSpPr/>
          <p:nvPr/>
        </p:nvSpPr>
        <p:spPr>
          <a:xfrm>
            <a:off x="820000" y="4110000"/>
            <a:ext cx="430000" cy="43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5" name="Text"/>
          <p:cNvSpPr txBox="1"/>
          <p:nvPr/>
        </p:nvSpPr>
        <p:spPr>
          <a:xfrm>
            <a:off x="937000" y="4197000"/>
            <a:ext cx="200000" cy="1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de-DE" sz="1600" b="1">
                <a:solidFill>
                  <a:srgbClr val="07111D"/>
                </a:solidFill>
                <a:latin typeface="Aptos"/>
              </a:rPr>
              <a:t>4</a:t>
            </a:r>
          </a:p>
        </p:txBody>
      </p:sp>
      <p:sp>
        <p:nvSpPr>
          <p:cNvPr id="236" name="Text"/>
          <p:cNvSpPr txBox="1"/>
          <p:nvPr/>
        </p:nvSpPr>
        <p:spPr>
          <a:xfrm>
            <a:off x="1420000" y="4145000"/>
            <a:ext cx="850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800">
                <a:solidFill>
                  <a:srgbClr val="E5E7EB"/>
                </a:solidFill>
                <a:latin typeface="Aptos"/>
              </a:rPr>
              <a:t>Stripe/PayPal Webhooks synchronisieren</a:t>
            </a:r>
          </a:p>
        </p:txBody>
      </p:sp>
      <p:sp>
        <p:nvSpPr>
          <p:cNvPr id="237" name="Shape"/>
          <p:cNvSpPr/>
          <p:nvPr/>
        </p:nvSpPr>
        <p:spPr>
          <a:xfrm>
            <a:off x="820000" y="4730000"/>
            <a:ext cx="430000" cy="43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8" name="Text"/>
          <p:cNvSpPr txBox="1"/>
          <p:nvPr/>
        </p:nvSpPr>
        <p:spPr>
          <a:xfrm>
            <a:off x="937000" y="4817000"/>
            <a:ext cx="200000" cy="1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de-DE" sz="1600" b="1">
                <a:solidFill>
                  <a:srgbClr val="07111D"/>
                </a:solidFill>
                <a:latin typeface="Aptos"/>
              </a:rPr>
              <a:t>5</a:t>
            </a:r>
          </a:p>
        </p:txBody>
      </p:sp>
      <p:sp>
        <p:nvSpPr>
          <p:cNvPr id="239" name="Text"/>
          <p:cNvSpPr txBox="1"/>
          <p:nvPr/>
        </p:nvSpPr>
        <p:spPr>
          <a:xfrm>
            <a:off x="1420000" y="4765000"/>
            <a:ext cx="850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800">
                <a:solidFill>
                  <a:srgbClr val="E5E7EB"/>
                </a:solidFill>
                <a:latin typeface="Aptos"/>
              </a:rPr>
              <a:t>Google Fit, Garmin und Mi Fitness vorbereiten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1" name="Shape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42" name="Text"/>
          <p:cNvSpPr txBox="1"/>
          <p:nvPr/>
        </p:nvSpPr>
        <p:spPr>
          <a:xfrm>
            <a:off x="560000" y="165000"/>
            <a:ext cx="60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 b="1">
                <a:solidFill>
                  <a:srgbClr val="E5F0FF"/>
                </a:solidFill>
                <a:latin typeface="Aptos"/>
              </a:rPr>
              <a:t>Airmius</a:t>
            </a:r>
          </a:p>
        </p:txBody>
      </p:sp>
      <p:sp>
        <p:nvSpPr>
          <p:cNvPr id="243" name="Text"/>
          <p:cNvSpPr txBox="1"/>
          <p:nvPr/>
        </p:nvSpPr>
        <p:spPr>
          <a:xfrm>
            <a:off x="10700000" y="165000"/>
            <a:ext cx="85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de-DE" sz="1200" b="1">
                <a:solidFill>
                  <a:srgbClr val="7DD3FC"/>
                </a:solidFill>
                <a:latin typeface="Aptos"/>
              </a:rPr>
              <a:t>15</a:t>
            </a:r>
          </a:p>
        </p:txBody>
      </p:sp>
      <p:pic>
        <p:nvPicPr>
          <p:cNvPr id="244" name="Pi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000" y="540000"/>
            <a:ext cx="1900000" cy="520000"/>
          </a:xfrm>
          <a:prstGeom prst="rect">
            <a:avLst/>
          </a:prstGeom>
        </p:spPr>
      </p:pic>
      <p:sp>
        <p:nvSpPr>
          <p:cNvPr id="245" name="Text"/>
          <p:cNvSpPr txBox="1"/>
          <p:nvPr/>
        </p:nvSpPr>
        <p:spPr>
          <a:xfrm>
            <a:off x="620000" y="820000"/>
            <a:ext cx="69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3000" b="1">
                <a:solidFill>
                  <a:srgbClr val="FFFFFF"/>
                </a:solidFill>
                <a:latin typeface="Aptos"/>
              </a:rPr>
              <a:t>Beta-Readiness</a:t>
            </a:r>
          </a:p>
        </p:txBody>
      </p:sp>
      <p:sp>
        <p:nvSpPr>
          <p:cNvPr id="246" name="Text"/>
          <p:cNvSpPr txBox="1"/>
          <p:nvPr/>
        </p:nvSpPr>
        <p:spPr>
          <a:xfrm>
            <a:off x="640000" y="1410000"/>
            <a:ext cx="77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>
                <a:solidFill>
                  <a:srgbClr val="BFDBFE"/>
                </a:solidFill>
                <a:latin typeface="Aptos"/>
              </a:rPr>
              <a:t>Was bereits stark ist und was für Produktion noch scharfgestellt werden muss.</a:t>
            </a:r>
          </a:p>
        </p:txBody>
      </p:sp>
      <p:sp>
        <p:nvSpPr>
          <p:cNvPr id="247" name="Bullets"/>
          <p:cNvSpPr txBox="1"/>
          <p:nvPr/>
        </p:nvSpPr>
        <p:spPr>
          <a:xfrm>
            <a:off x="830000" y="2200000"/>
            <a:ext cx="6500000" cy="3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Stark: Rollenmodell, Vereinsverwaltung, Abo-Flows, Moderation, Commerce-Grundlage.</a:t>
            </a:r>
          </a:p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Stark: SEO-Basis, Elternzustimmung, Scheduler-Konzept, Admin-Verwaltung.</a:t>
            </a:r>
          </a:p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Offen: automatische Rückerstattung, automatische Anbieter-Auszahlung, echte Provider-Abos.</a:t>
            </a:r>
          </a:p>
          <a:p>
            <a:pPr marL="285750" indent="-171450">
              <a:buChar char="•"/>
            </a:pPr>
            <a:r>
              <a:rPr lang="de-DE" sz="1700">
                <a:solidFill>
                  <a:srgbClr val="E5E7EB"/>
                </a:solidFill>
                <a:latin typeface="Aptos"/>
              </a:rPr>
              <a:t>Offen: Consent-Banner, SSR, erweiterte Audit-Logs, vollständige Sport-App-APIs.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9" name="Shape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50" name="Text"/>
          <p:cNvSpPr txBox="1"/>
          <p:nvPr/>
        </p:nvSpPr>
        <p:spPr>
          <a:xfrm>
            <a:off x="560000" y="165000"/>
            <a:ext cx="60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500" b="1">
                <a:solidFill>
                  <a:srgbClr val="E5F0FF"/>
                </a:solidFill>
                <a:latin typeface="Aptos"/>
              </a:rPr>
              <a:t>Airmius</a:t>
            </a:r>
          </a:p>
        </p:txBody>
      </p:sp>
      <p:sp>
        <p:nvSpPr>
          <p:cNvPr id="251" name="Text"/>
          <p:cNvSpPr txBox="1"/>
          <p:nvPr/>
        </p:nvSpPr>
        <p:spPr>
          <a:xfrm>
            <a:off x="10700000" y="165000"/>
            <a:ext cx="85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de-DE" sz="1200" b="1">
                <a:solidFill>
                  <a:srgbClr val="7DD3FC"/>
                </a:solidFill>
                <a:latin typeface="Aptos"/>
              </a:rPr>
              <a:t>16</a:t>
            </a:r>
          </a:p>
        </p:txBody>
      </p:sp>
      <p:pic>
        <p:nvPicPr>
          <p:cNvPr id="252" name="Pi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000" y="540000"/>
            <a:ext cx="1900000" cy="520000"/>
          </a:xfrm>
          <a:prstGeom prst="rect">
            <a:avLst/>
          </a:prstGeom>
        </p:spPr>
      </p:pic>
      <p:sp>
        <p:nvSpPr>
          <p:cNvPr id="253" name="Text"/>
          <p:cNvSpPr txBox="1"/>
          <p:nvPr/>
        </p:nvSpPr>
        <p:spPr>
          <a:xfrm>
            <a:off x="740000" y="1150000"/>
            <a:ext cx="8700000" cy="5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3400" b="1">
                <a:solidFill>
                  <a:srgbClr val="FFFFFF"/>
                </a:solidFill>
                <a:latin typeface="Aptos"/>
              </a:rPr>
              <a:t>Nächster Schritt</a:t>
            </a:r>
          </a:p>
        </p:txBody>
      </p:sp>
      <p:sp>
        <p:nvSpPr>
          <p:cNvPr id="254" name="Text"/>
          <p:cNvSpPr txBox="1"/>
          <p:nvPr/>
        </p:nvSpPr>
        <p:spPr>
          <a:xfrm>
            <a:off x="760000" y="1830000"/>
            <a:ext cx="84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de-DE" sz="1800">
                <a:solidFill>
                  <a:srgbClr val="BFDBFE"/>
                </a:solidFill>
                <a:latin typeface="Aptos"/>
              </a:rPr>
              <a:t>Aus Use Cases werden Beta-Szenarien, Tests und Prioritäten.</a:t>
            </a:r>
          </a:p>
        </p:txBody>
      </p:sp>
      <p:sp>
        <p:nvSpPr>
          <p:cNvPr id="255" name="Bullets"/>
          <p:cNvSpPr txBox="1"/>
          <p:nvPr/>
        </p:nvSpPr>
        <p:spPr>
          <a:xfrm>
            <a:off x="980000" y="2600000"/>
            <a:ext cx="8400000" cy="2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de-DE" sz="1900">
                <a:solidFill>
                  <a:srgbClr val="E5E7EB"/>
                </a:solidFill>
                <a:latin typeface="Aptos"/>
              </a:rPr>
              <a:t>Top 10 Beta-Flows als Testplan definieren.</a:t>
            </a:r>
          </a:p>
          <a:p>
            <a:pPr marL="285750" indent="-171450">
              <a:buChar char="•"/>
            </a:pPr>
            <a:r>
              <a:rPr lang="de-DE" sz="1900">
                <a:solidFill>
                  <a:srgbClr val="E5E7EB"/>
                </a:solidFill>
                <a:latin typeface="Aptos"/>
              </a:rPr>
              <a:t>Vereins-Onboarding mit Import, Beiträgen und Zahlungen testen.</a:t>
            </a:r>
          </a:p>
          <a:p>
            <a:pPr marL="285750" indent="-171450">
              <a:buChar char="•"/>
            </a:pPr>
            <a:r>
              <a:rPr lang="de-DE" sz="1900">
                <a:solidFill>
                  <a:srgbClr val="E5E7EB"/>
                </a:solidFill>
                <a:latin typeface="Aptos"/>
              </a:rPr>
              <a:t>Jugendschutz, Moderation und Rechtstexte final prüfen.</a:t>
            </a:r>
          </a:p>
          <a:p>
            <a:pPr marL="285750" indent="-171450">
              <a:buChar char="•"/>
            </a:pPr>
            <a:r>
              <a:rPr lang="de-DE" sz="1900">
                <a:solidFill>
                  <a:srgbClr val="E5E7EB"/>
                </a:solidFill>
                <a:latin typeface="Aptos"/>
              </a:rPr>
              <a:t>Stripe/PayPal/Überweisung mit echten Testzahlungen durchspielen.</a:t>
            </a:r>
          </a:p>
        </p:txBody>
      </p:sp>
      <p:sp>
        <p:nvSpPr>
          <p:cNvPr id="256" name="Shape"/>
          <p:cNvSpPr/>
          <p:nvPr/>
        </p:nvSpPr>
        <p:spPr>
          <a:xfrm>
            <a:off x="940000" y="5350000"/>
            <a:ext cx="7600000" cy="13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rmius">
  <a:themeElements>
    <a:clrScheme name="Airmius">
      <a:dk1>
        <a:srgbClr val="0B1220"/>
      </a:dk1>
      <a:lt1>
        <a:srgbClr val="FFFFFF"/>
      </a:lt1>
      <a:dk2>
        <a:srgbClr val="111827"/>
      </a:dk2>
      <a:lt2>
        <a:srgbClr val="E5E7EB"/>
      </a:lt2>
      <a:accent1>
        <a:srgbClr val="38BDF8"/>
      </a:accent1>
      <a:accent2>
        <a:srgbClr val="22C55E"/>
      </a:accent2>
      <a:accent3>
        <a:srgbClr val="F97316"/>
      </a:accent3>
      <a:accent4>
        <a:srgbClr val="A78BFA"/>
      </a:accent4>
      <a:accent5>
        <a:srgbClr val="FACC15"/>
      </a:accent5>
      <a:accent6>
        <a:srgbClr val="EF4444"/>
      </a:accent6>
      <a:hlink>
        <a:srgbClr val="38BDF8"/>
      </a:hlink>
      <a:folHlink>
        <a:srgbClr val="A78BFA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Airmius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Airmius</Application>
  <PresentationFormat>On-screen Show (16:9)</PresentationFormat>
  <Slides>16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Airmius Use Cases</dc:title>
  <dc:creator>Airmius</dc:creator>
  <cp:lastModifiedBy>Airmius</cp:lastModifiedBy>
  <dcterms:created xsi:type="dcterms:W3CDTF">2026-05-03T20:43:54Z</dcterms:created>
  <dcterms:modified xsi:type="dcterms:W3CDTF">2026-05-03T20:43:54Z</dcterms:modified>
</cp:coreProperties>
</file>