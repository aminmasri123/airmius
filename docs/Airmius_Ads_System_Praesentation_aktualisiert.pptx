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8" d="100"/>
          <a:sy n="108" d="100"/>
        </p:scale>
        <p:origin x="678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 smtClean="0"/>
              <a:t>Formatvorlage des Untertitelmasters durch Klicken bearbeiten</a:t>
            </a:r>
            <a:endParaRPr lang="de-DE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08E6BE-543E-4B3F-BEF6-7C8F45FFF868}" type="datetimeFigureOut">
              <a:rPr lang="de-DE" smtClean="0"/>
              <a:t>16.05.2026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EA2355-FC71-432D-87D1-46F78E35A5E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680619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 smtClean="0"/>
              <a:t>Formatvorlagen des Textmasters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08E6BE-543E-4B3F-BEF6-7C8F45FFF868}" type="datetimeFigureOut">
              <a:rPr lang="de-DE" smtClean="0"/>
              <a:t>16.05.2026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EA2355-FC71-432D-87D1-46F78E35A5E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072158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 smtClean="0"/>
              <a:t>Formatvorlagen des Textmasters bearbeiten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08E6BE-543E-4B3F-BEF6-7C8F45FFF868}" type="datetimeFigureOut">
              <a:rPr lang="de-DE" smtClean="0"/>
              <a:t>16.05.2026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EA2355-FC71-432D-87D1-46F78E35A5E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098212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 smtClean="0"/>
              <a:t>Formatvorlagen des Textmasters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 smtClean="0"/>
              <a:t>Formatvorlagen des Textmasters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08E6BE-543E-4B3F-BEF6-7C8F45FFF868}" type="datetimeFigureOut">
              <a:rPr lang="de-DE" smtClean="0"/>
              <a:t>16.05.2026</a:t>
            </a:fld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EA2355-FC71-432D-87D1-46F78E35A5E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815746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smtClean="0"/>
              <a:t>Formatvorlagen des Textmasters bearbeiten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 smtClean="0"/>
              <a:t>Formatvorlagen des Textmasters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smtClean="0"/>
              <a:t>Formatvorlagen des Textmasters bearbeiten</a:t>
            </a:r>
          </a:p>
        </p:txBody>
      </p:sp>
      <p:sp>
        <p:nvSpPr>
          <p:cNvPr id="6" name="Inhaltsplatzhalt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 smtClean="0"/>
              <a:t>Formatvorlagen des Textmasters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7" name="Datumsplatzhalt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08E6BE-543E-4B3F-BEF6-7C8F45FFF868}" type="datetimeFigureOut">
              <a:rPr lang="de-DE" smtClean="0"/>
              <a:t>16.05.2026</a:t>
            </a:fld>
            <a:endParaRPr lang="de-DE"/>
          </a:p>
        </p:txBody>
      </p:sp>
      <p:sp>
        <p:nvSpPr>
          <p:cNvPr id="8" name="Fußzeilenplatzhalt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EA2355-FC71-432D-87D1-46F78E35A5E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404519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08E6BE-543E-4B3F-BEF6-7C8F45FFF868}" type="datetimeFigureOut">
              <a:rPr lang="de-DE" smtClean="0"/>
              <a:t>16.05.2026</a:t>
            </a:fld>
            <a:endParaRPr lang="de-DE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EA2355-FC71-432D-87D1-46F78E35A5E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739100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08E6BE-543E-4B3F-BEF6-7C8F45FFF868}" type="datetimeFigureOut">
              <a:rPr lang="de-DE" smtClean="0"/>
              <a:t>16.05.2026</a:t>
            </a:fld>
            <a:endParaRPr lang="de-DE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EA2355-FC71-432D-87D1-46F78E35A5E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4896524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 smtClean="0"/>
              <a:t>Formatvorlagen des Textmasters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 smtClean="0"/>
              <a:t>Formatvorlagen des Textmasters bearbeiten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08E6BE-543E-4B3F-BEF6-7C8F45FFF868}" type="datetimeFigureOut">
              <a:rPr lang="de-DE" smtClean="0"/>
              <a:t>16.05.2026</a:t>
            </a:fld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EA2355-FC71-432D-87D1-46F78E35A5E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578004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Bildplatzhalt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 smtClean="0"/>
              <a:t>Formatvorlagen des Textmasters bearbeiten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08E6BE-543E-4B3F-BEF6-7C8F45FFF868}" type="datetimeFigureOut">
              <a:rPr lang="de-DE" smtClean="0"/>
              <a:t>16.05.2026</a:t>
            </a:fld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EA2355-FC71-432D-87D1-46F78E35A5E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75860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 smtClean="0"/>
              <a:t>Formatvorlagen des Textmasters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08E6BE-543E-4B3F-BEF6-7C8F45FFF868}" type="datetimeFigureOut">
              <a:rPr lang="de-DE" smtClean="0"/>
              <a:t>16.05.2026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EA2355-FC71-432D-87D1-46F78E35A5E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57721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 smtClean="0"/>
              <a:t>Formatvorlagen des Textmasters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08E6BE-543E-4B3F-BEF6-7C8F45FFF868}" type="datetimeFigureOut">
              <a:rPr lang="de-DE" smtClean="0"/>
              <a:t>16.05.2026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EA2355-FC71-432D-87D1-46F78E35A5E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22314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 smtClean="0"/>
              <a:t>Formatvorlagen des Textmasters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808E6BE-543E-4B3F-BEF6-7C8F45FFF868}" type="datetimeFigureOut">
              <a:rPr lang="de-DE" smtClean="0"/>
              <a:t>16.05.2026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EA2355-FC71-432D-87D1-46F78E35A5E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64133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eck 1"/>
          <p:cNvSpPr/>
          <p:nvPr/>
        </p:nvSpPr>
        <p:spPr>
          <a:xfrm>
            <a:off x="0" y="0"/>
            <a:ext cx="12192000" cy="101600"/>
          </a:xfrm>
          <a:prstGeom prst="rect">
            <a:avLst/>
          </a:prstGeom>
          <a:solidFill>
            <a:srgbClr val="3884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" name="Textfeld 2"/>
          <p:cNvSpPr txBox="1"/>
          <p:nvPr/>
        </p:nvSpPr>
        <p:spPr>
          <a:xfrm>
            <a:off x="533400" y="431800"/>
            <a:ext cx="3302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900" b="1" smtClean="0">
                <a:solidFill>
                  <a:srgbClr val="3884FF"/>
                </a:solidFill>
                <a:latin typeface="Aptos"/>
              </a:rPr>
              <a:t>SYSTEMDECK</a:t>
            </a:r>
            <a:endParaRPr lang="de-DE" sz="900" b="1">
              <a:solidFill>
                <a:srgbClr val="3884FF"/>
              </a:solidFill>
              <a:latin typeface="Aptos"/>
            </a:endParaRPr>
          </a:p>
        </p:txBody>
      </p:sp>
      <p:sp>
        <p:nvSpPr>
          <p:cNvPr id="4" name="Textfeld 3"/>
          <p:cNvSpPr txBox="1"/>
          <p:nvPr/>
        </p:nvSpPr>
        <p:spPr>
          <a:xfrm>
            <a:off x="533400" y="736600"/>
            <a:ext cx="102235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2800" b="1" smtClean="0">
                <a:solidFill>
                  <a:srgbClr val="F8FAFC"/>
                </a:solidFill>
                <a:latin typeface="Aptos Display"/>
              </a:rPr>
              <a:t>Airmius Ads: vom Kampagnenkauf bis zur Ausspielung</a:t>
            </a:r>
            <a:endParaRPr lang="de-DE" sz="2800" b="1">
              <a:solidFill>
                <a:srgbClr val="F8FAFC"/>
              </a:solidFill>
              <a:latin typeface="Aptos Display"/>
            </a:endParaRPr>
          </a:p>
        </p:txBody>
      </p:sp>
      <p:sp>
        <p:nvSpPr>
          <p:cNvPr id="5" name="Textfeld 4"/>
          <p:cNvSpPr txBox="1"/>
          <p:nvPr/>
        </p:nvSpPr>
        <p:spPr>
          <a:xfrm>
            <a:off x="533400" y="1422400"/>
            <a:ext cx="10414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1200" smtClean="0">
                <a:solidFill>
                  <a:srgbClr val="BECDE6"/>
                </a:solidFill>
                <a:latin typeface="Aptos"/>
              </a:rPr>
              <a:t>Alles, was Admins, Entwickler und Business-Seite über Struktur, Funktionen, Algorithmus, Finance, Datenschutz und Use Cases wissen müssen.</a:t>
            </a:r>
            <a:endParaRPr lang="de-DE" sz="1200">
              <a:solidFill>
                <a:srgbClr val="BECDE6"/>
              </a:solidFill>
              <a:latin typeface="Aptos"/>
            </a:endParaRPr>
          </a:p>
        </p:txBody>
      </p:sp>
      <p:sp>
        <p:nvSpPr>
          <p:cNvPr id="6" name="Textfeld 5"/>
          <p:cNvSpPr txBox="1"/>
          <p:nvPr/>
        </p:nvSpPr>
        <p:spPr>
          <a:xfrm>
            <a:off x="533400" y="6451600"/>
            <a:ext cx="66040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800" smtClean="0">
                <a:solidFill>
                  <a:srgbClr val="7E97B8"/>
                </a:solidFill>
                <a:latin typeface="Aptos"/>
              </a:rPr>
              <a:t>Airmius Ads System | Produkt-, Technik- und Finance-Dokumentation</a:t>
            </a:r>
            <a:endParaRPr lang="de-DE" sz="800">
              <a:solidFill>
                <a:srgbClr val="7E97B8"/>
              </a:solidFill>
              <a:latin typeface="Aptos"/>
            </a:endParaRPr>
          </a:p>
        </p:txBody>
      </p:sp>
      <p:sp>
        <p:nvSpPr>
          <p:cNvPr id="7" name="Textfeld 6"/>
          <p:cNvSpPr txBox="1"/>
          <p:nvPr/>
        </p:nvSpPr>
        <p:spPr>
          <a:xfrm>
            <a:off x="11112500" y="64516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1000" b="1" smtClean="0">
                <a:solidFill>
                  <a:srgbClr val="3884FF"/>
                </a:solidFill>
                <a:latin typeface="Aptos Display"/>
              </a:rPr>
              <a:t>01</a:t>
            </a:r>
            <a:endParaRPr lang="de-DE" sz="1000" b="1">
              <a:solidFill>
                <a:srgbClr val="3884FF"/>
              </a:solidFill>
              <a:latin typeface="Aptos Display"/>
            </a:endParaRPr>
          </a:p>
        </p:txBody>
      </p:sp>
      <p:sp>
        <p:nvSpPr>
          <p:cNvPr id="8" name="Abgerundetes Rechteck 7"/>
          <p:cNvSpPr/>
          <p:nvPr/>
        </p:nvSpPr>
        <p:spPr>
          <a:xfrm>
            <a:off x="533400" y="2387600"/>
            <a:ext cx="2413000" cy="1168400"/>
          </a:xfrm>
          <a:prstGeom prst="roundRect">
            <a:avLst/>
          </a:prstGeom>
          <a:solidFill>
            <a:srgbClr val="182233"/>
          </a:solidFill>
          <a:ln>
            <a:solidFill>
              <a:srgbClr val="2F3F5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9" name="Textfeld 8"/>
          <p:cNvSpPr txBox="1"/>
          <p:nvPr/>
        </p:nvSpPr>
        <p:spPr>
          <a:xfrm>
            <a:off x="711200" y="2540000"/>
            <a:ext cx="20574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800" b="1" smtClean="0">
                <a:solidFill>
                  <a:srgbClr val="3884FF"/>
                </a:solidFill>
                <a:latin typeface="Aptos"/>
              </a:rPr>
              <a:t>PRODUKT</a:t>
            </a:r>
            <a:endParaRPr lang="de-DE" sz="800" b="1">
              <a:solidFill>
                <a:srgbClr val="3884FF"/>
              </a:solidFill>
              <a:latin typeface="Aptos"/>
            </a:endParaRPr>
          </a:p>
        </p:txBody>
      </p:sp>
      <p:sp>
        <p:nvSpPr>
          <p:cNvPr id="10" name="Textfeld 9"/>
          <p:cNvSpPr txBox="1"/>
          <p:nvPr/>
        </p:nvSpPr>
        <p:spPr>
          <a:xfrm>
            <a:off x="711200" y="2768600"/>
            <a:ext cx="2057400" cy="70788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2000" b="1" smtClean="0">
                <a:solidFill>
                  <a:srgbClr val="F8FAFC"/>
                </a:solidFill>
                <a:latin typeface="Aptos Display"/>
              </a:rPr>
              <a:t>Ads in Commerce</a:t>
            </a:r>
            <a:endParaRPr lang="de-DE" sz="2000" b="1">
              <a:solidFill>
                <a:srgbClr val="F8FAFC"/>
              </a:solidFill>
              <a:latin typeface="Aptos Display"/>
            </a:endParaRPr>
          </a:p>
        </p:txBody>
      </p:sp>
      <p:sp>
        <p:nvSpPr>
          <p:cNvPr id="11" name="Textfeld 10"/>
          <p:cNvSpPr txBox="1"/>
          <p:nvPr/>
        </p:nvSpPr>
        <p:spPr>
          <a:xfrm>
            <a:off x="711200" y="3175000"/>
            <a:ext cx="2057400" cy="35394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850" smtClean="0">
                <a:solidFill>
                  <a:srgbClr val="BECDE6"/>
                </a:solidFill>
                <a:latin typeface="Aptos"/>
              </a:rPr>
              <a:t>Kampagnen kaufen, verwalten, prüfen und ausspielen</a:t>
            </a:r>
            <a:endParaRPr lang="de-DE" sz="850">
              <a:solidFill>
                <a:srgbClr val="BECDE6"/>
              </a:solidFill>
              <a:latin typeface="Aptos"/>
            </a:endParaRPr>
          </a:p>
        </p:txBody>
      </p:sp>
      <p:sp>
        <p:nvSpPr>
          <p:cNvPr id="12" name="Abgerundetes Rechteck 11"/>
          <p:cNvSpPr/>
          <p:nvPr/>
        </p:nvSpPr>
        <p:spPr>
          <a:xfrm>
            <a:off x="3124200" y="2387600"/>
            <a:ext cx="2413000" cy="1168400"/>
          </a:xfrm>
          <a:prstGeom prst="roundRect">
            <a:avLst/>
          </a:prstGeom>
          <a:solidFill>
            <a:srgbClr val="182233"/>
          </a:solidFill>
          <a:ln>
            <a:solidFill>
              <a:srgbClr val="2F3F5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3" name="Textfeld 12"/>
          <p:cNvSpPr txBox="1"/>
          <p:nvPr/>
        </p:nvSpPr>
        <p:spPr>
          <a:xfrm>
            <a:off x="3302000" y="2540000"/>
            <a:ext cx="20574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800" b="1" smtClean="0">
                <a:solidFill>
                  <a:srgbClr val="26C6DA"/>
                </a:solidFill>
                <a:latin typeface="Aptos"/>
              </a:rPr>
              <a:t>TECHNIK</a:t>
            </a:r>
            <a:endParaRPr lang="de-DE" sz="800" b="1">
              <a:solidFill>
                <a:srgbClr val="26C6DA"/>
              </a:solidFill>
              <a:latin typeface="Aptos"/>
            </a:endParaRPr>
          </a:p>
        </p:txBody>
      </p:sp>
      <p:sp>
        <p:nvSpPr>
          <p:cNvPr id="14" name="Textfeld 13"/>
          <p:cNvSpPr txBox="1"/>
          <p:nvPr/>
        </p:nvSpPr>
        <p:spPr>
          <a:xfrm>
            <a:off x="3302000" y="2768600"/>
            <a:ext cx="2057400" cy="4001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2000" b="1" smtClean="0">
                <a:solidFill>
                  <a:srgbClr val="F8FAFC"/>
                </a:solidFill>
                <a:latin typeface="Aptos Display"/>
              </a:rPr>
              <a:t>Event Engine</a:t>
            </a:r>
            <a:endParaRPr lang="de-DE" sz="2000" b="1">
              <a:solidFill>
                <a:srgbClr val="F8FAFC"/>
              </a:solidFill>
              <a:latin typeface="Aptos Display"/>
            </a:endParaRPr>
          </a:p>
        </p:txBody>
      </p:sp>
      <p:sp>
        <p:nvSpPr>
          <p:cNvPr id="15" name="Textfeld 14"/>
          <p:cNvSpPr txBox="1"/>
          <p:nvPr/>
        </p:nvSpPr>
        <p:spPr>
          <a:xfrm>
            <a:off x="3302000" y="3175000"/>
            <a:ext cx="2057400" cy="35394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850" smtClean="0">
                <a:solidFill>
                  <a:srgbClr val="BECDE6"/>
                </a:solidFill>
                <a:latin typeface="Aptos"/>
              </a:rPr>
              <a:t>Impressions, Clicks, Leads, Sales und Attribution</a:t>
            </a:r>
            <a:endParaRPr lang="de-DE" sz="850">
              <a:solidFill>
                <a:srgbClr val="BECDE6"/>
              </a:solidFill>
              <a:latin typeface="Aptos"/>
            </a:endParaRPr>
          </a:p>
        </p:txBody>
      </p:sp>
      <p:sp>
        <p:nvSpPr>
          <p:cNvPr id="16" name="Abgerundetes Rechteck 15"/>
          <p:cNvSpPr/>
          <p:nvPr/>
        </p:nvSpPr>
        <p:spPr>
          <a:xfrm>
            <a:off x="5715000" y="2387600"/>
            <a:ext cx="2413000" cy="1168400"/>
          </a:xfrm>
          <a:prstGeom prst="roundRect">
            <a:avLst/>
          </a:prstGeom>
          <a:solidFill>
            <a:srgbClr val="182233"/>
          </a:solidFill>
          <a:ln>
            <a:solidFill>
              <a:srgbClr val="2F3F5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7" name="Textfeld 16"/>
          <p:cNvSpPr txBox="1"/>
          <p:nvPr/>
        </p:nvSpPr>
        <p:spPr>
          <a:xfrm>
            <a:off x="5892800" y="2540000"/>
            <a:ext cx="20574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800" b="1" smtClean="0">
                <a:solidFill>
                  <a:srgbClr val="3AD39F"/>
                </a:solidFill>
                <a:latin typeface="Aptos"/>
              </a:rPr>
              <a:t>FINANCE</a:t>
            </a:r>
            <a:endParaRPr lang="de-DE" sz="800" b="1">
              <a:solidFill>
                <a:srgbClr val="3AD39F"/>
              </a:solidFill>
              <a:latin typeface="Aptos"/>
            </a:endParaRPr>
          </a:p>
        </p:txBody>
      </p:sp>
      <p:sp>
        <p:nvSpPr>
          <p:cNvPr id="18" name="Textfeld 17"/>
          <p:cNvSpPr txBox="1"/>
          <p:nvPr/>
        </p:nvSpPr>
        <p:spPr>
          <a:xfrm>
            <a:off x="5892800" y="2768600"/>
            <a:ext cx="2057400" cy="70788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2000" b="1" smtClean="0">
                <a:solidFill>
                  <a:srgbClr val="F8FAFC"/>
                </a:solidFill>
                <a:latin typeface="Aptos Display"/>
              </a:rPr>
              <a:t>CPM/CPC/CPL/CPA</a:t>
            </a:r>
            <a:endParaRPr lang="de-DE" sz="2000" b="1">
              <a:solidFill>
                <a:srgbClr val="F8FAFC"/>
              </a:solidFill>
              <a:latin typeface="Aptos Display"/>
            </a:endParaRPr>
          </a:p>
        </p:txBody>
      </p:sp>
      <p:sp>
        <p:nvSpPr>
          <p:cNvPr id="19" name="Textfeld 18"/>
          <p:cNvSpPr txBox="1"/>
          <p:nvPr/>
        </p:nvSpPr>
        <p:spPr>
          <a:xfrm>
            <a:off x="5892800" y="3175000"/>
            <a:ext cx="2057400" cy="35394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850" smtClean="0">
                <a:solidFill>
                  <a:srgbClr val="BECDE6"/>
                </a:solidFill>
                <a:latin typeface="Aptos"/>
              </a:rPr>
              <a:t>Budgetverbrauch je nach Ziel und Event</a:t>
            </a:r>
            <a:endParaRPr lang="de-DE" sz="850">
              <a:solidFill>
                <a:srgbClr val="BECDE6"/>
              </a:solidFill>
              <a:latin typeface="Aptos"/>
            </a:endParaRPr>
          </a:p>
        </p:txBody>
      </p:sp>
      <p:sp>
        <p:nvSpPr>
          <p:cNvPr id="20" name="Abgerundetes Rechteck 19"/>
          <p:cNvSpPr/>
          <p:nvPr/>
        </p:nvSpPr>
        <p:spPr>
          <a:xfrm>
            <a:off x="8305800" y="2387600"/>
            <a:ext cx="2413000" cy="1168400"/>
          </a:xfrm>
          <a:prstGeom prst="roundRect">
            <a:avLst/>
          </a:prstGeom>
          <a:solidFill>
            <a:srgbClr val="182233"/>
          </a:solidFill>
          <a:ln>
            <a:solidFill>
              <a:srgbClr val="2F3F5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1" name="Textfeld 20"/>
          <p:cNvSpPr txBox="1"/>
          <p:nvPr/>
        </p:nvSpPr>
        <p:spPr>
          <a:xfrm>
            <a:off x="8483600" y="2540000"/>
            <a:ext cx="20574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800" b="1" smtClean="0">
                <a:solidFill>
                  <a:srgbClr val="FFB142"/>
                </a:solidFill>
                <a:latin typeface="Aptos"/>
              </a:rPr>
              <a:t>PRIVACY</a:t>
            </a:r>
            <a:endParaRPr lang="de-DE" sz="800" b="1">
              <a:solidFill>
                <a:srgbClr val="FFB142"/>
              </a:solidFill>
              <a:latin typeface="Aptos"/>
            </a:endParaRPr>
          </a:p>
        </p:txBody>
      </p:sp>
      <p:sp>
        <p:nvSpPr>
          <p:cNvPr id="22" name="Textfeld 21"/>
          <p:cNvSpPr txBox="1"/>
          <p:nvPr/>
        </p:nvSpPr>
        <p:spPr>
          <a:xfrm>
            <a:off x="8483600" y="2768600"/>
            <a:ext cx="2057400" cy="4001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2000" b="1" smtClean="0">
                <a:solidFill>
                  <a:srgbClr val="F8FAFC"/>
                </a:solidFill>
                <a:latin typeface="Aptos Display"/>
              </a:rPr>
              <a:t>Consent-first</a:t>
            </a:r>
            <a:endParaRPr lang="de-DE" sz="2000" b="1">
              <a:solidFill>
                <a:srgbClr val="F8FAFC"/>
              </a:solidFill>
              <a:latin typeface="Aptos Display"/>
            </a:endParaRPr>
          </a:p>
        </p:txBody>
      </p:sp>
      <p:sp>
        <p:nvSpPr>
          <p:cNvPr id="23" name="Textfeld 22"/>
          <p:cNvSpPr txBox="1"/>
          <p:nvPr/>
        </p:nvSpPr>
        <p:spPr>
          <a:xfrm>
            <a:off x="8483600" y="3175000"/>
            <a:ext cx="2057400" cy="35394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850" smtClean="0">
                <a:solidFill>
                  <a:srgbClr val="BECDE6"/>
                </a:solidFill>
                <a:latin typeface="Aptos"/>
              </a:rPr>
              <a:t>Personalisierung und Messung nur mit Einwilligung</a:t>
            </a:r>
            <a:endParaRPr lang="de-DE" sz="850">
              <a:solidFill>
                <a:srgbClr val="BECDE6"/>
              </a:solidFill>
              <a:latin typeface="Aptos"/>
            </a:endParaRPr>
          </a:p>
        </p:txBody>
      </p:sp>
      <p:sp>
        <p:nvSpPr>
          <p:cNvPr id="24" name="Textfeld 23"/>
          <p:cNvSpPr txBox="1"/>
          <p:nvPr/>
        </p:nvSpPr>
        <p:spPr>
          <a:xfrm>
            <a:off x="533400" y="4064000"/>
            <a:ext cx="10414000" cy="89255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1300" smtClean="0">
                <a:solidFill>
                  <a:srgbClr val="BECDE6"/>
                </a:solidFill>
                <a:latin typeface="Aptos"/>
              </a:rPr>
              <a:t>Kurzthese: Airmius Ads ist kein loses Banner-System, sondern ein Commerce-Modul mit Zahlung, Review, Auslieferung, Messung, Reporting und DSGVO-Grenzen.</a:t>
            </a:r>
          </a:p>
          <a:p>
            <a:r>
              <a:rPr lang="de-DE" sz="1300" smtClean="0">
                <a:solidFill>
                  <a:srgbClr val="BECDE6"/>
                </a:solidFill>
                <a:latin typeface="Aptos"/>
              </a:rPr>
              <a:t>Der aktuelle Stand ist eine starke interne Grundlage; für Skalierung braucht es später Consent-Banner, Self-Service-Reports, mehr Inventarsteuerung und produktive Rechtsprüfung.</a:t>
            </a:r>
            <a:endParaRPr lang="de-DE" sz="1300">
              <a:solidFill>
                <a:srgbClr val="BECDE6"/>
              </a:solidFill>
              <a:latin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26599972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eck 1"/>
          <p:cNvSpPr/>
          <p:nvPr/>
        </p:nvSpPr>
        <p:spPr>
          <a:xfrm>
            <a:off x="0" y="0"/>
            <a:ext cx="12192000" cy="101600"/>
          </a:xfrm>
          <a:prstGeom prst="rect">
            <a:avLst/>
          </a:prstGeom>
          <a:solidFill>
            <a:srgbClr val="3884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" name="Textfeld 2"/>
          <p:cNvSpPr txBox="1"/>
          <p:nvPr/>
        </p:nvSpPr>
        <p:spPr>
          <a:xfrm>
            <a:off x="533400" y="431800"/>
            <a:ext cx="3302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900" b="1" smtClean="0">
                <a:solidFill>
                  <a:srgbClr val="3884FF"/>
                </a:solidFill>
                <a:latin typeface="Aptos"/>
              </a:rPr>
              <a:t>EXECUTIVE SUMMARY</a:t>
            </a:r>
            <a:endParaRPr lang="de-DE" sz="900" b="1">
              <a:solidFill>
                <a:srgbClr val="3884FF"/>
              </a:solidFill>
              <a:latin typeface="Aptos"/>
            </a:endParaRPr>
          </a:p>
        </p:txBody>
      </p:sp>
      <p:sp>
        <p:nvSpPr>
          <p:cNvPr id="4" name="Textfeld 3"/>
          <p:cNvSpPr txBox="1"/>
          <p:nvPr/>
        </p:nvSpPr>
        <p:spPr>
          <a:xfrm>
            <a:off x="533400" y="736600"/>
            <a:ext cx="102235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2800" b="1" smtClean="0">
                <a:solidFill>
                  <a:srgbClr val="F8FAFC"/>
                </a:solidFill>
                <a:latin typeface="Aptos Display"/>
              </a:rPr>
              <a:t>Was das Ads-System heute leistet</a:t>
            </a:r>
            <a:endParaRPr lang="de-DE" sz="2800" b="1">
              <a:solidFill>
                <a:srgbClr val="F8FAFC"/>
              </a:solidFill>
              <a:latin typeface="Aptos Display"/>
            </a:endParaRPr>
          </a:p>
        </p:txBody>
      </p:sp>
      <p:sp>
        <p:nvSpPr>
          <p:cNvPr id="5" name="Textfeld 4"/>
          <p:cNvSpPr txBox="1"/>
          <p:nvPr/>
        </p:nvSpPr>
        <p:spPr>
          <a:xfrm>
            <a:off x="533400" y="1422400"/>
            <a:ext cx="104140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1200" smtClean="0">
                <a:solidFill>
                  <a:srgbClr val="BECDE6"/>
                </a:solidFill>
                <a:latin typeface="Aptos"/>
              </a:rPr>
              <a:t>Der Kern ist bereits produktnah: User können Kampagnen kaufen, Admins prüfen, die Plattform liefert nach Budget, Zielgruppe, Placement und Performance aus.</a:t>
            </a:r>
            <a:endParaRPr lang="de-DE" sz="1200">
              <a:solidFill>
                <a:srgbClr val="BECDE6"/>
              </a:solidFill>
              <a:latin typeface="Aptos"/>
            </a:endParaRPr>
          </a:p>
        </p:txBody>
      </p:sp>
      <p:sp>
        <p:nvSpPr>
          <p:cNvPr id="6" name="Textfeld 5"/>
          <p:cNvSpPr txBox="1"/>
          <p:nvPr/>
        </p:nvSpPr>
        <p:spPr>
          <a:xfrm>
            <a:off x="533400" y="6451600"/>
            <a:ext cx="66040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800" smtClean="0">
                <a:solidFill>
                  <a:srgbClr val="7E97B8"/>
                </a:solidFill>
                <a:latin typeface="Aptos"/>
              </a:rPr>
              <a:t>Airmius Ads System | Produkt-, Technik- und Finance-Dokumentation</a:t>
            </a:r>
            <a:endParaRPr lang="de-DE" sz="800">
              <a:solidFill>
                <a:srgbClr val="7E97B8"/>
              </a:solidFill>
              <a:latin typeface="Aptos"/>
            </a:endParaRPr>
          </a:p>
        </p:txBody>
      </p:sp>
      <p:sp>
        <p:nvSpPr>
          <p:cNvPr id="7" name="Textfeld 6"/>
          <p:cNvSpPr txBox="1"/>
          <p:nvPr/>
        </p:nvSpPr>
        <p:spPr>
          <a:xfrm>
            <a:off x="11112500" y="64516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1000" b="1" smtClean="0">
                <a:solidFill>
                  <a:srgbClr val="3884FF"/>
                </a:solidFill>
                <a:latin typeface="Aptos Display"/>
              </a:rPr>
              <a:t>02</a:t>
            </a:r>
            <a:endParaRPr lang="de-DE" sz="1000" b="1">
              <a:solidFill>
                <a:srgbClr val="3884FF"/>
              </a:solidFill>
              <a:latin typeface="Aptos Display"/>
            </a:endParaRPr>
          </a:p>
        </p:txBody>
      </p:sp>
      <p:sp>
        <p:nvSpPr>
          <p:cNvPr id="8" name="Abgerundetes Rechteck 7"/>
          <p:cNvSpPr/>
          <p:nvPr/>
        </p:nvSpPr>
        <p:spPr>
          <a:xfrm>
            <a:off x="533400" y="2235200"/>
            <a:ext cx="3302000" cy="1651000"/>
          </a:xfrm>
          <a:prstGeom prst="roundRect">
            <a:avLst/>
          </a:prstGeom>
          <a:solidFill>
            <a:srgbClr val="111927"/>
          </a:solidFill>
          <a:ln w="12700">
            <a:solidFill>
              <a:srgbClr val="2F3F5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9" name="Rechteck 8"/>
          <p:cNvSpPr/>
          <p:nvPr/>
        </p:nvSpPr>
        <p:spPr>
          <a:xfrm>
            <a:off x="533400" y="2235200"/>
            <a:ext cx="63500" cy="1651000"/>
          </a:xfrm>
          <a:prstGeom prst="rect">
            <a:avLst/>
          </a:prstGeom>
          <a:solidFill>
            <a:srgbClr val="3884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0" name="Textfeld 9"/>
          <p:cNvSpPr txBox="1"/>
          <p:nvPr/>
        </p:nvSpPr>
        <p:spPr>
          <a:xfrm>
            <a:off x="736600" y="2387600"/>
            <a:ext cx="29718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1400" b="1" smtClean="0">
                <a:solidFill>
                  <a:srgbClr val="F8FAFC"/>
                </a:solidFill>
                <a:latin typeface="Aptos Display"/>
              </a:rPr>
              <a:t>1. Kaufen &amp; verwalten</a:t>
            </a:r>
            <a:endParaRPr lang="de-DE" sz="1400" b="1">
              <a:solidFill>
                <a:srgbClr val="F8FAFC"/>
              </a:solidFill>
              <a:latin typeface="Aptos Display"/>
            </a:endParaRPr>
          </a:p>
        </p:txBody>
      </p:sp>
      <p:sp>
        <p:nvSpPr>
          <p:cNvPr id="11" name="Textfeld 10"/>
          <p:cNvSpPr txBox="1"/>
          <p:nvPr/>
        </p:nvSpPr>
        <p:spPr>
          <a:xfrm>
            <a:off x="736600" y="2717800"/>
            <a:ext cx="2971800" cy="72019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1020" smtClean="0">
                <a:solidFill>
                  <a:srgbClr val="BECDE6"/>
                </a:solidFill>
                <a:latin typeface="Aptos"/>
              </a:rPr>
              <a:t>Kampagnen entstehen im Commerce-Bereich. Bezahlte User-Kampagnen gehen nach Zahlung in Admin-Prüfung, interne Kampagnen können Admins direkt steuern.</a:t>
            </a:r>
            <a:endParaRPr lang="de-DE" sz="1020">
              <a:solidFill>
                <a:srgbClr val="BECDE6"/>
              </a:solidFill>
              <a:latin typeface="Aptos"/>
            </a:endParaRPr>
          </a:p>
        </p:txBody>
      </p:sp>
      <p:sp>
        <p:nvSpPr>
          <p:cNvPr id="12" name="Abgerundetes Rechteck 11"/>
          <p:cNvSpPr/>
          <p:nvPr/>
        </p:nvSpPr>
        <p:spPr>
          <a:xfrm>
            <a:off x="4140200" y="2235200"/>
            <a:ext cx="3302000" cy="1651000"/>
          </a:xfrm>
          <a:prstGeom prst="roundRect">
            <a:avLst/>
          </a:prstGeom>
          <a:solidFill>
            <a:srgbClr val="111927"/>
          </a:solidFill>
          <a:ln w="12700">
            <a:solidFill>
              <a:srgbClr val="2F3F5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3" name="Rechteck 12"/>
          <p:cNvSpPr/>
          <p:nvPr/>
        </p:nvSpPr>
        <p:spPr>
          <a:xfrm>
            <a:off x="4140200" y="2235200"/>
            <a:ext cx="63500" cy="1651000"/>
          </a:xfrm>
          <a:prstGeom prst="rect">
            <a:avLst/>
          </a:prstGeom>
          <a:solidFill>
            <a:srgbClr val="26C6D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4" name="Textfeld 13"/>
          <p:cNvSpPr txBox="1"/>
          <p:nvPr/>
        </p:nvSpPr>
        <p:spPr>
          <a:xfrm>
            <a:off x="4343400" y="2387600"/>
            <a:ext cx="29718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1400" b="1" smtClean="0">
                <a:solidFill>
                  <a:srgbClr val="F8FAFC"/>
                </a:solidFill>
                <a:latin typeface="Aptos Display"/>
              </a:rPr>
              <a:t>2. Ausspielen &amp; messen</a:t>
            </a:r>
            <a:endParaRPr lang="de-DE" sz="1400" b="1">
              <a:solidFill>
                <a:srgbClr val="F8FAFC"/>
              </a:solidFill>
              <a:latin typeface="Aptos Display"/>
            </a:endParaRPr>
          </a:p>
        </p:txBody>
      </p:sp>
      <p:sp>
        <p:nvSpPr>
          <p:cNvPr id="15" name="Textfeld 14"/>
          <p:cNvSpPr txBox="1"/>
          <p:nvPr/>
        </p:nvSpPr>
        <p:spPr>
          <a:xfrm>
            <a:off x="4343400" y="2717800"/>
            <a:ext cx="2971800" cy="5632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1020" smtClean="0">
                <a:solidFill>
                  <a:srgbClr val="BECDE6"/>
                </a:solidFill>
                <a:latin typeface="Aptos"/>
              </a:rPr>
              <a:t>GET /ads/active wählt eine passende Kampagne aus, erzeugt Impression-Events und liefert JSON für Frontend-Placements zurück.</a:t>
            </a:r>
            <a:endParaRPr lang="de-DE" sz="1020">
              <a:solidFill>
                <a:srgbClr val="BECDE6"/>
              </a:solidFill>
              <a:latin typeface="Aptos"/>
            </a:endParaRPr>
          </a:p>
        </p:txBody>
      </p:sp>
      <p:sp>
        <p:nvSpPr>
          <p:cNvPr id="16" name="Abgerundetes Rechteck 15"/>
          <p:cNvSpPr/>
          <p:nvPr/>
        </p:nvSpPr>
        <p:spPr>
          <a:xfrm>
            <a:off x="7747000" y="2235200"/>
            <a:ext cx="3302000" cy="1651000"/>
          </a:xfrm>
          <a:prstGeom prst="roundRect">
            <a:avLst/>
          </a:prstGeom>
          <a:solidFill>
            <a:srgbClr val="111927"/>
          </a:solidFill>
          <a:ln w="12700">
            <a:solidFill>
              <a:srgbClr val="2F3F5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7" name="Rechteck 16"/>
          <p:cNvSpPr/>
          <p:nvPr/>
        </p:nvSpPr>
        <p:spPr>
          <a:xfrm>
            <a:off x="7747000" y="2235200"/>
            <a:ext cx="63500" cy="1651000"/>
          </a:xfrm>
          <a:prstGeom prst="rect">
            <a:avLst/>
          </a:prstGeom>
          <a:solidFill>
            <a:srgbClr val="3AD39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8" name="Textfeld 17"/>
          <p:cNvSpPr txBox="1"/>
          <p:nvPr/>
        </p:nvSpPr>
        <p:spPr>
          <a:xfrm>
            <a:off x="7950200" y="2387600"/>
            <a:ext cx="29718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1400" b="1" smtClean="0">
                <a:solidFill>
                  <a:srgbClr val="F8FAFC"/>
                </a:solidFill>
                <a:latin typeface="Aptos Display"/>
              </a:rPr>
              <a:t>3. Optimieren &amp; schützen</a:t>
            </a:r>
            <a:endParaRPr lang="de-DE" sz="1400" b="1">
              <a:solidFill>
                <a:srgbClr val="F8FAFC"/>
              </a:solidFill>
              <a:latin typeface="Aptos Display"/>
            </a:endParaRPr>
          </a:p>
        </p:txBody>
      </p:sp>
      <p:sp>
        <p:nvSpPr>
          <p:cNvPr id="19" name="Textfeld 18"/>
          <p:cNvSpPr txBox="1"/>
          <p:nvPr/>
        </p:nvSpPr>
        <p:spPr>
          <a:xfrm>
            <a:off x="7950200" y="2717800"/>
            <a:ext cx="2971800" cy="5632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1020" smtClean="0">
                <a:solidFill>
                  <a:srgbClr val="BECDE6"/>
                </a:solidFill>
                <a:latin typeface="Aptos"/>
              </a:rPr>
              <a:t>Frequency Caps, Budget Pacing, Audience Matching, Fairness, A/B-Gewichtung und Fraud-Dämpfung verhindern Chaos und Budget-Burn.</a:t>
            </a:r>
            <a:endParaRPr lang="de-DE" sz="1020">
              <a:solidFill>
                <a:srgbClr val="BECDE6"/>
              </a:solidFill>
              <a:latin typeface="Aptos"/>
            </a:endParaRPr>
          </a:p>
        </p:txBody>
      </p:sp>
      <p:sp>
        <p:nvSpPr>
          <p:cNvPr id="20" name="Abgerundetes Rechteck 19"/>
          <p:cNvSpPr/>
          <p:nvPr/>
        </p:nvSpPr>
        <p:spPr>
          <a:xfrm>
            <a:off x="533400" y="4191000"/>
            <a:ext cx="10515600" cy="1041400"/>
          </a:xfrm>
          <a:prstGeom prst="roundRect">
            <a:avLst/>
          </a:prstGeom>
          <a:solidFill>
            <a:srgbClr val="111927"/>
          </a:solidFill>
          <a:ln w="12700">
            <a:solidFill>
              <a:srgbClr val="2F3F5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1" name="Rechteck 20"/>
          <p:cNvSpPr/>
          <p:nvPr/>
        </p:nvSpPr>
        <p:spPr>
          <a:xfrm>
            <a:off x="533400" y="4191000"/>
            <a:ext cx="63500" cy="1041400"/>
          </a:xfrm>
          <a:prstGeom prst="rect">
            <a:avLst/>
          </a:prstGeom>
          <a:solidFill>
            <a:srgbClr val="FFB14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2" name="Textfeld 21"/>
          <p:cNvSpPr txBox="1"/>
          <p:nvPr/>
        </p:nvSpPr>
        <p:spPr>
          <a:xfrm>
            <a:off x="736600" y="4343400"/>
            <a:ext cx="101854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1400" b="1" smtClean="0">
                <a:solidFill>
                  <a:srgbClr val="F8FAFC"/>
                </a:solidFill>
                <a:latin typeface="Aptos Display"/>
              </a:rPr>
              <a:t>Wichtigste Produktentscheidung</a:t>
            </a:r>
            <a:endParaRPr lang="de-DE" sz="1400" b="1">
              <a:solidFill>
                <a:srgbClr val="F8FAFC"/>
              </a:solidFill>
              <a:latin typeface="Aptos Display"/>
            </a:endParaRPr>
          </a:p>
        </p:txBody>
      </p:sp>
      <p:sp>
        <p:nvSpPr>
          <p:cNvPr id="23" name="Textfeld 22"/>
          <p:cNvSpPr txBox="1"/>
          <p:nvPr/>
        </p:nvSpPr>
        <p:spPr>
          <a:xfrm>
            <a:off x="736600" y="4673600"/>
            <a:ext cx="10185400" cy="4062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1020" smtClean="0">
                <a:solidFill>
                  <a:srgbClr val="BECDE6"/>
                </a:solidFill>
                <a:latin typeface="Aptos"/>
              </a:rPr>
              <a:t>Interne Airmius-Kampagnen können priorisiert werden, aber nur für Admins sichtbar angelegt und weiterhin durch Frequency Capping begrenzt. Das schützt Nutzererlebnis und kleine bezahlte Kampagnen.</a:t>
            </a:r>
            <a:endParaRPr lang="de-DE" sz="1020">
              <a:solidFill>
                <a:srgbClr val="BECDE6"/>
              </a:solidFill>
              <a:latin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8278897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eck 1"/>
          <p:cNvSpPr/>
          <p:nvPr/>
        </p:nvSpPr>
        <p:spPr>
          <a:xfrm>
            <a:off x="0" y="0"/>
            <a:ext cx="12192000" cy="101600"/>
          </a:xfrm>
          <a:prstGeom prst="rect">
            <a:avLst/>
          </a:prstGeom>
          <a:solidFill>
            <a:srgbClr val="3884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" name="Textfeld 2"/>
          <p:cNvSpPr txBox="1"/>
          <p:nvPr/>
        </p:nvSpPr>
        <p:spPr>
          <a:xfrm>
            <a:off x="533400" y="431800"/>
            <a:ext cx="3302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900" b="1" smtClean="0">
                <a:solidFill>
                  <a:srgbClr val="3884FF"/>
                </a:solidFill>
                <a:latin typeface="Aptos"/>
              </a:rPr>
              <a:t>PRODUKTSTRUKTUR</a:t>
            </a:r>
            <a:endParaRPr lang="de-DE" sz="900" b="1">
              <a:solidFill>
                <a:srgbClr val="3884FF"/>
              </a:solidFill>
              <a:latin typeface="Aptos"/>
            </a:endParaRPr>
          </a:p>
        </p:txBody>
      </p:sp>
      <p:sp>
        <p:nvSpPr>
          <p:cNvPr id="4" name="Textfeld 3"/>
          <p:cNvSpPr txBox="1"/>
          <p:nvPr/>
        </p:nvSpPr>
        <p:spPr>
          <a:xfrm>
            <a:off x="533400" y="736600"/>
            <a:ext cx="10223500" cy="95410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2800" b="1" smtClean="0">
                <a:solidFill>
                  <a:srgbClr val="F8FAFC"/>
                </a:solidFill>
                <a:latin typeface="Aptos Display"/>
              </a:rPr>
              <a:t>Die vier Ebenen: Kampagne, Anzeigegruppe, Anzeige, Variante</a:t>
            </a:r>
            <a:endParaRPr lang="de-DE" sz="2800" b="1">
              <a:solidFill>
                <a:srgbClr val="F8FAFC"/>
              </a:solidFill>
              <a:latin typeface="Aptos Display"/>
            </a:endParaRPr>
          </a:p>
        </p:txBody>
      </p:sp>
      <p:sp>
        <p:nvSpPr>
          <p:cNvPr id="5" name="Textfeld 4"/>
          <p:cNvSpPr txBox="1"/>
          <p:nvPr/>
        </p:nvSpPr>
        <p:spPr>
          <a:xfrm>
            <a:off x="533400" y="1422400"/>
            <a:ext cx="10414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1200" smtClean="0">
                <a:solidFill>
                  <a:srgbClr val="BECDE6"/>
                </a:solidFill>
                <a:latin typeface="Aptos"/>
              </a:rPr>
              <a:t>Diese Trennung macht das System verständlich für User und skalierbar für Technik und Reporting.</a:t>
            </a:r>
            <a:endParaRPr lang="de-DE" sz="1200">
              <a:solidFill>
                <a:srgbClr val="BECDE6"/>
              </a:solidFill>
              <a:latin typeface="Aptos"/>
            </a:endParaRPr>
          </a:p>
        </p:txBody>
      </p:sp>
      <p:sp>
        <p:nvSpPr>
          <p:cNvPr id="6" name="Textfeld 5"/>
          <p:cNvSpPr txBox="1"/>
          <p:nvPr/>
        </p:nvSpPr>
        <p:spPr>
          <a:xfrm>
            <a:off x="533400" y="6451600"/>
            <a:ext cx="66040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800" smtClean="0">
                <a:solidFill>
                  <a:srgbClr val="7E97B8"/>
                </a:solidFill>
                <a:latin typeface="Aptos"/>
              </a:rPr>
              <a:t>Airmius Ads System | Produkt-, Technik- und Finance-Dokumentation</a:t>
            </a:r>
            <a:endParaRPr lang="de-DE" sz="800">
              <a:solidFill>
                <a:srgbClr val="7E97B8"/>
              </a:solidFill>
              <a:latin typeface="Aptos"/>
            </a:endParaRPr>
          </a:p>
        </p:txBody>
      </p:sp>
      <p:sp>
        <p:nvSpPr>
          <p:cNvPr id="7" name="Textfeld 6"/>
          <p:cNvSpPr txBox="1"/>
          <p:nvPr/>
        </p:nvSpPr>
        <p:spPr>
          <a:xfrm>
            <a:off x="11112500" y="64516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1000" b="1" smtClean="0">
                <a:solidFill>
                  <a:srgbClr val="3884FF"/>
                </a:solidFill>
                <a:latin typeface="Aptos Display"/>
              </a:rPr>
              <a:t>03</a:t>
            </a:r>
            <a:endParaRPr lang="de-DE" sz="1000" b="1">
              <a:solidFill>
                <a:srgbClr val="3884FF"/>
              </a:solidFill>
              <a:latin typeface="Aptos Display"/>
            </a:endParaRPr>
          </a:p>
        </p:txBody>
      </p:sp>
      <p:sp>
        <p:nvSpPr>
          <p:cNvPr id="8" name="Abgerundetes Rechteck 7"/>
          <p:cNvSpPr/>
          <p:nvPr/>
        </p:nvSpPr>
        <p:spPr>
          <a:xfrm>
            <a:off x="533400" y="2349500"/>
            <a:ext cx="1879600" cy="1397000"/>
          </a:xfrm>
          <a:prstGeom prst="roundRect">
            <a:avLst/>
          </a:prstGeom>
          <a:solidFill>
            <a:srgbClr val="111927"/>
          </a:solidFill>
          <a:ln w="12700">
            <a:solidFill>
              <a:srgbClr val="2F3F5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9" name="Rechteck 8"/>
          <p:cNvSpPr/>
          <p:nvPr/>
        </p:nvSpPr>
        <p:spPr>
          <a:xfrm>
            <a:off x="533400" y="2349500"/>
            <a:ext cx="63500" cy="1397000"/>
          </a:xfrm>
          <a:prstGeom prst="rect">
            <a:avLst/>
          </a:prstGeom>
          <a:solidFill>
            <a:srgbClr val="3884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0" name="Textfeld 9"/>
          <p:cNvSpPr txBox="1"/>
          <p:nvPr/>
        </p:nvSpPr>
        <p:spPr>
          <a:xfrm>
            <a:off x="736600" y="2501900"/>
            <a:ext cx="15494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1400" b="1" smtClean="0">
                <a:solidFill>
                  <a:srgbClr val="F8FAFC"/>
                </a:solidFill>
                <a:latin typeface="Aptos Display"/>
              </a:rPr>
              <a:t>Kampagne</a:t>
            </a:r>
            <a:endParaRPr lang="de-DE" sz="1400" b="1">
              <a:solidFill>
                <a:srgbClr val="F8FAFC"/>
              </a:solidFill>
              <a:latin typeface="Aptos Display"/>
            </a:endParaRPr>
          </a:p>
        </p:txBody>
      </p:sp>
      <p:sp>
        <p:nvSpPr>
          <p:cNvPr id="11" name="Textfeld 10"/>
          <p:cNvSpPr txBox="1"/>
          <p:nvPr/>
        </p:nvSpPr>
        <p:spPr>
          <a:xfrm>
            <a:off x="736600" y="2832100"/>
            <a:ext cx="1549400" cy="5632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1020" smtClean="0">
                <a:solidFill>
                  <a:srgbClr val="BECDE6"/>
                </a:solidFill>
                <a:latin typeface="Aptos"/>
              </a:rPr>
              <a:t>Strategie: Ziel, Budget, Laufzeit, Status, Zahlung, Freigabe.</a:t>
            </a:r>
            <a:endParaRPr lang="de-DE" sz="1020">
              <a:solidFill>
                <a:srgbClr val="BECDE6"/>
              </a:solidFill>
              <a:latin typeface="Aptos"/>
            </a:endParaRPr>
          </a:p>
        </p:txBody>
      </p:sp>
      <p:sp>
        <p:nvSpPr>
          <p:cNvPr id="12" name="Textfeld 11"/>
          <p:cNvSpPr txBox="1"/>
          <p:nvPr/>
        </p:nvSpPr>
        <p:spPr>
          <a:xfrm>
            <a:off x="2438400" y="2882900"/>
            <a:ext cx="2667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1400" b="1" smtClean="0">
                <a:solidFill>
                  <a:srgbClr val="7E97B8"/>
                </a:solidFill>
                <a:latin typeface="Aptos Display"/>
              </a:rPr>
              <a:t>-&gt;</a:t>
            </a:r>
            <a:endParaRPr lang="de-DE" sz="1400" b="1">
              <a:solidFill>
                <a:srgbClr val="7E97B8"/>
              </a:solidFill>
              <a:latin typeface="Aptos Display"/>
            </a:endParaRPr>
          </a:p>
        </p:txBody>
      </p:sp>
      <p:sp>
        <p:nvSpPr>
          <p:cNvPr id="13" name="Abgerundetes Rechteck 12"/>
          <p:cNvSpPr/>
          <p:nvPr/>
        </p:nvSpPr>
        <p:spPr>
          <a:xfrm>
            <a:off x="2692400" y="2349500"/>
            <a:ext cx="1879600" cy="1397000"/>
          </a:xfrm>
          <a:prstGeom prst="roundRect">
            <a:avLst/>
          </a:prstGeom>
          <a:solidFill>
            <a:srgbClr val="111927"/>
          </a:solidFill>
          <a:ln w="12700">
            <a:solidFill>
              <a:srgbClr val="2F3F5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4" name="Rechteck 13"/>
          <p:cNvSpPr/>
          <p:nvPr/>
        </p:nvSpPr>
        <p:spPr>
          <a:xfrm>
            <a:off x="2692400" y="2349500"/>
            <a:ext cx="63500" cy="1397000"/>
          </a:xfrm>
          <a:prstGeom prst="rect">
            <a:avLst/>
          </a:prstGeom>
          <a:solidFill>
            <a:srgbClr val="26C6D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5" name="Textfeld 14"/>
          <p:cNvSpPr txBox="1"/>
          <p:nvPr/>
        </p:nvSpPr>
        <p:spPr>
          <a:xfrm>
            <a:off x="2895600" y="2501900"/>
            <a:ext cx="15494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1400" b="1" smtClean="0">
                <a:solidFill>
                  <a:srgbClr val="F8FAFC"/>
                </a:solidFill>
                <a:latin typeface="Aptos Display"/>
              </a:rPr>
              <a:t>Anzeigegruppe</a:t>
            </a:r>
            <a:endParaRPr lang="de-DE" sz="1400" b="1">
              <a:solidFill>
                <a:srgbClr val="F8FAFC"/>
              </a:solidFill>
              <a:latin typeface="Aptos Display"/>
            </a:endParaRPr>
          </a:p>
        </p:txBody>
      </p:sp>
      <p:sp>
        <p:nvSpPr>
          <p:cNvPr id="16" name="Textfeld 15"/>
          <p:cNvSpPr txBox="1"/>
          <p:nvPr/>
        </p:nvSpPr>
        <p:spPr>
          <a:xfrm>
            <a:off x="2895600" y="2832100"/>
            <a:ext cx="1549400" cy="72019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1020" smtClean="0">
                <a:solidFill>
                  <a:srgbClr val="BECDE6"/>
                </a:solidFill>
                <a:latin typeface="Aptos"/>
              </a:rPr>
              <a:t>Zielgruppe: Placement, Region, Alter, Interessen, Sprache, Gerät, Tagesbudget.</a:t>
            </a:r>
            <a:endParaRPr lang="de-DE" sz="1020">
              <a:solidFill>
                <a:srgbClr val="BECDE6"/>
              </a:solidFill>
              <a:latin typeface="Aptos"/>
            </a:endParaRPr>
          </a:p>
        </p:txBody>
      </p:sp>
      <p:sp>
        <p:nvSpPr>
          <p:cNvPr id="17" name="Textfeld 16"/>
          <p:cNvSpPr txBox="1"/>
          <p:nvPr/>
        </p:nvSpPr>
        <p:spPr>
          <a:xfrm>
            <a:off x="4597400" y="2882900"/>
            <a:ext cx="2667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1400" b="1" smtClean="0">
                <a:solidFill>
                  <a:srgbClr val="7E97B8"/>
                </a:solidFill>
                <a:latin typeface="Aptos Display"/>
              </a:rPr>
              <a:t>-&gt;</a:t>
            </a:r>
            <a:endParaRPr lang="de-DE" sz="1400" b="1">
              <a:solidFill>
                <a:srgbClr val="7E97B8"/>
              </a:solidFill>
              <a:latin typeface="Aptos Display"/>
            </a:endParaRPr>
          </a:p>
        </p:txBody>
      </p:sp>
      <p:sp>
        <p:nvSpPr>
          <p:cNvPr id="18" name="Abgerundetes Rechteck 17"/>
          <p:cNvSpPr/>
          <p:nvPr/>
        </p:nvSpPr>
        <p:spPr>
          <a:xfrm>
            <a:off x="4851400" y="2349500"/>
            <a:ext cx="1879600" cy="1397000"/>
          </a:xfrm>
          <a:prstGeom prst="roundRect">
            <a:avLst/>
          </a:prstGeom>
          <a:solidFill>
            <a:srgbClr val="111927"/>
          </a:solidFill>
          <a:ln w="12700">
            <a:solidFill>
              <a:srgbClr val="2F3F5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9" name="Rechteck 18"/>
          <p:cNvSpPr/>
          <p:nvPr/>
        </p:nvSpPr>
        <p:spPr>
          <a:xfrm>
            <a:off x="4851400" y="2349500"/>
            <a:ext cx="63500" cy="1397000"/>
          </a:xfrm>
          <a:prstGeom prst="rect">
            <a:avLst/>
          </a:prstGeom>
          <a:solidFill>
            <a:srgbClr val="3AD39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0" name="Textfeld 19"/>
          <p:cNvSpPr txBox="1"/>
          <p:nvPr/>
        </p:nvSpPr>
        <p:spPr>
          <a:xfrm>
            <a:off x="5054600" y="2501900"/>
            <a:ext cx="15494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1400" b="1" smtClean="0">
                <a:solidFill>
                  <a:srgbClr val="F8FAFC"/>
                </a:solidFill>
                <a:latin typeface="Aptos Display"/>
              </a:rPr>
              <a:t>Anzeige</a:t>
            </a:r>
            <a:endParaRPr lang="de-DE" sz="1400" b="1">
              <a:solidFill>
                <a:srgbClr val="F8FAFC"/>
              </a:solidFill>
              <a:latin typeface="Aptos Display"/>
            </a:endParaRPr>
          </a:p>
        </p:txBody>
      </p:sp>
      <p:sp>
        <p:nvSpPr>
          <p:cNvPr id="21" name="Textfeld 20"/>
          <p:cNvSpPr txBox="1"/>
          <p:nvPr/>
        </p:nvSpPr>
        <p:spPr>
          <a:xfrm>
            <a:off x="5054600" y="2832100"/>
            <a:ext cx="1549400" cy="5632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1020" smtClean="0">
                <a:solidFill>
                  <a:srgbClr val="BECDE6"/>
                </a:solidFill>
                <a:latin typeface="Aptos"/>
              </a:rPr>
              <a:t>Werbemittel: Headline, Text, CTA, Ziel-URL und Bildformat.</a:t>
            </a:r>
            <a:endParaRPr lang="de-DE" sz="1020">
              <a:solidFill>
                <a:srgbClr val="BECDE6"/>
              </a:solidFill>
              <a:latin typeface="Aptos"/>
            </a:endParaRPr>
          </a:p>
        </p:txBody>
      </p:sp>
      <p:sp>
        <p:nvSpPr>
          <p:cNvPr id="22" name="Textfeld 21"/>
          <p:cNvSpPr txBox="1"/>
          <p:nvPr/>
        </p:nvSpPr>
        <p:spPr>
          <a:xfrm>
            <a:off x="6756400" y="2882900"/>
            <a:ext cx="2667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1400" b="1" smtClean="0">
                <a:solidFill>
                  <a:srgbClr val="7E97B8"/>
                </a:solidFill>
                <a:latin typeface="Aptos Display"/>
              </a:rPr>
              <a:t>-&gt;</a:t>
            </a:r>
            <a:endParaRPr lang="de-DE" sz="1400" b="1">
              <a:solidFill>
                <a:srgbClr val="7E97B8"/>
              </a:solidFill>
              <a:latin typeface="Aptos Display"/>
            </a:endParaRPr>
          </a:p>
        </p:txBody>
      </p:sp>
      <p:sp>
        <p:nvSpPr>
          <p:cNvPr id="23" name="Abgerundetes Rechteck 22"/>
          <p:cNvSpPr/>
          <p:nvPr/>
        </p:nvSpPr>
        <p:spPr>
          <a:xfrm>
            <a:off x="7010400" y="2349500"/>
            <a:ext cx="1879600" cy="1397000"/>
          </a:xfrm>
          <a:prstGeom prst="roundRect">
            <a:avLst/>
          </a:prstGeom>
          <a:solidFill>
            <a:srgbClr val="111927"/>
          </a:solidFill>
          <a:ln w="12700">
            <a:solidFill>
              <a:srgbClr val="2F3F5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4" name="Rechteck 23"/>
          <p:cNvSpPr/>
          <p:nvPr/>
        </p:nvSpPr>
        <p:spPr>
          <a:xfrm>
            <a:off x="7010400" y="2349500"/>
            <a:ext cx="63500" cy="1397000"/>
          </a:xfrm>
          <a:prstGeom prst="rect">
            <a:avLst/>
          </a:prstGeom>
          <a:solidFill>
            <a:srgbClr val="FFB14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5" name="Textfeld 24"/>
          <p:cNvSpPr txBox="1"/>
          <p:nvPr/>
        </p:nvSpPr>
        <p:spPr>
          <a:xfrm>
            <a:off x="7213600" y="2501900"/>
            <a:ext cx="15494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1400" b="1" smtClean="0">
                <a:solidFill>
                  <a:srgbClr val="F8FAFC"/>
                </a:solidFill>
                <a:latin typeface="Aptos Display"/>
              </a:rPr>
              <a:t>Variante</a:t>
            </a:r>
            <a:endParaRPr lang="de-DE" sz="1400" b="1">
              <a:solidFill>
                <a:srgbClr val="F8FAFC"/>
              </a:solidFill>
              <a:latin typeface="Aptos Display"/>
            </a:endParaRPr>
          </a:p>
        </p:txBody>
      </p:sp>
      <p:sp>
        <p:nvSpPr>
          <p:cNvPr id="26" name="Textfeld 25"/>
          <p:cNvSpPr txBox="1"/>
          <p:nvPr/>
        </p:nvSpPr>
        <p:spPr>
          <a:xfrm>
            <a:off x="7213600" y="2832100"/>
            <a:ext cx="1549400" cy="72019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1020" smtClean="0">
                <a:solidFill>
                  <a:srgbClr val="BECDE6"/>
                </a:solidFill>
                <a:latin typeface="Aptos"/>
              </a:rPr>
              <a:t>A/B-Test: mehrere Creatives mit Gewichtung, CTR und Conversion-Feedback.</a:t>
            </a:r>
            <a:endParaRPr lang="de-DE" sz="1020">
              <a:solidFill>
                <a:srgbClr val="BECDE6"/>
              </a:solidFill>
              <a:latin typeface="Aptos"/>
            </a:endParaRPr>
          </a:p>
        </p:txBody>
      </p:sp>
      <p:sp>
        <p:nvSpPr>
          <p:cNvPr id="27" name="Textfeld 26"/>
          <p:cNvSpPr txBox="1"/>
          <p:nvPr/>
        </p:nvSpPr>
        <p:spPr>
          <a:xfrm>
            <a:off x="8915400" y="2882900"/>
            <a:ext cx="2667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1400" b="1" smtClean="0">
                <a:solidFill>
                  <a:srgbClr val="7E97B8"/>
                </a:solidFill>
                <a:latin typeface="Aptos Display"/>
              </a:rPr>
              <a:t>-&gt;</a:t>
            </a:r>
            <a:endParaRPr lang="de-DE" sz="1400" b="1">
              <a:solidFill>
                <a:srgbClr val="7E97B8"/>
              </a:solidFill>
              <a:latin typeface="Aptos Display"/>
            </a:endParaRPr>
          </a:p>
        </p:txBody>
      </p:sp>
      <p:sp>
        <p:nvSpPr>
          <p:cNvPr id="28" name="Abgerundetes Rechteck 27"/>
          <p:cNvSpPr/>
          <p:nvPr/>
        </p:nvSpPr>
        <p:spPr>
          <a:xfrm>
            <a:off x="9169400" y="2349500"/>
            <a:ext cx="1879600" cy="1397000"/>
          </a:xfrm>
          <a:prstGeom prst="roundRect">
            <a:avLst/>
          </a:prstGeom>
          <a:solidFill>
            <a:srgbClr val="111927"/>
          </a:solidFill>
          <a:ln w="12700">
            <a:solidFill>
              <a:srgbClr val="2F3F5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9" name="Rechteck 28"/>
          <p:cNvSpPr/>
          <p:nvPr/>
        </p:nvSpPr>
        <p:spPr>
          <a:xfrm>
            <a:off x="9169400" y="2349500"/>
            <a:ext cx="63500" cy="1397000"/>
          </a:xfrm>
          <a:prstGeom prst="rect">
            <a:avLst/>
          </a:prstGeom>
          <a:solidFill>
            <a:srgbClr val="FF6B6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0" name="Textfeld 29"/>
          <p:cNvSpPr txBox="1"/>
          <p:nvPr/>
        </p:nvSpPr>
        <p:spPr>
          <a:xfrm>
            <a:off x="9372600" y="2501900"/>
            <a:ext cx="15494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1400" b="1" smtClean="0">
                <a:solidFill>
                  <a:srgbClr val="F8FAFC"/>
                </a:solidFill>
                <a:latin typeface="Aptos Display"/>
              </a:rPr>
              <a:t>Event</a:t>
            </a:r>
            <a:endParaRPr lang="de-DE" sz="1400" b="1">
              <a:solidFill>
                <a:srgbClr val="F8FAFC"/>
              </a:solidFill>
              <a:latin typeface="Aptos Display"/>
            </a:endParaRPr>
          </a:p>
        </p:txBody>
      </p:sp>
      <p:sp>
        <p:nvSpPr>
          <p:cNvPr id="31" name="Textfeld 30"/>
          <p:cNvSpPr txBox="1"/>
          <p:nvPr/>
        </p:nvSpPr>
        <p:spPr>
          <a:xfrm>
            <a:off x="9372600" y="2832100"/>
            <a:ext cx="1549400" cy="72019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1020" smtClean="0">
                <a:solidFill>
                  <a:srgbClr val="BECDE6"/>
                </a:solidFill>
                <a:latin typeface="Aptos"/>
              </a:rPr>
              <a:t>Messpunkt: Impression, Click, Lead, Sale mit Kosten und Wert.</a:t>
            </a:r>
            <a:endParaRPr lang="de-DE" sz="1020">
              <a:solidFill>
                <a:srgbClr val="BECDE6"/>
              </a:solidFill>
              <a:latin typeface="Aptos"/>
            </a:endParaRPr>
          </a:p>
        </p:txBody>
      </p:sp>
      <p:sp>
        <p:nvSpPr>
          <p:cNvPr id="32" name="Textfeld 31"/>
          <p:cNvSpPr txBox="1"/>
          <p:nvPr/>
        </p:nvSpPr>
        <p:spPr>
          <a:xfrm>
            <a:off x="533400" y="4318000"/>
            <a:ext cx="10414000" cy="6463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1200" smtClean="0">
                <a:solidFill>
                  <a:srgbClr val="BECDE6"/>
                </a:solidFill>
                <a:latin typeface="Aptos"/>
              </a:rPr>
              <a:t>Warum das wichtig ist: Ein Sponsor kann eine Kampagne für ein Camp haben, eine Anzeigegruppe für Saarland-Fußballer und mehrere Anzeigenvarianten testen.</a:t>
            </a:r>
          </a:p>
          <a:p>
            <a:r>
              <a:rPr lang="de-DE" sz="1200" smtClean="0">
                <a:solidFill>
                  <a:srgbClr val="BECDE6"/>
                </a:solidFill>
                <a:latin typeface="Aptos"/>
              </a:rPr>
              <a:t>Für Admins bleibt nachvollziehbar, welche Ebene Budget, Zielgruppe, Creative oder Performance verantwortet.</a:t>
            </a:r>
            <a:endParaRPr lang="de-DE" sz="1200">
              <a:solidFill>
                <a:srgbClr val="BECDE6"/>
              </a:solidFill>
              <a:latin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20352214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eck 1"/>
          <p:cNvSpPr/>
          <p:nvPr/>
        </p:nvSpPr>
        <p:spPr>
          <a:xfrm>
            <a:off x="0" y="0"/>
            <a:ext cx="12192000" cy="101600"/>
          </a:xfrm>
          <a:prstGeom prst="rect">
            <a:avLst/>
          </a:prstGeom>
          <a:solidFill>
            <a:srgbClr val="3884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" name="Textfeld 2"/>
          <p:cNvSpPr txBox="1"/>
          <p:nvPr/>
        </p:nvSpPr>
        <p:spPr>
          <a:xfrm>
            <a:off x="533400" y="431800"/>
            <a:ext cx="3302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900" b="1" smtClean="0">
                <a:solidFill>
                  <a:srgbClr val="3884FF"/>
                </a:solidFill>
                <a:latin typeface="Aptos"/>
              </a:rPr>
              <a:t>DATENMODELL</a:t>
            </a:r>
            <a:endParaRPr lang="de-DE" sz="900" b="1">
              <a:solidFill>
                <a:srgbClr val="3884FF"/>
              </a:solidFill>
              <a:latin typeface="Aptos"/>
            </a:endParaRPr>
          </a:p>
        </p:txBody>
      </p:sp>
      <p:sp>
        <p:nvSpPr>
          <p:cNvPr id="4" name="Textfeld 3"/>
          <p:cNvSpPr txBox="1"/>
          <p:nvPr/>
        </p:nvSpPr>
        <p:spPr>
          <a:xfrm>
            <a:off x="533400" y="736600"/>
            <a:ext cx="102235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2800" b="1" smtClean="0">
                <a:solidFill>
                  <a:srgbClr val="F8FAFC"/>
                </a:solidFill>
                <a:latin typeface="Aptos Display"/>
              </a:rPr>
              <a:t>Welche Tabellen und Models das System tragen</a:t>
            </a:r>
            <a:endParaRPr lang="de-DE" sz="2800" b="1">
              <a:solidFill>
                <a:srgbClr val="F8FAFC"/>
              </a:solidFill>
              <a:latin typeface="Aptos Display"/>
            </a:endParaRPr>
          </a:p>
        </p:txBody>
      </p:sp>
      <p:sp>
        <p:nvSpPr>
          <p:cNvPr id="5" name="Textfeld 4"/>
          <p:cNvSpPr txBox="1"/>
          <p:nvPr/>
        </p:nvSpPr>
        <p:spPr>
          <a:xfrm>
            <a:off x="533400" y="1422400"/>
            <a:ext cx="10414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1200" smtClean="0">
                <a:solidFill>
                  <a:srgbClr val="BECDE6"/>
                </a:solidFill>
                <a:latin typeface="Aptos"/>
              </a:rPr>
              <a:t>Das Ads-System ist eng mit Commerce, User-Consent, Settings und Orders verbunden.</a:t>
            </a:r>
            <a:endParaRPr lang="de-DE" sz="1200">
              <a:solidFill>
                <a:srgbClr val="BECDE6"/>
              </a:solidFill>
              <a:latin typeface="Aptos"/>
            </a:endParaRPr>
          </a:p>
        </p:txBody>
      </p:sp>
      <p:sp>
        <p:nvSpPr>
          <p:cNvPr id="6" name="Textfeld 5"/>
          <p:cNvSpPr txBox="1"/>
          <p:nvPr/>
        </p:nvSpPr>
        <p:spPr>
          <a:xfrm>
            <a:off x="533400" y="6451600"/>
            <a:ext cx="66040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800" smtClean="0">
                <a:solidFill>
                  <a:srgbClr val="7E97B8"/>
                </a:solidFill>
                <a:latin typeface="Aptos"/>
              </a:rPr>
              <a:t>Airmius Ads System | Produkt-, Technik- und Finance-Dokumentation</a:t>
            </a:r>
            <a:endParaRPr lang="de-DE" sz="800">
              <a:solidFill>
                <a:srgbClr val="7E97B8"/>
              </a:solidFill>
              <a:latin typeface="Aptos"/>
            </a:endParaRPr>
          </a:p>
        </p:txBody>
      </p:sp>
      <p:sp>
        <p:nvSpPr>
          <p:cNvPr id="7" name="Textfeld 6"/>
          <p:cNvSpPr txBox="1"/>
          <p:nvPr/>
        </p:nvSpPr>
        <p:spPr>
          <a:xfrm>
            <a:off x="11112500" y="64516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1000" b="1" smtClean="0">
                <a:solidFill>
                  <a:srgbClr val="3884FF"/>
                </a:solidFill>
                <a:latin typeface="Aptos Display"/>
              </a:rPr>
              <a:t>04</a:t>
            </a:r>
            <a:endParaRPr lang="de-DE" sz="1000" b="1">
              <a:solidFill>
                <a:srgbClr val="3884FF"/>
              </a:solidFill>
              <a:latin typeface="Aptos Display"/>
            </a:endParaRPr>
          </a:p>
        </p:txBody>
      </p:sp>
      <p:sp>
        <p:nvSpPr>
          <p:cNvPr id="8" name="Abgerundetes Rechteck 7"/>
          <p:cNvSpPr/>
          <p:nvPr/>
        </p:nvSpPr>
        <p:spPr>
          <a:xfrm>
            <a:off x="533400" y="2184400"/>
            <a:ext cx="2476500" cy="1473200"/>
          </a:xfrm>
          <a:prstGeom prst="roundRect">
            <a:avLst/>
          </a:prstGeom>
          <a:solidFill>
            <a:srgbClr val="111927"/>
          </a:solidFill>
          <a:ln w="12700">
            <a:solidFill>
              <a:srgbClr val="2F3F5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9" name="Rechteck 8"/>
          <p:cNvSpPr/>
          <p:nvPr/>
        </p:nvSpPr>
        <p:spPr>
          <a:xfrm>
            <a:off x="533400" y="2184400"/>
            <a:ext cx="63500" cy="1473200"/>
          </a:xfrm>
          <a:prstGeom prst="rect">
            <a:avLst/>
          </a:prstGeom>
          <a:solidFill>
            <a:srgbClr val="3884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0" name="Textfeld 9"/>
          <p:cNvSpPr txBox="1"/>
          <p:nvPr/>
        </p:nvSpPr>
        <p:spPr>
          <a:xfrm>
            <a:off x="736600" y="2336800"/>
            <a:ext cx="21463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1400" b="1" smtClean="0">
                <a:solidFill>
                  <a:srgbClr val="F8FAFC"/>
                </a:solidFill>
                <a:latin typeface="Aptos Display"/>
              </a:rPr>
              <a:t>AdCampaign</a:t>
            </a:r>
            <a:endParaRPr lang="de-DE" sz="1400" b="1">
              <a:solidFill>
                <a:srgbClr val="F8FAFC"/>
              </a:solidFill>
              <a:latin typeface="Aptos Display"/>
            </a:endParaRPr>
          </a:p>
        </p:txBody>
      </p:sp>
      <p:sp>
        <p:nvSpPr>
          <p:cNvPr id="11" name="Textfeld 10"/>
          <p:cNvSpPr txBox="1"/>
          <p:nvPr/>
        </p:nvSpPr>
        <p:spPr>
          <a:xfrm>
            <a:off x="736600" y="2667000"/>
            <a:ext cx="2146300" cy="5632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1020" smtClean="0">
                <a:solidFill>
                  <a:srgbClr val="BECDE6"/>
                </a:solidFill>
                <a:latin typeface="Aptos"/>
              </a:rPr>
              <a:t>Owner, Budget, Ziel, Placement, Status, Review, Laufzeit, interne Priorität, Zielgruppe.</a:t>
            </a:r>
            <a:endParaRPr lang="de-DE" sz="1020">
              <a:solidFill>
                <a:srgbClr val="BECDE6"/>
              </a:solidFill>
              <a:latin typeface="Aptos"/>
            </a:endParaRPr>
          </a:p>
        </p:txBody>
      </p:sp>
      <p:sp>
        <p:nvSpPr>
          <p:cNvPr id="12" name="Abgerundetes Rechteck 11"/>
          <p:cNvSpPr/>
          <p:nvPr/>
        </p:nvSpPr>
        <p:spPr>
          <a:xfrm>
            <a:off x="3225800" y="2184400"/>
            <a:ext cx="2476500" cy="1473200"/>
          </a:xfrm>
          <a:prstGeom prst="roundRect">
            <a:avLst/>
          </a:prstGeom>
          <a:solidFill>
            <a:srgbClr val="111927"/>
          </a:solidFill>
          <a:ln w="12700">
            <a:solidFill>
              <a:srgbClr val="2F3F5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3" name="Rechteck 12"/>
          <p:cNvSpPr/>
          <p:nvPr/>
        </p:nvSpPr>
        <p:spPr>
          <a:xfrm>
            <a:off x="3225800" y="2184400"/>
            <a:ext cx="63500" cy="1473200"/>
          </a:xfrm>
          <a:prstGeom prst="rect">
            <a:avLst/>
          </a:prstGeom>
          <a:solidFill>
            <a:srgbClr val="26C6D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4" name="Textfeld 13"/>
          <p:cNvSpPr txBox="1"/>
          <p:nvPr/>
        </p:nvSpPr>
        <p:spPr>
          <a:xfrm>
            <a:off x="3429000" y="2336800"/>
            <a:ext cx="21463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1400" b="1" smtClean="0">
                <a:solidFill>
                  <a:srgbClr val="F8FAFC"/>
                </a:solidFill>
                <a:latin typeface="Aptos Display"/>
              </a:rPr>
              <a:t>AdGroup</a:t>
            </a:r>
            <a:endParaRPr lang="de-DE" sz="1400" b="1">
              <a:solidFill>
                <a:srgbClr val="F8FAFC"/>
              </a:solidFill>
              <a:latin typeface="Aptos Display"/>
            </a:endParaRPr>
          </a:p>
        </p:txBody>
      </p:sp>
      <p:sp>
        <p:nvSpPr>
          <p:cNvPr id="15" name="Textfeld 14"/>
          <p:cNvSpPr txBox="1"/>
          <p:nvPr/>
        </p:nvSpPr>
        <p:spPr>
          <a:xfrm>
            <a:off x="3429000" y="2667000"/>
            <a:ext cx="2146300" cy="5632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1020" smtClean="0">
                <a:solidFill>
                  <a:srgbClr val="BECDE6"/>
                </a:solidFill>
                <a:latin typeface="Aptos"/>
              </a:rPr>
              <a:t>Kampagnen-Unterstruktur für Zielgruppe, Placement, Status und Tagesbudget.</a:t>
            </a:r>
            <a:endParaRPr lang="de-DE" sz="1020">
              <a:solidFill>
                <a:srgbClr val="BECDE6"/>
              </a:solidFill>
              <a:latin typeface="Aptos"/>
            </a:endParaRPr>
          </a:p>
        </p:txBody>
      </p:sp>
      <p:sp>
        <p:nvSpPr>
          <p:cNvPr id="16" name="Abgerundetes Rechteck 15"/>
          <p:cNvSpPr/>
          <p:nvPr/>
        </p:nvSpPr>
        <p:spPr>
          <a:xfrm>
            <a:off x="5918200" y="2184400"/>
            <a:ext cx="2476500" cy="1473200"/>
          </a:xfrm>
          <a:prstGeom prst="roundRect">
            <a:avLst/>
          </a:prstGeom>
          <a:solidFill>
            <a:srgbClr val="111927"/>
          </a:solidFill>
          <a:ln w="12700">
            <a:solidFill>
              <a:srgbClr val="2F3F5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7" name="Rechteck 16"/>
          <p:cNvSpPr/>
          <p:nvPr/>
        </p:nvSpPr>
        <p:spPr>
          <a:xfrm>
            <a:off x="5918200" y="2184400"/>
            <a:ext cx="63500" cy="1473200"/>
          </a:xfrm>
          <a:prstGeom prst="rect">
            <a:avLst/>
          </a:prstGeom>
          <a:solidFill>
            <a:srgbClr val="3AD39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8" name="Textfeld 17"/>
          <p:cNvSpPr txBox="1"/>
          <p:nvPr/>
        </p:nvSpPr>
        <p:spPr>
          <a:xfrm>
            <a:off x="6121400" y="2336800"/>
            <a:ext cx="21463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1400" b="1" smtClean="0">
                <a:solidFill>
                  <a:srgbClr val="F8FAFC"/>
                </a:solidFill>
                <a:latin typeface="Aptos Display"/>
              </a:rPr>
              <a:t>AdCreative</a:t>
            </a:r>
            <a:endParaRPr lang="de-DE" sz="1400" b="1">
              <a:solidFill>
                <a:srgbClr val="F8FAFC"/>
              </a:solidFill>
              <a:latin typeface="Aptos Display"/>
            </a:endParaRPr>
          </a:p>
        </p:txBody>
      </p:sp>
      <p:sp>
        <p:nvSpPr>
          <p:cNvPr id="19" name="Textfeld 18"/>
          <p:cNvSpPr txBox="1"/>
          <p:nvPr/>
        </p:nvSpPr>
        <p:spPr>
          <a:xfrm>
            <a:off x="6121400" y="2667000"/>
            <a:ext cx="2146300" cy="5632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1020" smtClean="0">
                <a:solidFill>
                  <a:srgbClr val="BECDE6"/>
                </a:solidFill>
                <a:latin typeface="Aptos"/>
              </a:rPr>
              <a:t>Varianten mit Headline, Text, CTA, Bild, Gewicht, Aktivstatus und Performance.</a:t>
            </a:r>
            <a:endParaRPr lang="de-DE" sz="1020">
              <a:solidFill>
                <a:srgbClr val="BECDE6"/>
              </a:solidFill>
              <a:latin typeface="Aptos"/>
            </a:endParaRPr>
          </a:p>
        </p:txBody>
      </p:sp>
      <p:sp>
        <p:nvSpPr>
          <p:cNvPr id="20" name="Abgerundetes Rechteck 19"/>
          <p:cNvSpPr/>
          <p:nvPr/>
        </p:nvSpPr>
        <p:spPr>
          <a:xfrm>
            <a:off x="8610600" y="2184400"/>
            <a:ext cx="2476500" cy="1473200"/>
          </a:xfrm>
          <a:prstGeom prst="roundRect">
            <a:avLst/>
          </a:prstGeom>
          <a:solidFill>
            <a:srgbClr val="111927"/>
          </a:solidFill>
          <a:ln w="12700">
            <a:solidFill>
              <a:srgbClr val="2F3F5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1" name="Rechteck 20"/>
          <p:cNvSpPr/>
          <p:nvPr/>
        </p:nvSpPr>
        <p:spPr>
          <a:xfrm>
            <a:off x="8610600" y="2184400"/>
            <a:ext cx="63500" cy="1473200"/>
          </a:xfrm>
          <a:prstGeom prst="rect">
            <a:avLst/>
          </a:prstGeom>
          <a:solidFill>
            <a:srgbClr val="FFB14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2" name="Textfeld 21"/>
          <p:cNvSpPr txBox="1"/>
          <p:nvPr/>
        </p:nvSpPr>
        <p:spPr>
          <a:xfrm>
            <a:off x="8813800" y="2336800"/>
            <a:ext cx="21463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1400" b="1" smtClean="0">
                <a:solidFill>
                  <a:srgbClr val="F8FAFC"/>
                </a:solidFill>
                <a:latin typeface="Aptos Display"/>
              </a:rPr>
              <a:t>AdEvent</a:t>
            </a:r>
            <a:endParaRPr lang="de-DE" sz="1400" b="1">
              <a:solidFill>
                <a:srgbClr val="F8FAFC"/>
              </a:solidFill>
              <a:latin typeface="Aptos Display"/>
            </a:endParaRPr>
          </a:p>
        </p:txBody>
      </p:sp>
      <p:sp>
        <p:nvSpPr>
          <p:cNvPr id="23" name="Textfeld 22"/>
          <p:cNvSpPr txBox="1"/>
          <p:nvPr/>
        </p:nvSpPr>
        <p:spPr>
          <a:xfrm>
            <a:off x="8813800" y="2667000"/>
            <a:ext cx="2146300" cy="5632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1020" smtClean="0">
                <a:solidFill>
                  <a:srgbClr val="BECDE6"/>
                </a:solidFill>
                <a:latin typeface="Aptos"/>
              </a:rPr>
              <a:t>Eventlog mit Kosten, Wert, Hashes, Placement, Objective, Creative und Metadata.</a:t>
            </a:r>
            <a:endParaRPr lang="de-DE" sz="1020">
              <a:solidFill>
                <a:srgbClr val="BECDE6"/>
              </a:solidFill>
              <a:latin typeface="Aptos"/>
            </a:endParaRPr>
          </a:p>
        </p:txBody>
      </p:sp>
      <p:sp>
        <p:nvSpPr>
          <p:cNvPr id="24" name="Abgerundetes Rechteck 23"/>
          <p:cNvSpPr/>
          <p:nvPr/>
        </p:nvSpPr>
        <p:spPr>
          <a:xfrm>
            <a:off x="533400" y="3987800"/>
            <a:ext cx="3302000" cy="1422400"/>
          </a:xfrm>
          <a:prstGeom prst="roundRect">
            <a:avLst/>
          </a:prstGeom>
          <a:solidFill>
            <a:srgbClr val="111927"/>
          </a:solidFill>
          <a:ln w="12700">
            <a:solidFill>
              <a:srgbClr val="2F3F5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5" name="Rechteck 24"/>
          <p:cNvSpPr/>
          <p:nvPr/>
        </p:nvSpPr>
        <p:spPr>
          <a:xfrm>
            <a:off x="533400" y="3987800"/>
            <a:ext cx="63500" cy="1422400"/>
          </a:xfrm>
          <a:prstGeom prst="rect">
            <a:avLst/>
          </a:prstGeom>
          <a:solidFill>
            <a:srgbClr val="3884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6" name="Textfeld 25"/>
          <p:cNvSpPr txBox="1"/>
          <p:nvPr/>
        </p:nvSpPr>
        <p:spPr>
          <a:xfrm>
            <a:off x="736600" y="4140200"/>
            <a:ext cx="29718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1400" b="1" smtClean="0">
                <a:solidFill>
                  <a:srgbClr val="F8FAFC"/>
                </a:solidFill>
                <a:latin typeface="Aptos Display"/>
              </a:rPr>
              <a:t>AdCampaignStat</a:t>
            </a:r>
            <a:endParaRPr lang="de-DE" sz="1400" b="1">
              <a:solidFill>
                <a:srgbClr val="F8FAFC"/>
              </a:solidFill>
              <a:latin typeface="Aptos Display"/>
            </a:endParaRPr>
          </a:p>
        </p:txBody>
      </p:sp>
      <p:sp>
        <p:nvSpPr>
          <p:cNvPr id="27" name="Textfeld 26"/>
          <p:cNvSpPr txBox="1"/>
          <p:nvPr/>
        </p:nvSpPr>
        <p:spPr>
          <a:xfrm>
            <a:off x="736600" y="4470400"/>
            <a:ext cx="2971800" cy="4062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1020" smtClean="0">
                <a:solidFill>
                  <a:srgbClr val="BECDE6"/>
                </a:solidFill>
                <a:latin typeface="Aptos"/>
              </a:rPr>
              <a:t>Tägliche Summen für Impressions, Klicks und Spend. Wichtig für Reporting und Pacing.</a:t>
            </a:r>
            <a:endParaRPr lang="de-DE" sz="1020">
              <a:solidFill>
                <a:srgbClr val="BECDE6"/>
              </a:solidFill>
              <a:latin typeface="Aptos"/>
            </a:endParaRPr>
          </a:p>
        </p:txBody>
      </p:sp>
      <p:sp>
        <p:nvSpPr>
          <p:cNvPr id="28" name="Abgerundetes Rechteck 27"/>
          <p:cNvSpPr/>
          <p:nvPr/>
        </p:nvSpPr>
        <p:spPr>
          <a:xfrm>
            <a:off x="4140200" y="3987800"/>
            <a:ext cx="3302000" cy="1422400"/>
          </a:xfrm>
          <a:prstGeom prst="roundRect">
            <a:avLst/>
          </a:prstGeom>
          <a:solidFill>
            <a:srgbClr val="111927"/>
          </a:solidFill>
          <a:ln w="12700">
            <a:solidFill>
              <a:srgbClr val="2F3F5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9" name="Rechteck 28"/>
          <p:cNvSpPr/>
          <p:nvPr/>
        </p:nvSpPr>
        <p:spPr>
          <a:xfrm>
            <a:off x="4140200" y="3987800"/>
            <a:ext cx="63500" cy="1422400"/>
          </a:xfrm>
          <a:prstGeom prst="rect">
            <a:avLst/>
          </a:prstGeom>
          <a:solidFill>
            <a:srgbClr val="26C6D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0" name="Textfeld 29"/>
          <p:cNvSpPr txBox="1"/>
          <p:nvPr/>
        </p:nvSpPr>
        <p:spPr>
          <a:xfrm>
            <a:off x="4343400" y="4140200"/>
            <a:ext cx="29718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1400" b="1" smtClean="0">
                <a:solidFill>
                  <a:srgbClr val="F8FAFC"/>
                </a:solidFill>
                <a:latin typeface="Aptos Display"/>
              </a:rPr>
              <a:t>Setting</a:t>
            </a:r>
            <a:endParaRPr lang="de-DE" sz="1400" b="1">
              <a:solidFill>
                <a:srgbClr val="F8FAFC"/>
              </a:solidFill>
              <a:latin typeface="Aptos Display"/>
            </a:endParaRPr>
          </a:p>
        </p:txBody>
      </p:sp>
      <p:sp>
        <p:nvSpPr>
          <p:cNvPr id="31" name="Textfeld 30"/>
          <p:cNvSpPr txBox="1"/>
          <p:nvPr/>
        </p:nvSpPr>
        <p:spPr>
          <a:xfrm>
            <a:off x="4343400" y="4470400"/>
            <a:ext cx="2971800" cy="4062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020" smtClean="0">
                <a:solidFill>
                  <a:srgbClr val="BECDE6"/>
                </a:solidFill>
                <a:latin typeface="Aptos"/>
              </a:rPr>
              <a:t>Preise, Mindestbudget, Frequency Caps, Retention und Commerce-Finance-Regeln.</a:t>
            </a:r>
            <a:endParaRPr lang="de-DE" sz="1020">
              <a:solidFill>
                <a:srgbClr val="BECDE6"/>
              </a:solidFill>
              <a:latin typeface="Aptos"/>
            </a:endParaRPr>
          </a:p>
        </p:txBody>
      </p:sp>
      <p:sp>
        <p:nvSpPr>
          <p:cNvPr id="32" name="Abgerundetes Rechteck 31"/>
          <p:cNvSpPr/>
          <p:nvPr/>
        </p:nvSpPr>
        <p:spPr>
          <a:xfrm>
            <a:off x="7747000" y="3987800"/>
            <a:ext cx="3302000" cy="1422400"/>
          </a:xfrm>
          <a:prstGeom prst="roundRect">
            <a:avLst/>
          </a:prstGeom>
          <a:solidFill>
            <a:srgbClr val="111927"/>
          </a:solidFill>
          <a:ln w="12700">
            <a:solidFill>
              <a:srgbClr val="2F3F5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3" name="Rechteck 32"/>
          <p:cNvSpPr/>
          <p:nvPr/>
        </p:nvSpPr>
        <p:spPr>
          <a:xfrm>
            <a:off x="7747000" y="3987800"/>
            <a:ext cx="63500" cy="1422400"/>
          </a:xfrm>
          <a:prstGeom prst="rect">
            <a:avLst/>
          </a:prstGeom>
          <a:solidFill>
            <a:srgbClr val="3AD39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4" name="Textfeld 33"/>
          <p:cNvSpPr txBox="1"/>
          <p:nvPr/>
        </p:nvSpPr>
        <p:spPr>
          <a:xfrm>
            <a:off x="7950200" y="4140200"/>
            <a:ext cx="29718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1400" b="1" smtClean="0">
                <a:solidFill>
                  <a:srgbClr val="F8FAFC"/>
                </a:solidFill>
                <a:latin typeface="Aptos Display"/>
              </a:rPr>
              <a:t>User + CommerceOrder</a:t>
            </a:r>
            <a:endParaRPr lang="de-DE" sz="1400" b="1">
              <a:solidFill>
                <a:srgbClr val="F8FAFC"/>
              </a:solidFill>
              <a:latin typeface="Aptos Display"/>
            </a:endParaRPr>
          </a:p>
        </p:txBody>
      </p:sp>
      <p:sp>
        <p:nvSpPr>
          <p:cNvPr id="35" name="Textfeld 34"/>
          <p:cNvSpPr txBox="1"/>
          <p:nvPr/>
        </p:nvSpPr>
        <p:spPr>
          <a:xfrm>
            <a:off x="7950200" y="4470400"/>
            <a:ext cx="2971800" cy="5632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1020" smtClean="0">
                <a:solidFill>
                  <a:srgbClr val="BECDE6"/>
                </a:solidFill>
                <a:latin typeface="Aptos"/>
              </a:rPr>
              <a:t>Consent-Flags, Käuferbezug, Ads-Zahlung, Rechnungen, Aktivierung nach Provider-Zahlung.</a:t>
            </a:r>
            <a:endParaRPr lang="de-DE" sz="1020">
              <a:solidFill>
                <a:srgbClr val="BECDE6"/>
              </a:solidFill>
              <a:latin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8203585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eck 1"/>
          <p:cNvSpPr/>
          <p:nvPr/>
        </p:nvSpPr>
        <p:spPr>
          <a:xfrm>
            <a:off x="0" y="0"/>
            <a:ext cx="12192000" cy="101600"/>
          </a:xfrm>
          <a:prstGeom prst="rect">
            <a:avLst/>
          </a:prstGeom>
          <a:solidFill>
            <a:srgbClr val="3884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" name="Textfeld 2"/>
          <p:cNvSpPr txBox="1"/>
          <p:nvPr/>
        </p:nvSpPr>
        <p:spPr>
          <a:xfrm>
            <a:off x="533400" y="431800"/>
            <a:ext cx="3302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900" b="1" smtClean="0">
                <a:solidFill>
                  <a:srgbClr val="3884FF"/>
                </a:solidFill>
                <a:latin typeface="Aptos"/>
              </a:rPr>
              <a:t>LIFECYCLE</a:t>
            </a:r>
            <a:endParaRPr lang="de-DE" sz="900" b="1">
              <a:solidFill>
                <a:srgbClr val="3884FF"/>
              </a:solidFill>
              <a:latin typeface="Aptos"/>
            </a:endParaRPr>
          </a:p>
        </p:txBody>
      </p:sp>
      <p:sp>
        <p:nvSpPr>
          <p:cNvPr id="4" name="Textfeld 3"/>
          <p:cNvSpPr txBox="1"/>
          <p:nvPr/>
        </p:nvSpPr>
        <p:spPr>
          <a:xfrm>
            <a:off x="533400" y="736600"/>
            <a:ext cx="102235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2800" b="1" smtClean="0">
                <a:solidFill>
                  <a:srgbClr val="F8FAFC"/>
                </a:solidFill>
                <a:latin typeface="Aptos Display"/>
              </a:rPr>
              <a:t>Statuslogik vom Entwurf bis Live</a:t>
            </a:r>
            <a:endParaRPr lang="de-DE" sz="2800" b="1">
              <a:solidFill>
                <a:srgbClr val="F8FAFC"/>
              </a:solidFill>
              <a:latin typeface="Aptos Display"/>
            </a:endParaRPr>
          </a:p>
        </p:txBody>
      </p:sp>
      <p:sp>
        <p:nvSpPr>
          <p:cNvPr id="5" name="Textfeld 4"/>
          <p:cNvSpPr txBox="1"/>
          <p:nvPr/>
        </p:nvSpPr>
        <p:spPr>
          <a:xfrm>
            <a:off x="533400" y="1422400"/>
            <a:ext cx="10414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1200" smtClean="0">
                <a:solidFill>
                  <a:srgbClr val="BECDE6"/>
                </a:solidFill>
                <a:latin typeface="Aptos"/>
              </a:rPr>
              <a:t>Eine Kampagne wird nicht einfach live gestellt. Zahlung und Admin-Prüfung sind bewusst getrennt.</a:t>
            </a:r>
            <a:endParaRPr lang="de-DE" sz="1200">
              <a:solidFill>
                <a:srgbClr val="BECDE6"/>
              </a:solidFill>
              <a:latin typeface="Aptos"/>
            </a:endParaRPr>
          </a:p>
        </p:txBody>
      </p:sp>
      <p:sp>
        <p:nvSpPr>
          <p:cNvPr id="6" name="Textfeld 5"/>
          <p:cNvSpPr txBox="1"/>
          <p:nvPr/>
        </p:nvSpPr>
        <p:spPr>
          <a:xfrm>
            <a:off x="533400" y="6451600"/>
            <a:ext cx="66040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800" smtClean="0">
                <a:solidFill>
                  <a:srgbClr val="7E97B8"/>
                </a:solidFill>
                <a:latin typeface="Aptos"/>
              </a:rPr>
              <a:t>Airmius Ads System | Produkt-, Technik- und Finance-Dokumentation</a:t>
            </a:r>
            <a:endParaRPr lang="de-DE" sz="800">
              <a:solidFill>
                <a:srgbClr val="7E97B8"/>
              </a:solidFill>
              <a:latin typeface="Aptos"/>
            </a:endParaRPr>
          </a:p>
        </p:txBody>
      </p:sp>
      <p:sp>
        <p:nvSpPr>
          <p:cNvPr id="7" name="Textfeld 6"/>
          <p:cNvSpPr txBox="1"/>
          <p:nvPr/>
        </p:nvSpPr>
        <p:spPr>
          <a:xfrm>
            <a:off x="11112500" y="64516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1000" b="1" smtClean="0">
                <a:solidFill>
                  <a:srgbClr val="3884FF"/>
                </a:solidFill>
                <a:latin typeface="Aptos Display"/>
              </a:rPr>
              <a:t>05</a:t>
            </a:r>
            <a:endParaRPr lang="de-DE" sz="1000" b="1">
              <a:solidFill>
                <a:srgbClr val="3884FF"/>
              </a:solidFill>
              <a:latin typeface="Aptos Display"/>
            </a:endParaRPr>
          </a:p>
        </p:txBody>
      </p:sp>
      <p:sp>
        <p:nvSpPr>
          <p:cNvPr id="8" name="Abgerundetes Rechteck 7"/>
          <p:cNvSpPr/>
          <p:nvPr/>
        </p:nvSpPr>
        <p:spPr>
          <a:xfrm>
            <a:off x="533400" y="2286000"/>
            <a:ext cx="1879600" cy="1397000"/>
          </a:xfrm>
          <a:prstGeom prst="roundRect">
            <a:avLst/>
          </a:prstGeom>
          <a:solidFill>
            <a:srgbClr val="111927"/>
          </a:solidFill>
          <a:ln w="12700">
            <a:solidFill>
              <a:srgbClr val="2F3F5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9" name="Rechteck 8"/>
          <p:cNvSpPr/>
          <p:nvPr/>
        </p:nvSpPr>
        <p:spPr>
          <a:xfrm>
            <a:off x="533400" y="2286000"/>
            <a:ext cx="63500" cy="1397000"/>
          </a:xfrm>
          <a:prstGeom prst="rect">
            <a:avLst/>
          </a:prstGeom>
          <a:solidFill>
            <a:srgbClr val="3884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0" name="Textfeld 9"/>
          <p:cNvSpPr txBox="1"/>
          <p:nvPr/>
        </p:nvSpPr>
        <p:spPr>
          <a:xfrm>
            <a:off x="736600" y="2438400"/>
            <a:ext cx="15494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1400" b="1" smtClean="0">
                <a:solidFill>
                  <a:srgbClr val="F8FAFC"/>
                </a:solidFill>
                <a:latin typeface="Aptos Display"/>
              </a:rPr>
              <a:t>draft</a:t>
            </a:r>
            <a:endParaRPr lang="de-DE" sz="1400" b="1">
              <a:solidFill>
                <a:srgbClr val="F8FAFC"/>
              </a:solidFill>
              <a:latin typeface="Aptos Display"/>
            </a:endParaRPr>
          </a:p>
        </p:txBody>
      </p:sp>
      <p:sp>
        <p:nvSpPr>
          <p:cNvPr id="11" name="Textfeld 10"/>
          <p:cNvSpPr txBox="1"/>
          <p:nvPr/>
        </p:nvSpPr>
        <p:spPr>
          <a:xfrm>
            <a:off x="736600" y="2768600"/>
            <a:ext cx="1549400" cy="5632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1020" smtClean="0">
                <a:solidFill>
                  <a:srgbClr val="BECDE6"/>
                </a:solidFill>
                <a:latin typeface="Aptos"/>
              </a:rPr>
              <a:t>Entwurf, noch nicht eingereicht oder bezahlt.</a:t>
            </a:r>
            <a:endParaRPr lang="de-DE" sz="1020">
              <a:solidFill>
                <a:srgbClr val="BECDE6"/>
              </a:solidFill>
              <a:latin typeface="Aptos"/>
            </a:endParaRPr>
          </a:p>
        </p:txBody>
      </p:sp>
      <p:sp>
        <p:nvSpPr>
          <p:cNvPr id="12" name="Textfeld 11"/>
          <p:cNvSpPr txBox="1"/>
          <p:nvPr/>
        </p:nvSpPr>
        <p:spPr>
          <a:xfrm>
            <a:off x="2438400" y="2819400"/>
            <a:ext cx="2667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1400" b="1" smtClean="0">
                <a:solidFill>
                  <a:srgbClr val="7E97B8"/>
                </a:solidFill>
                <a:latin typeface="Aptos Display"/>
              </a:rPr>
              <a:t>-&gt;</a:t>
            </a:r>
            <a:endParaRPr lang="de-DE" sz="1400" b="1">
              <a:solidFill>
                <a:srgbClr val="7E97B8"/>
              </a:solidFill>
              <a:latin typeface="Aptos Display"/>
            </a:endParaRPr>
          </a:p>
        </p:txBody>
      </p:sp>
      <p:sp>
        <p:nvSpPr>
          <p:cNvPr id="13" name="Abgerundetes Rechteck 12"/>
          <p:cNvSpPr/>
          <p:nvPr/>
        </p:nvSpPr>
        <p:spPr>
          <a:xfrm>
            <a:off x="2692400" y="2286000"/>
            <a:ext cx="1879600" cy="1397000"/>
          </a:xfrm>
          <a:prstGeom prst="roundRect">
            <a:avLst/>
          </a:prstGeom>
          <a:solidFill>
            <a:srgbClr val="111927"/>
          </a:solidFill>
          <a:ln w="12700">
            <a:solidFill>
              <a:srgbClr val="2F3F5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4" name="Rechteck 13"/>
          <p:cNvSpPr/>
          <p:nvPr/>
        </p:nvSpPr>
        <p:spPr>
          <a:xfrm>
            <a:off x="2692400" y="2286000"/>
            <a:ext cx="63500" cy="1397000"/>
          </a:xfrm>
          <a:prstGeom prst="rect">
            <a:avLst/>
          </a:prstGeom>
          <a:solidFill>
            <a:srgbClr val="26C6D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5" name="Textfeld 14"/>
          <p:cNvSpPr txBox="1"/>
          <p:nvPr/>
        </p:nvSpPr>
        <p:spPr>
          <a:xfrm>
            <a:off x="2895600" y="2438400"/>
            <a:ext cx="15494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1400" b="1" smtClean="0">
                <a:solidFill>
                  <a:srgbClr val="F8FAFC"/>
                </a:solidFill>
                <a:latin typeface="Aptos Display"/>
              </a:rPr>
              <a:t>pending_payment</a:t>
            </a:r>
            <a:endParaRPr lang="de-DE" sz="1400" b="1">
              <a:solidFill>
                <a:srgbClr val="F8FAFC"/>
              </a:solidFill>
              <a:latin typeface="Aptos Display"/>
            </a:endParaRPr>
          </a:p>
        </p:txBody>
      </p:sp>
      <p:sp>
        <p:nvSpPr>
          <p:cNvPr id="16" name="Textfeld 15"/>
          <p:cNvSpPr txBox="1"/>
          <p:nvPr/>
        </p:nvSpPr>
        <p:spPr>
          <a:xfrm>
            <a:off x="2895600" y="2768600"/>
            <a:ext cx="1549400" cy="4062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1020" smtClean="0">
                <a:solidFill>
                  <a:srgbClr val="BECDE6"/>
                </a:solidFill>
                <a:latin typeface="Aptos"/>
              </a:rPr>
              <a:t>Checkout gestartet, Zahlung offen.</a:t>
            </a:r>
            <a:endParaRPr lang="de-DE" sz="1020">
              <a:solidFill>
                <a:srgbClr val="BECDE6"/>
              </a:solidFill>
              <a:latin typeface="Aptos"/>
            </a:endParaRPr>
          </a:p>
        </p:txBody>
      </p:sp>
      <p:sp>
        <p:nvSpPr>
          <p:cNvPr id="17" name="Textfeld 16"/>
          <p:cNvSpPr txBox="1"/>
          <p:nvPr/>
        </p:nvSpPr>
        <p:spPr>
          <a:xfrm>
            <a:off x="4597400" y="2819400"/>
            <a:ext cx="2667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1400" b="1" smtClean="0">
                <a:solidFill>
                  <a:srgbClr val="7E97B8"/>
                </a:solidFill>
                <a:latin typeface="Aptos Display"/>
              </a:rPr>
              <a:t>-&gt;</a:t>
            </a:r>
            <a:endParaRPr lang="de-DE" sz="1400" b="1">
              <a:solidFill>
                <a:srgbClr val="7E97B8"/>
              </a:solidFill>
              <a:latin typeface="Aptos Display"/>
            </a:endParaRPr>
          </a:p>
        </p:txBody>
      </p:sp>
      <p:sp>
        <p:nvSpPr>
          <p:cNvPr id="18" name="Abgerundetes Rechteck 17"/>
          <p:cNvSpPr/>
          <p:nvPr/>
        </p:nvSpPr>
        <p:spPr>
          <a:xfrm>
            <a:off x="4851400" y="2286000"/>
            <a:ext cx="1879600" cy="1397000"/>
          </a:xfrm>
          <a:prstGeom prst="roundRect">
            <a:avLst/>
          </a:prstGeom>
          <a:solidFill>
            <a:srgbClr val="111927"/>
          </a:solidFill>
          <a:ln w="12700">
            <a:solidFill>
              <a:srgbClr val="2F3F5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9" name="Rechteck 18"/>
          <p:cNvSpPr/>
          <p:nvPr/>
        </p:nvSpPr>
        <p:spPr>
          <a:xfrm>
            <a:off x="4851400" y="2286000"/>
            <a:ext cx="63500" cy="1397000"/>
          </a:xfrm>
          <a:prstGeom prst="rect">
            <a:avLst/>
          </a:prstGeom>
          <a:solidFill>
            <a:srgbClr val="3AD39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0" name="Textfeld 19"/>
          <p:cNvSpPr txBox="1"/>
          <p:nvPr/>
        </p:nvSpPr>
        <p:spPr>
          <a:xfrm>
            <a:off x="5054600" y="2438400"/>
            <a:ext cx="15494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1400" b="1" smtClean="0">
                <a:solidFill>
                  <a:srgbClr val="F8FAFC"/>
                </a:solidFill>
                <a:latin typeface="Aptos Display"/>
              </a:rPr>
              <a:t>pending_review</a:t>
            </a:r>
            <a:endParaRPr lang="de-DE" sz="1400" b="1">
              <a:solidFill>
                <a:srgbClr val="F8FAFC"/>
              </a:solidFill>
              <a:latin typeface="Aptos Display"/>
            </a:endParaRPr>
          </a:p>
        </p:txBody>
      </p:sp>
      <p:sp>
        <p:nvSpPr>
          <p:cNvPr id="21" name="Textfeld 20"/>
          <p:cNvSpPr txBox="1"/>
          <p:nvPr/>
        </p:nvSpPr>
        <p:spPr>
          <a:xfrm>
            <a:off x="5054600" y="2768600"/>
            <a:ext cx="1549400" cy="4062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1020" smtClean="0">
                <a:solidFill>
                  <a:srgbClr val="BECDE6"/>
                </a:solidFill>
                <a:latin typeface="Aptos"/>
              </a:rPr>
              <a:t>Zahlung erledigt; Admin muss prüfen.</a:t>
            </a:r>
            <a:endParaRPr lang="de-DE" sz="1020">
              <a:solidFill>
                <a:srgbClr val="BECDE6"/>
              </a:solidFill>
              <a:latin typeface="Aptos"/>
            </a:endParaRPr>
          </a:p>
        </p:txBody>
      </p:sp>
      <p:sp>
        <p:nvSpPr>
          <p:cNvPr id="22" name="Textfeld 21"/>
          <p:cNvSpPr txBox="1"/>
          <p:nvPr/>
        </p:nvSpPr>
        <p:spPr>
          <a:xfrm>
            <a:off x="6756400" y="2819400"/>
            <a:ext cx="2667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1400" b="1" smtClean="0">
                <a:solidFill>
                  <a:srgbClr val="7E97B8"/>
                </a:solidFill>
                <a:latin typeface="Aptos Display"/>
              </a:rPr>
              <a:t>-&gt;</a:t>
            </a:r>
            <a:endParaRPr lang="de-DE" sz="1400" b="1">
              <a:solidFill>
                <a:srgbClr val="7E97B8"/>
              </a:solidFill>
              <a:latin typeface="Aptos Display"/>
            </a:endParaRPr>
          </a:p>
        </p:txBody>
      </p:sp>
      <p:sp>
        <p:nvSpPr>
          <p:cNvPr id="23" name="Abgerundetes Rechteck 22"/>
          <p:cNvSpPr/>
          <p:nvPr/>
        </p:nvSpPr>
        <p:spPr>
          <a:xfrm>
            <a:off x="7010400" y="2286000"/>
            <a:ext cx="1879600" cy="1397000"/>
          </a:xfrm>
          <a:prstGeom prst="roundRect">
            <a:avLst/>
          </a:prstGeom>
          <a:solidFill>
            <a:srgbClr val="111927"/>
          </a:solidFill>
          <a:ln w="12700">
            <a:solidFill>
              <a:srgbClr val="2F3F5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4" name="Rechteck 23"/>
          <p:cNvSpPr/>
          <p:nvPr/>
        </p:nvSpPr>
        <p:spPr>
          <a:xfrm>
            <a:off x="7010400" y="2286000"/>
            <a:ext cx="63500" cy="1397000"/>
          </a:xfrm>
          <a:prstGeom prst="rect">
            <a:avLst/>
          </a:prstGeom>
          <a:solidFill>
            <a:srgbClr val="FFB14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5" name="Textfeld 24"/>
          <p:cNvSpPr txBox="1"/>
          <p:nvPr/>
        </p:nvSpPr>
        <p:spPr>
          <a:xfrm>
            <a:off x="7213600" y="2438400"/>
            <a:ext cx="15494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1400" b="1" smtClean="0">
                <a:solidFill>
                  <a:srgbClr val="F8FAFC"/>
                </a:solidFill>
                <a:latin typeface="Aptos Display"/>
              </a:rPr>
              <a:t>active</a:t>
            </a:r>
            <a:endParaRPr lang="de-DE" sz="1400" b="1">
              <a:solidFill>
                <a:srgbClr val="F8FAFC"/>
              </a:solidFill>
              <a:latin typeface="Aptos Display"/>
            </a:endParaRPr>
          </a:p>
        </p:txBody>
      </p:sp>
      <p:sp>
        <p:nvSpPr>
          <p:cNvPr id="26" name="Textfeld 25"/>
          <p:cNvSpPr txBox="1"/>
          <p:nvPr/>
        </p:nvSpPr>
        <p:spPr>
          <a:xfrm>
            <a:off x="7213600" y="2768600"/>
            <a:ext cx="1549400" cy="5632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1020" smtClean="0">
                <a:solidFill>
                  <a:srgbClr val="BECDE6"/>
                </a:solidFill>
                <a:latin typeface="Aptos"/>
              </a:rPr>
              <a:t>Live, solange Laufzeit, Budget, Caps und Targeting passen.</a:t>
            </a:r>
            <a:endParaRPr lang="de-DE" sz="1020">
              <a:solidFill>
                <a:srgbClr val="BECDE6"/>
              </a:solidFill>
              <a:latin typeface="Aptos"/>
            </a:endParaRPr>
          </a:p>
        </p:txBody>
      </p:sp>
      <p:sp>
        <p:nvSpPr>
          <p:cNvPr id="27" name="Textfeld 26"/>
          <p:cNvSpPr txBox="1"/>
          <p:nvPr/>
        </p:nvSpPr>
        <p:spPr>
          <a:xfrm>
            <a:off x="8915400" y="2819400"/>
            <a:ext cx="2667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1400" b="1" smtClean="0">
                <a:solidFill>
                  <a:srgbClr val="7E97B8"/>
                </a:solidFill>
                <a:latin typeface="Aptos Display"/>
              </a:rPr>
              <a:t>-&gt;</a:t>
            </a:r>
            <a:endParaRPr lang="de-DE" sz="1400" b="1">
              <a:solidFill>
                <a:srgbClr val="7E97B8"/>
              </a:solidFill>
              <a:latin typeface="Aptos Display"/>
            </a:endParaRPr>
          </a:p>
        </p:txBody>
      </p:sp>
      <p:sp>
        <p:nvSpPr>
          <p:cNvPr id="28" name="Abgerundetes Rechteck 27"/>
          <p:cNvSpPr/>
          <p:nvPr/>
        </p:nvSpPr>
        <p:spPr>
          <a:xfrm>
            <a:off x="9169400" y="2286000"/>
            <a:ext cx="1879600" cy="1397000"/>
          </a:xfrm>
          <a:prstGeom prst="roundRect">
            <a:avLst/>
          </a:prstGeom>
          <a:solidFill>
            <a:srgbClr val="111927"/>
          </a:solidFill>
          <a:ln w="12700">
            <a:solidFill>
              <a:srgbClr val="2F3F5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9" name="Rechteck 28"/>
          <p:cNvSpPr/>
          <p:nvPr/>
        </p:nvSpPr>
        <p:spPr>
          <a:xfrm>
            <a:off x="9169400" y="2286000"/>
            <a:ext cx="63500" cy="1397000"/>
          </a:xfrm>
          <a:prstGeom prst="rect">
            <a:avLst/>
          </a:prstGeom>
          <a:solidFill>
            <a:srgbClr val="FF6B6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0" name="Textfeld 29"/>
          <p:cNvSpPr txBox="1"/>
          <p:nvPr/>
        </p:nvSpPr>
        <p:spPr>
          <a:xfrm>
            <a:off x="9372600" y="2438400"/>
            <a:ext cx="15494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1400" b="1" smtClean="0">
                <a:solidFill>
                  <a:srgbClr val="F8FAFC"/>
                </a:solidFill>
                <a:latin typeface="Aptos Display"/>
              </a:rPr>
              <a:t>paused/completed</a:t>
            </a:r>
            <a:endParaRPr lang="de-DE" sz="1400" b="1">
              <a:solidFill>
                <a:srgbClr val="F8FAFC"/>
              </a:solidFill>
              <a:latin typeface="Aptos Display"/>
            </a:endParaRPr>
          </a:p>
        </p:txBody>
      </p:sp>
      <p:sp>
        <p:nvSpPr>
          <p:cNvPr id="31" name="Textfeld 30"/>
          <p:cNvSpPr txBox="1"/>
          <p:nvPr/>
        </p:nvSpPr>
        <p:spPr>
          <a:xfrm>
            <a:off x="9372600" y="2768600"/>
            <a:ext cx="1549400" cy="5632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1020" smtClean="0">
                <a:solidFill>
                  <a:srgbClr val="BECDE6"/>
                </a:solidFill>
                <a:latin typeface="Aptos"/>
              </a:rPr>
              <a:t>Manuell pausiert oder beendet; wird nicht ausgeliefert.</a:t>
            </a:r>
            <a:endParaRPr lang="de-DE" sz="1020">
              <a:solidFill>
                <a:srgbClr val="BECDE6"/>
              </a:solidFill>
              <a:latin typeface="Aptos"/>
            </a:endParaRPr>
          </a:p>
        </p:txBody>
      </p:sp>
      <p:sp>
        <p:nvSpPr>
          <p:cNvPr id="32" name="Abgerundetes Rechteck 31"/>
          <p:cNvSpPr/>
          <p:nvPr/>
        </p:nvSpPr>
        <p:spPr>
          <a:xfrm>
            <a:off x="533400" y="4191000"/>
            <a:ext cx="5105400" cy="1168400"/>
          </a:xfrm>
          <a:prstGeom prst="roundRect">
            <a:avLst/>
          </a:prstGeom>
          <a:solidFill>
            <a:srgbClr val="111927"/>
          </a:solidFill>
          <a:ln w="12700">
            <a:solidFill>
              <a:srgbClr val="2F3F5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3" name="Rechteck 32"/>
          <p:cNvSpPr/>
          <p:nvPr/>
        </p:nvSpPr>
        <p:spPr>
          <a:xfrm>
            <a:off x="533400" y="4191000"/>
            <a:ext cx="63500" cy="1168400"/>
          </a:xfrm>
          <a:prstGeom prst="rect">
            <a:avLst/>
          </a:prstGeom>
          <a:solidFill>
            <a:srgbClr val="FF6B6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4" name="Textfeld 33"/>
          <p:cNvSpPr txBox="1"/>
          <p:nvPr/>
        </p:nvSpPr>
        <p:spPr>
          <a:xfrm>
            <a:off x="736600" y="4343400"/>
            <a:ext cx="47752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1400" b="1" smtClean="0">
                <a:solidFill>
                  <a:srgbClr val="F8FAFC"/>
                </a:solidFill>
                <a:latin typeface="Aptos Display"/>
              </a:rPr>
              <a:t>Ablehnung</a:t>
            </a:r>
            <a:endParaRPr lang="de-DE" sz="1400" b="1">
              <a:solidFill>
                <a:srgbClr val="F8FAFC"/>
              </a:solidFill>
              <a:latin typeface="Aptos Display"/>
            </a:endParaRPr>
          </a:p>
        </p:txBody>
      </p:sp>
      <p:sp>
        <p:nvSpPr>
          <p:cNvPr id="35" name="Textfeld 34"/>
          <p:cNvSpPr txBox="1"/>
          <p:nvPr/>
        </p:nvSpPr>
        <p:spPr>
          <a:xfrm>
            <a:off x="736600" y="4673600"/>
            <a:ext cx="4775200" cy="4062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1020" smtClean="0">
                <a:solidFill>
                  <a:srgbClr val="BECDE6"/>
                </a:solidFill>
                <a:latin typeface="Aptos"/>
              </a:rPr>
              <a:t>Status rejected mit review_note. User braucht nachvollziehbare Begründung: Bild, Text, Ziel-URL, Recht, Budget oder Policy.</a:t>
            </a:r>
            <a:endParaRPr lang="de-DE" sz="1020">
              <a:solidFill>
                <a:srgbClr val="BECDE6"/>
              </a:solidFill>
              <a:latin typeface="Aptos"/>
            </a:endParaRPr>
          </a:p>
        </p:txBody>
      </p:sp>
      <p:sp>
        <p:nvSpPr>
          <p:cNvPr id="36" name="Abgerundetes Rechteck 35"/>
          <p:cNvSpPr/>
          <p:nvPr/>
        </p:nvSpPr>
        <p:spPr>
          <a:xfrm>
            <a:off x="5943600" y="4191000"/>
            <a:ext cx="5105400" cy="1168400"/>
          </a:xfrm>
          <a:prstGeom prst="roundRect">
            <a:avLst/>
          </a:prstGeom>
          <a:solidFill>
            <a:srgbClr val="111927"/>
          </a:solidFill>
          <a:ln w="12700">
            <a:solidFill>
              <a:srgbClr val="2F3F5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7" name="Rechteck 36"/>
          <p:cNvSpPr/>
          <p:nvPr/>
        </p:nvSpPr>
        <p:spPr>
          <a:xfrm>
            <a:off x="5943600" y="4191000"/>
            <a:ext cx="63500" cy="1168400"/>
          </a:xfrm>
          <a:prstGeom prst="rect">
            <a:avLst/>
          </a:prstGeom>
          <a:solidFill>
            <a:srgbClr val="3AD39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8" name="Textfeld 37"/>
          <p:cNvSpPr txBox="1"/>
          <p:nvPr/>
        </p:nvSpPr>
        <p:spPr>
          <a:xfrm>
            <a:off x="6146800" y="4343400"/>
            <a:ext cx="47752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1400" b="1" smtClean="0">
                <a:solidFill>
                  <a:srgbClr val="F8FAFC"/>
                </a:solidFill>
                <a:latin typeface="Aptos Display"/>
              </a:rPr>
              <a:t>Zahlungs-Gate</a:t>
            </a:r>
            <a:endParaRPr lang="de-DE" sz="1400" b="1">
              <a:solidFill>
                <a:srgbClr val="F8FAFC"/>
              </a:solidFill>
              <a:latin typeface="Aptos Display"/>
            </a:endParaRPr>
          </a:p>
        </p:txBody>
      </p:sp>
      <p:sp>
        <p:nvSpPr>
          <p:cNvPr id="39" name="Textfeld 38"/>
          <p:cNvSpPr txBox="1"/>
          <p:nvPr/>
        </p:nvSpPr>
        <p:spPr>
          <a:xfrm>
            <a:off x="6146800" y="4673600"/>
            <a:ext cx="4775200" cy="4062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1020" smtClean="0">
                <a:solidFill>
                  <a:srgbClr val="BECDE6"/>
                </a:solidFill>
                <a:latin typeface="Aptos"/>
              </a:rPr>
              <a:t>User-Kampagnen dürfen erst aktiv werden, wenn eine CommerceOrder vom Typ ads_campaign completed ist. Admin-Update prüft das ebenfalls.</a:t>
            </a:r>
            <a:endParaRPr lang="de-DE" sz="1020">
              <a:solidFill>
                <a:srgbClr val="BECDE6"/>
              </a:solidFill>
              <a:latin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11631620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eck 1"/>
          <p:cNvSpPr/>
          <p:nvPr/>
        </p:nvSpPr>
        <p:spPr>
          <a:xfrm>
            <a:off x="0" y="0"/>
            <a:ext cx="12192000" cy="101600"/>
          </a:xfrm>
          <a:prstGeom prst="rect">
            <a:avLst/>
          </a:prstGeom>
          <a:solidFill>
            <a:srgbClr val="3884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" name="Textfeld 2"/>
          <p:cNvSpPr txBox="1"/>
          <p:nvPr/>
        </p:nvSpPr>
        <p:spPr>
          <a:xfrm>
            <a:off x="533400" y="431800"/>
            <a:ext cx="3302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900" b="1" smtClean="0">
                <a:solidFill>
                  <a:srgbClr val="3884FF"/>
                </a:solidFill>
                <a:latin typeface="Aptos"/>
              </a:rPr>
              <a:t>USER FLOW</a:t>
            </a:r>
            <a:endParaRPr lang="de-DE" sz="900" b="1">
              <a:solidFill>
                <a:srgbClr val="3884FF"/>
              </a:solidFill>
              <a:latin typeface="Aptos"/>
            </a:endParaRPr>
          </a:p>
        </p:txBody>
      </p:sp>
      <p:sp>
        <p:nvSpPr>
          <p:cNvPr id="4" name="Textfeld 3"/>
          <p:cNvSpPr txBox="1"/>
          <p:nvPr/>
        </p:nvSpPr>
        <p:spPr>
          <a:xfrm>
            <a:off x="533400" y="736600"/>
            <a:ext cx="102235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2800" b="1" smtClean="0">
                <a:solidFill>
                  <a:srgbClr val="F8FAFC"/>
                </a:solidFill>
                <a:latin typeface="Aptos Display"/>
              </a:rPr>
              <a:t>Wie ein Käufer oder Sponsor Ads bucht</a:t>
            </a:r>
            <a:endParaRPr lang="de-DE" sz="2800" b="1">
              <a:solidFill>
                <a:srgbClr val="F8FAFC"/>
              </a:solidFill>
              <a:latin typeface="Aptos Display"/>
            </a:endParaRPr>
          </a:p>
        </p:txBody>
      </p:sp>
      <p:sp>
        <p:nvSpPr>
          <p:cNvPr id="5" name="Textfeld 4"/>
          <p:cNvSpPr txBox="1"/>
          <p:nvPr/>
        </p:nvSpPr>
        <p:spPr>
          <a:xfrm>
            <a:off x="533400" y="1422400"/>
            <a:ext cx="10414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1200" smtClean="0">
                <a:solidFill>
                  <a:srgbClr val="BECDE6"/>
                </a:solidFill>
                <a:latin typeface="Aptos"/>
              </a:rPr>
              <a:t>Der Flow ist commerce-nah: erst Struktur erstellen, dann bezahlen, dann Review, dann Ausspielung.</a:t>
            </a:r>
            <a:endParaRPr lang="de-DE" sz="1200">
              <a:solidFill>
                <a:srgbClr val="BECDE6"/>
              </a:solidFill>
              <a:latin typeface="Aptos"/>
            </a:endParaRPr>
          </a:p>
        </p:txBody>
      </p:sp>
      <p:sp>
        <p:nvSpPr>
          <p:cNvPr id="6" name="Textfeld 5"/>
          <p:cNvSpPr txBox="1"/>
          <p:nvPr/>
        </p:nvSpPr>
        <p:spPr>
          <a:xfrm>
            <a:off x="533400" y="6451600"/>
            <a:ext cx="66040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800" smtClean="0">
                <a:solidFill>
                  <a:srgbClr val="7E97B8"/>
                </a:solidFill>
                <a:latin typeface="Aptos"/>
              </a:rPr>
              <a:t>Airmius Ads System | Produkt-, Technik- und Finance-Dokumentation</a:t>
            </a:r>
            <a:endParaRPr lang="de-DE" sz="800">
              <a:solidFill>
                <a:srgbClr val="7E97B8"/>
              </a:solidFill>
              <a:latin typeface="Aptos"/>
            </a:endParaRPr>
          </a:p>
        </p:txBody>
      </p:sp>
      <p:sp>
        <p:nvSpPr>
          <p:cNvPr id="7" name="Textfeld 6"/>
          <p:cNvSpPr txBox="1"/>
          <p:nvPr/>
        </p:nvSpPr>
        <p:spPr>
          <a:xfrm>
            <a:off x="11112500" y="64516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1000" b="1" smtClean="0">
                <a:solidFill>
                  <a:srgbClr val="3884FF"/>
                </a:solidFill>
                <a:latin typeface="Aptos Display"/>
              </a:rPr>
              <a:t>06</a:t>
            </a:r>
            <a:endParaRPr lang="de-DE" sz="1000" b="1">
              <a:solidFill>
                <a:srgbClr val="3884FF"/>
              </a:solidFill>
              <a:latin typeface="Aptos Display"/>
            </a:endParaRPr>
          </a:p>
        </p:txBody>
      </p:sp>
      <p:sp>
        <p:nvSpPr>
          <p:cNvPr id="8" name="Abgerundetes Rechteck 7"/>
          <p:cNvSpPr/>
          <p:nvPr/>
        </p:nvSpPr>
        <p:spPr>
          <a:xfrm>
            <a:off x="533400" y="2286000"/>
            <a:ext cx="1879600" cy="1397000"/>
          </a:xfrm>
          <a:prstGeom prst="roundRect">
            <a:avLst/>
          </a:prstGeom>
          <a:solidFill>
            <a:srgbClr val="111927"/>
          </a:solidFill>
          <a:ln w="12700">
            <a:solidFill>
              <a:srgbClr val="2F3F5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9" name="Rechteck 8"/>
          <p:cNvSpPr/>
          <p:nvPr/>
        </p:nvSpPr>
        <p:spPr>
          <a:xfrm>
            <a:off x="533400" y="2286000"/>
            <a:ext cx="63500" cy="1397000"/>
          </a:xfrm>
          <a:prstGeom prst="rect">
            <a:avLst/>
          </a:prstGeom>
          <a:solidFill>
            <a:srgbClr val="3884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0" name="Textfeld 9"/>
          <p:cNvSpPr txBox="1"/>
          <p:nvPr/>
        </p:nvSpPr>
        <p:spPr>
          <a:xfrm>
            <a:off x="736600" y="2438400"/>
            <a:ext cx="15494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1400" b="1" smtClean="0">
                <a:solidFill>
                  <a:srgbClr val="F8FAFC"/>
                </a:solidFill>
                <a:latin typeface="Aptos Display"/>
              </a:rPr>
              <a:t>1 Setup</a:t>
            </a:r>
            <a:endParaRPr lang="de-DE" sz="1400" b="1">
              <a:solidFill>
                <a:srgbClr val="F8FAFC"/>
              </a:solidFill>
              <a:latin typeface="Aptos Display"/>
            </a:endParaRPr>
          </a:p>
        </p:txBody>
      </p:sp>
      <p:sp>
        <p:nvSpPr>
          <p:cNvPr id="11" name="Textfeld 10"/>
          <p:cNvSpPr txBox="1"/>
          <p:nvPr/>
        </p:nvSpPr>
        <p:spPr>
          <a:xfrm>
            <a:off x="736600" y="2768600"/>
            <a:ext cx="1549400" cy="5632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1020" smtClean="0">
                <a:solidFill>
                  <a:srgbClr val="BECDE6"/>
                </a:solidFill>
                <a:latin typeface="Aptos"/>
              </a:rPr>
              <a:t>Name, Ziel, Budget, Laufzeit, Placement, Creative und Ziel-URL.</a:t>
            </a:r>
            <a:endParaRPr lang="de-DE" sz="1020">
              <a:solidFill>
                <a:srgbClr val="BECDE6"/>
              </a:solidFill>
              <a:latin typeface="Aptos"/>
            </a:endParaRPr>
          </a:p>
        </p:txBody>
      </p:sp>
      <p:sp>
        <p:nvSpPr>
          <p:cNvPr id="12" name="Textfeld 11"/>
          <p:cNvSpPr txBox="1"/>
          <p:nvPr/>
        </p:nvSpPr>
        <p:spPr>
          <a:xfrm>
            <a:off x="2438400" y="2819400"/>
            <a:ext cx="2667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1400" b="1" smtClean="0">
                <a:solidFill>
                  <a:srgbClr val="7E97B8"/>
                </a:solidFill>
                <a:latin typeface="Aptos Display"/>
              </a:rPr>
              <a:t>-&gt;</a:t>
            </a:r>
            <a:endParaRPr lang="de-DE" sz="1400" b="1">
              <a:solidFill>
                <a:srgbClr val="7E97B8"/>
              </a:solidFill>
              <a:latin typeface="Aptos Display"/>
            </a:endParaRPr>
          </a:p>
        </p:txBody>
      </p:sp>
      <p:sp>
        <p:nvSpPr>
          <p:cNvPr id="13" name="Abgerundetes Rechteck 12"/>
          <p:cNvSpPr/>
          <p:nvPr/>
        </p:nvSpPr>
        <p:spPr>
          <a:xfrm>
            <a:off x="2692400" y="2286000"/>
            <a:ext cx="1879600" cy="1397000"/>
          </a:xfrm>
          <a:prstGeom prst="roundRect">
            <a:avLst/>
          </a:prstGeom>
          <a:solidFill>
            <a:srgbClr val="111927"/>
          </a:solidFill>
          <a:ln w="12700">
            <a:solidFill>
              <a:srgbClr val="2F3F5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4" name="Rechteck 13"/>
          <p:cNvSpPr/>
          <p:nvPr/>
        </p:nvSpPr>
        <p:spPr>
          <a:xfrm>
            <a:off x="2692400" y="2286000"/>
            <a:ext cx="63500" cy="1397000"/>
          </a:xfrm>
          <a:prstGeom prst="rect">
            <a:avLst/>
          </a:prstGeom>
          <a:solidFill>
            <a:srgbClr val="26C6D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5" name="Textfeld 14"/>
          <p:cNvSpPr txBox="1"/>
          <p:nvPr/>
        </p:nvSpPr>
        <p:spPr>
          <a:xfrm>
            <a:off x="2895600" y="2438400"/>
            <a:ext cx="15494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1400" b="1" smtClean="0">
                <a:solidFill>
                  <a:srgbClr val="F8FAFC"/>
                </a:solidFill>
                <a:latin typeface="Aptos Display"/>
              </a:rPr>
              <a:t>2 Checkout</a:t>
            </a:r>
            <a:endParaRPr lang="de-DE" sz="1400" b="1">
              <a:solidFill>
                <a:srgbClr val="F8FAFC"/>
              </a:solidFill>
              <a:latin typeface="Aptos Display"/>
            </a:endParaRPr>
          </a:p>
        </p:txBody>
      </p:sp>
      <p:sp>
        <p:nvSpPr>
          <p:cNvPr id="16" name="Textfeld 15"/>
          <p:cNvSpPr txBox="1"/>
          <p:nvPr/>
        </p:nvSpPr>
        <p:spPr>
          <a:xfrm>
            <a:off x="2895600" y="2768600"/>
            <a:ext cx="1549400" cy="5632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1020" smtClean="0">
                <a:solidFill>
                  <a:srgbClr val="BECDE6"/>
                </a:solidFill>
                <a:latin typeface="Aptos"/>
              </a:rPr>
              <a:t>Stripe, PayPal oder Überweisung als Commerce-Bestellung.</a:t>
            </a:r>
            <a:endParaRPr lang="de-DE" sz="1020">
              <a:solidFill>
                <a:srgbClr val="BECDE6"/>
              </a:solidFill>
              <a:latin typeface="Aptos"/>
            </a:endParaRPr>
          </a:p>
        </p:txBody>
      </p:sp>
      <p:sp>
        <p:nvSpPr>
          <p:cNvPr id="17" name="Textfeld 16"/>
          <p:cNvSpPr txBox="1"/>
          <p:nvPr/>
        </p:nvSpPr>
        <p:spPr>
          <a:xfrm>
            <a:off x="4597400" y="2819400"/>
            <a:ext cx="2667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1400" b="1" smtClean="0">
                <a:solidFill>
                  <a:srgbClr val="7E97B8"/>
                </a:solidFill>
                <a:latin typeface="Aptos Display"/>
              </a:rPr>
              <a:t>-&gt;</a:t>
            </a:r>
            <a:endParaRPr lang="de-DE" sz="1400" b="1">
              <a:solidFill>
                <a:srgbClr val="7E97B8"/>
              </a:solidFill>
              <a:latin typeface="Aptos Display"/>
            </a:endParaRPr>
          </a:p>
        </p:txBody>
      </p:sp>
      <p:sp>
        <p:nvSpPr>
          <p:cNvPr id="18" name="Abgerundetes Rechteck 17"/>
          <p:cNvSpPr/>
          <p:nvPr/>
        </p:nvSpPr>
        <p:spPr>
          <a:xfrm>
            <a:off x="4851400" y="2286000"/>
            <a:ext cx="1879600" cy="1397000"/>
          </a:xfrm>
          <a:prstGeom prst="roundRect">
            <a:avLst/>
          </a:prstGeom>
          <a:solidFill>
            <a:srgbClr val="111927"/>
          </a:solidFill>
          <a:ln w="12700">
            <a:solidFill>
              <a:srgbClr val="2F3F5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9" name="Rechteck 18"/>
          <p:cNvSpPr/>
          <p:nvPr/>
        </p:nvSpPr>
        <p:spPr>
          <a:xfrm>
            <a:off x="4851400" y="2286000"/>
            <a:ext cx="63500" cy="1397000"/>
          </a:xfrm>
          <a:prstGeom prst="rect">
            <a:avLst/>
          </a:prstGeom>
          <a:solidFill>
            <a:srgbClr val="3AD39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0" name="Textfeld 19"/>
          <p:cNvSpPr txBox="1"/>
          <p:nvPr/>
        </p:nvSpPr>
        <p:spPr>
          <a:xfrm>
            <a:off x="5054600" y="2438400"/>
            <a:ext cx="15494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1400" b="1" smtClean="0">
                <a:solidFill>
                  <a:srgbClr val="F8FAFC"/>
                </a:solidFill>
                <a:latin typeface="Aptos Display"/>
              </a:rPr>
              <a:t>3 Review</a:t>
            </a:r>
            <a:endParaRPr lang="de-DE" sz="1400" b="1">
              <a:solidFill>
                <a:srgbClr val="F8FAFC"/>
              </a:solidFill>
              <a:latin typeface="Aptos Display"/>
            </a:endParaRPr>
          </a:p>
        </p:txBody>
      </p:sp>
      <p:sp>
        <p:nvSpPr>
          <p:cNvPr id="21" name="Textfeld 20"/>
          <p:cNvSpPr txBox="1"/>
          <p:nvPr/>
        </p:nvSpPr>
        <p:spPr>
          <a:xfrm>
            <a:off x="5054600" y="2768600"/>
            <a:ext cx="1549400" cy="72019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1020" smtClean="0">
                <a:solidFill>
                  <a:srgbClr val="BECDE6"/>
                </a:solidFill>
                <a:latin typeface="Aptos"/>
              </a:rPr>
              <a:t>Admin prüft Inhalt, Zielseite, Recht, Jugendschutz und Qualität.</a:t>
            </a:r>
            <a:endParaRPr lang="de-DE" sz="1020">
              <a:solidFill>
                <a:srgbClr val="BECDE6"/>
              </a:solidFill>
              <a:latin typeface="Aptos"/>
            </a:endParaRPr>
          </a:p>
        </p:txBody>
      </p:sp>
      <p:sp>
        <p:nvSpPr>
          <p:cNvPr id="22" name="Textfeld 21"/>
          <p:cNvSpPr txBox="1"/>
          <p:nvPr/>
        </p:nvSpPr>
        <p:spPr>
          <a:xfrm>
            <a:off x="6756400" y="2819400"/>
            <a:ext cx="2667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1400" b="1" smtClean="0">
                <a:solidFill>
                  <a:srgbClr val="7E97B8"/>
                </a:solidFill>
                <a:latin typeface="Aptos Display"/>
              </a:rPr>
              <a:t>-&gt;</a:t>
            </a:r>
            <a:endParaRPr lang="de-DE" sz="1400" b="1">
              <a:solidFill>
                <a:srgbClr val="7E97B8"/>
              </a:solidFill>
              <a:latin typeface="Aptos Display"/>
            </a:endParaRPr>
          </a:p>
        </p:txBody>
      </p:sp>
      <p:sp>
        <p:nvSpPr>
          <p:cNvPr id="23" name="Abgerundetes Rechteck 22"/>
          <p:cNvSpPr/>
          <p:nvPr/>
        </p:nvSpPr>
        <p:spPr>
          <a:xfrm>
            <a:off x="7010400" y="2286000"/>
            <a:ext cx="1879600" cy="1397000"/>
          </a:xfrm>
          <a:prstGeom prst="roundRect">
            <a:avLst/>
          </a:prstGeom>
          <a:solidFill>
            <a:srgbClr val="111927"/>
          </a:solidFill>
          <a:ln w="12700">
            <a:solidFill>
              <a:srgbClr val="2F3F5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4" name="Rechteck 23"/>
          <p:cNvSpPr/>
          <p:nvPr/>
        </p:nvSpPr>
        <p:spPr>
          <a:xfrm>
            <a:off x="7010400" y="2286000"/>
            <a:ext cx="63500" cy="1397000"/>
          </a:xfrm>
          <a:prstGeom prst="rect">
            <a:avLst/>
          </a:prstGeom>
          <a:solidFill>
            <a:srgbClr val="FFB14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5" name="Textfeld 24"/>
          <p:cNvSpPr txBox="1"/>
          <p:nvPr/>
        </p:nvSpPr>
        <p:spPr>
          <a:xfrm>
            <a:off x="7213600" y="2438400"/>
            <a:ext cx="15494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1400" b="1" smtClean="0">
                <a:solidFill>
                  <a:srgbClr val="F8FAFC"/>
                </a:solidFill>
                <a:latin typeface="Aptos Display"/>
              </a:rPr>
              <a:t>4 Live</a:t>
            </a:r>
            <a:endParaRPr lang="de-DE" sz="1400" b="1">
              <a:solidFill>
                <a:srgbClr val="F8FAFC"/>
              </a:solidFill>
              <a:latin typeface="Aptos Display"/>
            </a:endParaRPr>
          </a:p>
        </p:txBody>
      </p:sp>
      <p:sp>
        <p:nvSpPr>
          <p:cNvPr id="26" name="Textfeld 25"/>
          <p:cNvSpPr txBox="1"/>
          <p:nvPr/>
        </p:nvSpPr>
        <p:spPr>
          <a:xfrm>
            <a:off x="7213600" y="2768600"/>
            <a:ext cx="1549400" cy="5632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1020" smtClean="0">
                <a:solidFill>
                  <a:srgbClr val="BECDE6"/>
                </a:solidFill>
                <a:latin typeface="Aptos"/>
              </a:rPr>
              <a:t>Aktive Kampagne wird über /ads/active ausgeliefert.</a:t>
            </a:r>
            <a:endParaRPr lang="de-DE" sz="1020">
              <a:solidFill>
                <a:srgbClr val="BECDE6"/>
              </a:solidFill>
              <a:latin typeface="Aptos"/>
            </a:endParaRPr>
          </a:p>
        </p:txBody>
      </p:sp>
      <p:sp>
        <p:nvSpPr>
          <p:cNvPr id="27" name="Textfeld 26"/>
          <p:cNvSpPr txBox="1"/>
          <p:nvPr/>
        </p:nvSpPr>
        <p:spPr>
          <a:xfrm>
            <a:off x="8915400" y="2819400"/>
            <a:ext cx="2667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1400" b="1" smtClean="0">
                <a:solidFill>
                  <a:srgbClr val="7E97B8"/>
                </a:solidFill>
                <a:latin typeface="Aptos Display"/>
              </a:rPr>
              <a:t>-&gt;</a:t>
            </a:r>
            <a:endParaRPr lang="de-DE" sz="1400" b="1">
              <a:solidFill>
                <a:srgbClr val="7E97B8"/>
              </a:solidFill>
              <a:latin typeface="Aptos Display"/>
            </a:endParaRPr>
          </a:p>
        </p:txBody>
      </p:sp>
      <p:sp>
        <p:nvSpPr>
          <p:cNvPr id="28" name="Abgerundetes Rechteck 27"/>
          <p:cNvSpPr/>
          <p:nvPr/>
        </p:nvSpPr>
        <p:spPr>
          <a:xfrm>
            <a:off x="9169400" y="2286000"/>
            <a:ext cx="1879600" cy="1397000"/>
          </a:xfrm>
          <a:prstGeom prst="roundRect">
            <a:avLst/>
          </a:prstGeom>
          <a:solidFill>
            <a:srgbClr val="111927"/>
          </a:solidFill>
          <a:ln w="12700">
            <a:solidFill>
              <a:srgbClr val="2F3F5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9" name="Rechteck 28"/>
          <p:cNvSpPr/>
          <p:nvPr/>
        </p:nvSpPr>
        <p:spPr>
          <a:xfrm>
            <a:off x="9169400" y="2286000"/>
            <a:ext cx="63500" cy="1397000"/>
          </a:xfrm>
          <a:prstGeom prst="rect">
            <a:avLst/>
          </a:prstGeom>
          <a:solidFill>
            <a:srgbClr val="FF6B6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0" name="Textfeld 29"/>
          <p:cNvSpPr txBox="1"/>
          <p:nvPr/>
        </p:nvSpPr>
        <p:spPr>
          <a:xfrm>
            <a:off x="9372600" y="2438400"/>
            <a:ext cx="15494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1400" b="1" smtClean="0">
                <a:solidFill>
                  <a:srgbClr val="F8FAFC"/>
                </a:solidFill>
                <a:latin typeface="Aptos Display"/>
              </a:rPr>
              <a:t>5 Reporting</a:t>
            </a:r>
            <a:endParaRPr lang="de-DE" sz="1400" b="1">
              <a:solidFill>
                <a:srgbClr val="F8FAFC"/>
              </a:solidFill>
              <a:latin typeface="Aptos Display"/>
            </a:endParaRPr>
          </a:p>
        </p:txBody>
      </p:sp>
      <p:sp>
        <p:nvSpPr>
          <p:cNvPr id="31" name="Textfeld 30"/>
          <p:cNvSpPr txBox="1"/>
          <p:nvPr/>
        </p:nvSpPr>
        <p:spPr>
          <a:xfrm>
            <a:off x="9372600" y="2768600"/>
            <a:ext cx="1549400" cy="5632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020" smtClean="0">
                <a:solidFill>
                  <a:srgbClr val="BECDE6"/>
                </a:solidFill>
                <a:latin typeface="Aptos"/>
              </a:rPr>
              <a:t>Impressions, Klicks, Spend, CTR, Leads, Sales und Diagnose.</a:t>
            </a:r>
            <a:endParaRPr lang="de-DE" sz="1020">
              <a:solidFill>
                <a:srgbClr val="BECDE6"/>
              </a:solidFill>
              <a:latin typeface="Aptos"/>
            </a:endParaRPr>
          </a:p>
        </p:txBody>
      </p:sp>
      <p:sp>
        <p:nvSpPr>
          <p:cNvPr id="32" name="Textfeld 31"/>
          <p:cNvSpPr txBox="1"/>
          <p:nvPr/>
        </p:nvSpPr>
        <p:spPr>
          <a:xfrm>
            <a:off x="533400" y="4292600"/>
            <a:ext cx="10414000" cy="62324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1150" smtClean="0">
                <a:solidFill>
                  <a:srgbClr val="BECDE6"/>
                </a:solidFill>
                <a:latin typeface="Aptos"/>
              </a:rPr>
              <a:t>User Case: Ein Kursanbieter bewirbt ein Sommer-Camp. Ziel traffic oder leads, Placement marketplace_card, Region Saarland, Interessen Fußball/Camp, Laufzeit zwei Wochen.</a:t>
            </a:r>
          </a:p>
          <a:p>
            <a:r>
              <a:rPr lang="de-DE" sz="1150" smtClean="0">
                <a:solidFill>
                  <a:srgbClr val="BECDE6"/>
                </a:solidFill>
                <a:latin typeface="Aptos"/>
              </a:rPr>
              <a:t>User Case: Ein Sponsor bewirbt eine Plattform-Aktion. Ziel awareness, CPM-Abrechnung, breite Zielgruppe, Admin-Review vor Livegang.</a:t>
            </a:r>
            <a:endParaRPr lang="de-DE" sz="1150">
              <a:solidFill>
                <a:srgbClr val="BECDE6"/>
              </a:solidFill>
              <a:latin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22621958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eck 1"/>
          <p:cNvSpPr/>
          <p:nvPr/>
        </p:nvSpPr>
        <p:spPr>
          <a:xfrm>
            <a:off x="0" y="0"/>
            <a:ext cx="12192000" cy="101600"/>
          </a:xfrm>
          <a:prstGeom prst="rect">
            <a:avLst/>
          </a:prstGeom>
          <a:solidFill>
            <a:srgbClr val="3884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" name="Textfeld 2"/>
          <p:cNvSpPr txBox="1"/>
          <p:nvPr/>
        </p:nvSpPr>
        <p:spPr>
          <a:xfrm>
            <a:off x="533400" y="431800"/>
            <a:ext cx="3302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900" b="1" smtClean="0">
                <a:solidFill>
                  <a:srgbClr val="3884FF"/>
                </a:solidFill>
                <a:latin typeface="Aptos"/>
              </a:rPr>
              <a:t>ADMIN WORKFLOW</a:t>
            </a:r>
            <a:endParaRPr lang="de-DE" sz="900" b="1">
              <a:solidFill>
                <a:srgbClr val="3884FF"/>
              </a:solidFill>
              <a:latin typeface="Aptos"/>
            </a:endParaRPr>
          </a:p>
        </p:txBody>
      </p:sp>
      <p:sp>
        <p:nvSpPr>
          <p:cNvPr id="4" name="Textfeld 3"/>
          <p:cNvSpPr txBox="1"/>
          <p:nvPr/>
        </p:nvSpPr>
        <p:spPr>
          <a:xfrm>
            <a:off x="533400" y="736600"/>
            <a:ext cx="102235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2800" b="1" smtClean="0">
                <a:solidFill>
                  <a:srgbClr val="F8FAFC"/>
                </a:solidFill>
                <a:latin typeface="Aptos Display"/>
              </a:rPr>
              <a:t>Was Admins kontrollieren müssen</a:t>
            </a:r>
            <a:endParaRPr lang="de-DE" sz="2800" b="1">
              <a:solidFill>
                <a:srgbClr val="F8FAFC"/>
              </a:solidFill>
              <a:latin typeface="Aptos Display"/>
            </a:endParaRPr>
          </a:p>
        </p:txBody>
      </p:sp>
      <p:sp>
        <p:nvSpPr>
          <p:cNvPr id="5" name="Textfeld 4"/>
          <p:cNvSpPr txBox="1"/>
          <p:nvPr/>
        </p:nvSpPr>
        <p:spPr>
          <a:xfrm>
            <a:off x="533400" y="1422400"/>
            <a:ext cx="10414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1200" smtClean="0">
                <a:solidFill>
                  <a:srgbClr val="BECDE6"/>
                </a:solidFill>
                <a:latin typeface="Aptos"/>
              </a:rPr>
              <a:t>Admin-Commerce ist nicht nur eine Liste. Es ist die Schaltzentrale für Preise, Freigabe, Diagnose, Finance und Qualität.</a:t>
            </a:r>
            <a:endParaRPr lang="de-DE" sz="1200">
              <a:solidFill>
                <a:srgbClr val="BECDE6"/>
              </a:solidFill>
              <a:latin typeface="Aptos"/>
            </a:endParaRPr>
          </a:p>
        </p:txBody>
      </p:sp>
      <p:sp>
        <p:nvSpPr>
          <p:cNvPr id="6" name="Textfeld 5"/>
          <p:cNvSpPr txBox="1"/>
          <p:nvPr/>
        </p:nvSpPr>
        <p:spPr>
          <a:xfrm>
            <a:off x="533400" y="6451600"/>
            <a:ext cx="66040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800" smtClean="0">
                <a:solidFill>
                  <a:srgbClr val="7E97B8"/>
                </a:solidFill>
                <a:latin typeface="Aptos"/>
              </a:rPr>
              <a:t>Airmius Ads System | Produkt-, Technik- und Finance-Dokumentation</a:t>
            </a:r>
            <a:endParaRPr lang="de-DE" sz="800">
              <a:solidFill>
                <a:srgbClr val="7E97B8"/>
              </a:solidFill>
              <a:latin typeface="Aptos"/>
            </a:endParaRPr>
          </a:p>
        </p:txBody>
      </p:sp>
      <p:sp>
        <p:nvSpPr>
          <p:cNvPr id="7" name="Textfeld 6"/>
          <p:cNvSpPr txBox="1"/>
          <p:nvPr/>
        </p:nvSpPr>
        <p:spPr>
          <a:xfrm>
            <a:off x="11112500" y="64516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1000" b="1" smtClean="0">
                <a:solidFill>
                  <a:srgbClr val="3884FF"/>
                </a:solidFill>
                <a:latin typeface="Aptos Display"/>
              </a:rPr>
              <a:t>07</a:t>
            </a:r>
            <a:endParaRPr lang="de-DE" sz="1000" b="1">
              <a:solidFill>
                <a:srgbClr val="3884FF"/>
              </a:solidFill>
              <a:latin typeface="Aptos Display"/>
            </a:endParaRPr>
          </a:p>
        </p:txBody>
      </p:sp>
      <p:sp>
        <p:nvSpPr>
          <p:cNvPr id="8" name="Abgerundetes Rechteck 7"/>
          <p:cNvSpPr/>
          <p:nvPr/>
        </p:nvSpPr>
        <p:spPr>
          <a:xfrm>
            <a:off x="533400" y="2184400"/>
            <a:ext cx="3302000" cy="1524000"/>
          </a:xfrm>
          <a:prstGeom prst="roundRect">
            <a:avLst/>
          </a:prstGeom>
          <a:solidFill>
            <a:srgbClr val="111927"/>
          </a:solidFill>
          <a:ln w="12700">
            <a:solidFill>
              <a:srgbClr val="2F3F5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9" name="Rechteck 8"/>
          <p:cNvSpPr/>
          <p:nvPr/>
        </p:nvSpPr>
        <p:spPr>
          <a:xfrm>
            <a:off x="533400" y="2184400"/>
            <a:ext cx="63500" cy="1524000"/>
          </a:xfrm>
          <a:prstGeom prst="rect">
            <a:avLst/>
          </a:prstGeom>
          <a:solidFill>
            <a:srgbClr val="3884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0" name="Textfeld 9"/>
          <p:cNvSpPr txBox="1"/>
          <p:nvPr/>
        </p:nvSpPr>
        <p:spPr>
          <a:xfrm>
            <a:off x="736600" y="2336800"/>
            <a:ext cx="29718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1400" b="1" smtClean="0">
                <a:solidFill>
                  <a:srgbClr val="F8FAFC"/>
                </a:solidFill>
                <a:latin typeface="Aptos Display"/>
              </a:rPr>
              <a:t>Freigabe</a:t>
            </a:r>
            <a:endParaRPr lang="de-DE" sz="1400" b="1">
              <a:solidFill>
                <a:srgbClr val="F8FAFC"/>
              </a:solidFill>
              <a:latin typeface="Aptos Display"/>
            </a:endParaRPr>
          </a:p>
        </p:txBody>
      </p:sp>
      <p:sp>
        <p:nvSpPr>
          <p:cNvPr id="11" name="Textfeld 10"/>
          <p:cNvSpPr txBox="1"/>
          <p:nvPr/>
        </p:nvSpPr>
        <p:spPr>
          <a:xfrm>
            <a:off x="736600" y="2667000"/>
            <a:ext cx="2971800" cy="4062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1020" smtClean="0">
                <a:solidFill>
                  <a:srgbClr val="BECDE6"/>
                </a:solidFill>
                <a:latin typeface="Aptos"/>
              </a:rPr>
              <a:t>Status ändern, review_note setzen, bezahlte User-Kampagnen aktivieren oder ablehnen.</a:t>
            </a:r>
            <a:endParaRPr lang="de-DE" sz="1020">
              <a:solidFill>
                <a:srgbClr val="BECDE6"/>
              </a:solidFill>
              <a:latin typeface="Aptos"/>
            </a:endParaRPr>
          </a:p>
        </p:txBody>
      </p:sp>
      <p:sp>
        <p:nvSpPr>
          <p:cNvPr id="12" name="Abgerundetes Rechteck 11"/>
          <p:cNvSpPr/>
          <p:nvPr/>
        </p:nvSpPr>
        <p:spPr>
          <a:xfrm>
            <a:off x="4140200" y="2184400"/>
            <a:ext cx="3302000" cy="1524000"/>
          </a:xfrm>
          <a:prstGeom prst="roundRect">
            <a:avLst/>
          </a:prstGeom>
          <a:solidFill>
            <a:srgbClr val="111927"/>
          </a:solidFill>
          <a:ln w="12700">
            <a:solidFill>
              <a:srgbClr val="2F3F5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3" name="Rechteck 12"/>
          <p:cNvSpPr/>
          <p:nvPr/>
        </p:nvSpPr>
        <p:spPr>
          <a:xfrm>
            <a:off x="4140200" y="2184400"/>
            <a:ext cx="63500" cy="1524000"/>
          </a:xfrm>
          <a:prstGeom prst="rect">
            <a:avLst/>
          </a:prstGeom>
          <a:solidFill>
            <a:srgbClr val="26C6D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4" name="Textfeld 13"/>
          <p:cNvSpPr txBox="1"/>
          <p:nvPr/>
        </p:nvSpPr>
        <p:spPr>
          <a:xfrm>
            <a:off x="4343400" y="2336800"/>
            <a:ext cx="29718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1400" b="1" smtClean="0">
                <a:solidFill>
                  <a:srgbClr val="F8FAFC"/>
                </a:solidFill>
                <a:latin typeface="Aptos Display"/>
              </a:rPr>
              <a:t>Pricing &amp; Caps</a:t>
            </a:r>
            <a:endParaRPr lang="de-DE" sz="1400" b="1">
              <a:solidFill>
                <a:srgbClr val="F8FAFC"/>
              </a:solidFill>
              <a:latin typeface="Aptos Display"/>
            </a:endParaRPr>
          </a:p>
        </p:txBody>
      </p:sp>
      <p:sp>
        <p:nvSpPr>
          <p:cNvPr id="15" name="Textfeld 14"/>
          <p:cNvSpPr txBox="1"/>
          <p:nvPr/>
        </p:nvSpPr>
        <p:spPr>
          <a:xfrm>
            <a:off x="4343400" y="2667000"/>
            <a:ext cx="2971800" cy="4062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1020" smtClean="0">
                <a:solidFill>
                  <a:srgbClr val="BECDE6"/>
                </a:solidFill>
                <a:latin typeface="Aptos"/>
              </a:rPr>
              <a:t>CPM, CPC, CPL, CPA, Mindestbudget und Placement-Caps konfigurieren.</a:t>
            </a:r>
            <a:endParaRPr lang="de-DE" sz="1020">
              <a:solidFill>
                <a:srgbClr val="BECDE6"/>
              </a:solidFill>
              <a:latin typeface="Aptos"/>
            </a:endParaRPr>
          </a:p>
        </p:txBody>
      </p:sp>
      <p:sp>
        <p:nvSpPr>
          <p:cNvPr id="16" name="Abgerundetes Rechteck 15"/>
          <p:cNvSpPr/>
          <p:nvPr/>
        </p:nvSpPr>
        <p:spPr>
          <a:xfrm>
            <a:off x="7747000" y="2184400"/>
            <a:ext cx="3302000" cy="1524000"/>
          </a:xfrm>
          <a:prstGeom prst="roundRect">
            <a:avLst/>
          </a:prstGeom>
          <a:solidFill>
            <a:srgbClr val="111927"/>
          </a:solidFill>
          <a:ln w="12700">
            <a:solidFill>
              <a:srgbClr val="2F3F5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7" name="Rechteck 16"/>
          <p:cNvSpPr/>
          <p:nvPr/>
        </p:nvSpPr>
        <p:spPr>
          <a:xfrm>
            <a:off x="7747000" y="2184400"/>
            <a:ext cx="63500" cy="1524000"/>
          </a:xfrm>
          <a:prstGeom prst="rect">
            <a:avLst/>
          </a:prstGeom>
          <a:solidFill>
            <a:srgbClr val="3AD39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8" name="Textfeld 17"/>
          <p:cNvSpPr txBox="1"/>
          <p:nvPr/>
        </p:nvSpPr>
        <p:spPr>
          <a:xfrm>
            <a:off x="7950200" y="2336800"/>
            <a:ext cx="29718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1400" b="1" smtClean="0">
                <a:solidFill>
                  <a:srgbClr val="F8FAFC"/>
                </a:solidFill>
                <a:latin typeface="Aptos Display"/>
              </a:rPr>
              <a:t>Diagnose</a:t>
            </a:r>
            <a:endParaRPr lang="de-DE" sz="1400" b="1">
              <a:solidFill>
                <a:srgbClr val="F8FAFC"/>
              </a:solidFill>
              <a:latin typeface="Aptos Display"/>
            </a:endParaRPr>
          </a:p>
        </p:txBody>
      </p:sp>
      <p:sp>
        <p:nvSpPr>
          <p:cNvPr id="19" name="Textfeld 18"/>
          <p:cNvSpPr txBox="1"/>
          <p:nvPr/>
        </p:nvSpPr>
        <p:spPr>
          <a:xfrm>
            <a:off x="7950200" y="2667000"/>
            <a:ext cx="2971800" cy="5632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1020" smtClean="0">
                <a:solidFill>
                  <a:srgbClr val="BECDE6"/>
                </a:solidFill>
                <a:latin typeface="Aptos"/>
              </a:rPr>
              <a:t>Warum liefert Kampagne X nicht? Status, Budget, Pacing, Laufzeit, Audience, Conversion-Signal.</a:t>
            </a:r>
            <a:endParaRPr lang="de-DE" sz="1020">
              <a:solidFill>
                <a:srgbClr val="BECDE6"/>
              </a:solidFill>
              <a:latin typeface="Aptos"/>
            </a:endParaRPr>
          </a:p>
        </p:txBody>
      </p:sp>
      <p:sp>
        <p:nvSpPr>
          <p:cNvPr id="20" name="Abgerundetes Rechteck 19"/>
          <p:cNvSpPr/>
          <p:nvPr/>
        </p:nvSpPr>
        <p:spPr>
          <a:xfrm>
            <a:off x="533400" y="4038600"/>
            <a:ext cx="5105400" cy="1422400"/>
          </a:xfrm>
          <a:prstGeom prst="roundRect">
            <a:avLst/>
          </a:prstGeom>
          <a:solidFill>
            <a:srgbClr val="111927"/>
          </a:solidFill>
          <a:ln w="12700">
            <a:solidFill>
              <a:srgbClr val="2F3F5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1" name="Rechteck 20"/>
          <p:cNvSpPr/>
          <p:nvPr/>
        </p:nvSpPr>
        <p:spPr>
          <a:xfrm>
            <a:off x="533400" y="4038600"/>
            <a:ext cx="63500" cy="1422400"/>
          </a:xfrm>
          <a:prstGeom prst="rect">
            <a:avLst/>
          </a:prstGeom>
          <a:solidFill>
            <a:srgbClr val="FFB14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2" name="Textfeld 21"/>
          <p:cNvSpPr txBox="1"/>
          <p:nvPr/>
        </p:nvSpPr>
        <p:spPr>
          <a:xfrm>
            <a:off x="736600" y="4191000"/>
            <a:ext cx="47752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1400" b="1" smtClean="0">
                <a:solidFill>
                  <a:srgbClr val="F8FAFC"/>
                </a:solidFill>
                <a:latin typeface="Aptos Display"/>
              </a:rPr>
              <a:t>Interne Kampagnen</a:t>
            </a:r>
            <a:endParaRPr lang="de-DE" sz="1400" b="1">
              <a:solidFill>
                <a:srgbClr val="F8FAFC"/>
              </a:solidFill>
              <a:latin typeface="Aptos Display"/>
            </a:endParaRPr>
          </a:p>
        </p:txBody>
      </p:sp>
      <p:sp>
        <p:nvSpPr>
          <p:cNvPr id="23" name="Textfeld 22"/>
          <p:cNvSpPr txBox="1"/>
          <p:nvPr/>
        </p:nvSpPr>
        <p:spPr>
          <a:xfrm>
            <a:off x="736600" y="4521200"/>
            <a:ext cx="4775200" cy="5632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1020" smtClean="0">
                <a:solidFill>
                  <a:srgbClr val="BECDE6"/>
                </a:solidFill>
                <a:latin typeface="Aptos"/>
              </a:rPr>
              <a:t>Nur Admins dürfen interne Kampagnen und force_priority setzen. Diese kosten kein Budget, können Airmius-Flächen strategisch besetzen und bleiben trotzdem capped.</a:t>
            </a:r>
            <a:endParaRPr lang="de-DE" sz="1020">
              <a:solidFill>
                <a:srgbClr val="BECDE6"/>
              </a:solidFill>
              <a:latin typeface="Aptos"/>
            </a:endParaRPr>
          </a:p>
        </p:txBody>
      </p:sp>
      <p:sp>
        <p:nvSpPr>
          <p:cNvPr id="24" name="Abgerundetes Rechteck 23"/>
          <p:cNvSpPr/>
          <p:nvPr/>
        </p:nvSpPr>
        <p:spPr>
          <a:xfrm>
            <a:off x="5943600" y="4038600"/>
            <a:ext cx="5105400" cy="1422400"/>
          </a:xfrm>
          <a:prstGeom prst="roundRect">
            <a:avLst/>
          </a:prstGeom>
          <a:solidFill>
            <a:srgbClr val="111927"/>
          </a:solidFill>
          <a:ln w="12700">
            <a:solidFill>
              <a:srgbClr val="2F3F5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5" name="Rechteck 24"/>
          <p:cNvSpPr/>
          <p:nvPr/>
        </p:nvSpPr>
        <p:spPr>
          <a:xfrm>
            <a:off x="5943600" y="4038600"/>
            <a:ext cx="63500" cy="1422400"/>
          </a:xfrm>
          <a:prstGeom prst="rect">
            <a:avLst/>
          </a:prstGeom>
          <a:solidFill>
            <a:srgbClr val="3884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6" name="Textfeld 25"/>
          <p:cNvSpPr txBox="1"/>
          <p:nvPr/>
        </p:nvSpPr>
        <p:spPr>
          <a:xfrm>
            <a:off x="6146800" y="4191000"/>
            <a:ext cx="47752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1400" b="1" smtClean="0">
                <a:solidFill>
                  <a:srgbClr val="F8FAFC"/>
                </a:solidFill>
                <a:latin typeface="Aptos Display"/>
              </a:rPr>
              <a:t>Reports</a:t>
            </a:r>
            <a:endParaRPr lang="de-DE" sz="1400" b="1">
              <a:solidFill>
                <a:srgbClr val="F8FAFC"/>
              </a:solidFill>
              <a:latin typeface="Aptos Display"/>
            </a:endParaRPr>
          </a:p>
        </p:txBody>
      </p:sp>
      <p:sp>
        <p:nvSpPr>
          <p:cNvPr id="27" name="Textfeld 26"/>
          <p:cNvSpPr txBox="1"/>
          <p:nvPr/>
        </p:nvSpPr>
        <p:spPr>
          <a:xfrm>
            <a:off x="6146800" y="4521200"/>
            <a:ext cx="4775200" cy="4062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1020" smtClean="0">
                <a:solidFill>
                  <a:srgbClr val="BECDE6"/>
                </a:solidFill>
                <a:latin typeface="Aptos"/>
              </a:rPr>
              <a:t>Gesamtwerte und Placement-Berichte: Impressions, Klicks, Leads, Sales, Kosten, Wert und CTR pro Placement.</a:t>
            </a:r>
            <a:endParaRPr lang="de-DE" sz="1020">
              <a:solidFill>
                <a:srgbClr val="BECDE6"/>
              </a:solidFill>
              <a:latin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9818895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eck 1"/>
          <p:cNvSpPr/>
          <p:nvPr/>
        </p:nvSpPr>
        <p:spPr>
          <a:xfrm>
            <a:off x="0" y="0"/>
            <a:ext cx="12192000" cy="101600"/>
          </a:xfrm>
          <a:prstGeom prst="rect">
            <a:avLst/>
          </a:prstGeom>
          <a:solidFill>
            <a:srgbClr val="3884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" name="Textfeld 2"/>
          <p:cNvSpPr txBox="1"/>
          <p:nvPr/>
        </p:nvSpPr>
        <p:spPr>
          <a:xfrm>
            <a:off x="533400" y="431800"/>
            <a:ext cx="3302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900" b="1" smtClean="0">
                <a:solidFill>
                  <a:srgbClr val="3884FF"/>
                </a:solidFill>
                <a:latin typeface="Aptos"/>
              </a:rPr>
              <a:t>DELIVERY PIPELINE</a:t>
            </a:r>
            <a:endParaRPr lang="de-DE" sz="900" b="1">
              <a:solidFill>
                <a:srgbClr val="3884FF"/>
              </a:solidFill>
              <a:latin typeface="Aptos"/>
            </a:endParaRPr>
          </a:p>
        </p:txBody>
      </p:sp>
      <p:sp>
        <p:nvSpPr>
          <p:cNvPr id="4" name="Textfeld 3"/>
          <p:cNvSpPr txBox="1"/>
          <p:nvPr/>
        </p:nvSpPr>
        <p:spPr>
          <a:xfrm>
            <a:off x="533400" y="736600"/>
            <a:ext cx="102235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2800" b="1" smtClean="0">
                <a:solidFill>
                  <a:srgbClr val="F8FAFC"/>
                </a:solidFill>
                <a:latin typeface="Aptos Display"/>
              </a:rPr>
              <a:t>Was bei GET /ads/active passiert</a:t>
            </a:r>
            <a:endParaRPr lang="de-DE" sz="2800" b="1">
              <a:solidFill>
                <a:srgbClr val="F8FAFC"/>
              </a:solidFill>
              <a:latin typeface="Aptos Display"/>
            </a:endParaRPr>
          </a:p>
        </p:txBody>
      </p:sp>
      <p:sp>
        <p:nvSpPr>
          <p:cNvPr id="5" name="Textfeld 4"/>
          <p:cNvSpPr txBox="1"/>
          <p:nvPr/>
        </p:nvSpPr>
        <p:spPr>
          <a:xfrm>
            <a:off x="533400" y="1422400"/>
            <a:ext cx="10414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1200" smtClean="0">
                <a:solidFill>
                  <a:srgbClr val="BECDE6"/>
                </a:solidFill>
                <a:latin typeface="Aptos"/>
              </a:rPr>
              <a:t>Die Ausspielung ist eine Filter- und Gewichtungsmaschine, kein simples latest campaign.</a:t>
            </a:r>
            <a:endParaRPr lang="de-DE" sz="1200">
              <a:solidFill>
                <a:srgbClr val="BECDE6"/>
              </a:solidFill>
              <a:latin typeface="Aptos"/>
            </a:endParaRPr>
          </a:p>
        </p:txBody>
      </p:sp>
      <p:sp>
        <p:nvSpPr>
          <p:cNvPr id="6" name="Textfeld 5"/>
          <p:cNvSpPr txBox="1"/>
          <p:nvPr/>
        </p:nvSpPr>
        <p:spPr>
          <a:xfrm>
            <a:off x="533400" y="6451600"/>
            <a:ext cx="66040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800" smtClean="0">
                <a:solidFill>
                  <a:srgbClr val="7E97B8"/>
                </a:solidFill>
                <a:latin typeface="Aptos"/>
              </a:rPr>
              <a:t>Airmius Ads System | Produkt-, Technik- und Finance-Dokumentation</a:t>
            </a:r>
            <a:endParaRPr lang="de-DE" sz="800">
              <a:solidFill>
                <a:srgbClr val="7E97B8"/>
              </a:solidFill>
              <a:latin typeface="Aptos"/>
            </a:endParaRPr>
          </a:p>
        </p:txBody>
      </p:sp>
      <p:sp>
        <p:nvSpPr>
          <p:cNvPr id="7" name="Textfeld 6"/>
          <p:cNvSpPr txBox="1"/>
          <p:nvPr/>
        </p:nvSpPr>
        <p:spPr>
          <a:xfrm>
            <a:off x="11112500" y="64516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1000" b="1" smtClean="0">
                <a:solidFill>
                  <a:srgbClr val="3884FF"/>
                </a:solidFill>
                <a:latin typeface="Aptos Display"/>
              </a:rPr>
              <a:t>08</a:t>
            </a:r>
            <a:endParaRPr lang="de-DE" sz="1000" b="1">
              <a:solidFill>
                <a:srgbClr val="3884FF"/>
              </a:solidFill>
              <a:latin typeface="Aptos Display"/>
            </a:endParaRPr>
          </a:p>
        </p:txBody>
      </p:sp>
      <p:sp>
        <p:nvSpPr>
          <p:cNvPr id="8" name="Abgerundetes Rechteck 7"/>
          <p:cNvSpPr/>
          <p:nvPr/>
        </p:nvSpPr>
        <p:spPr>
          <a:xfrm>
            <a:off x="533400" y="2286000"/>
            <a:ext cx="1879600" cy="1397000"/>
          </a:xfrm>
          <a:prstGeom prst="roundRect">
            <a:avLst/>
          </a:prstGeom>
          <a:solidFill>
            <a:srgbClr val="111927"/>
          </a:solidFill>
          <a:ln w="12700">
            <a:solidFill>
              <a:srgbClr val="2F3F5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9" name="Rechteck 8"/>
          <p:cNvSpPr/>
          <p:nvPr/>
        </p:nvSpPr>
        <p:spPr>
          <a:xfrm>
            <a:off x="533400" y="2286000"/>
            <a:ext cx="63500" cy="1397000"/>
          </a:xfrm>
          <a:prstGeom prst="rect">
            <a:avLst/>
          </a:prstGeom>
          <a:solidFill>
            <a:srgbClr val="3884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0" name="Textfeld 9"/>
          <p:cNvSpPr txBox="1"/>
          <p:nvPr/>
        </p:nvSpPr>
        <p:spPr>
          <a:xfrm>
            <a:off x="736600" y="2438400"/>
            <a:ext cx="15494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1400" b="1" smtClean="0">
                <a:solidFill>
                  <a:srgbClr val="F8FAFC"/>
                </a:solidFill>
                <a:latin typeface="Aptos Display"/>
              </a:rPr>
              <a:t>Request</a:t>
            </a:r>
            <a:endParaRPr lang="de-DE" sz="1400" b="1">
              <a:solidFill>
                <a:srgbClr val="F8FAFC"/>
              </a:solidFill>
              <a:latin typeface="Aptos Display"/>
            </a:endParaRPr>
          </a:p>
        </p:txBody>
      </p:sp>
      <p:sp>
        <p:nvSpPr>
          <p:cNvPr id="11" name="Textfeld 10"/>
          <p:cNvSpPr txBox="1"/>
          <p:nvPr/>
        </p:nvSpPr>
        <p:spPr>
          <a:xfrm>
            <a:off x="736600" y="2768600"/>
            <a:ext cx="1549400" cy="5632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1020" smtClean="0">
                <a:solidFill>
                  <a:srgbClr val="BECDE6"/>
                </a:solidFill>
                <a:latin typeface="Aptos"/>
              </a:rPr>
              <a:t>Placement und optional Objective kommen vom Frontend.</a:t>
            </a:r>
            <a:endParaRPr lang="de-DE" sz="1020">
              <a:solidFill>
                <a:srgbClr val="BECDE6"/>
              </a:solidFill>
              <a:latin typeface="Aptos"/>
            </a:endParaRPr>
          </a:p>
        </p:txBody>
      </p:sp>
      <p:sp>
        <p:nvSpPr>
          <p:cNvPr id="12" name="Textfeld 11"/>
          <p:cNvSpPr txBox="1"/>
          <p:nvPr/>
        </p:nvSpPr>
        <p:spPr>
          <a:xfrm>
            <a:off x="2438400" y="2819400"/>
            <a:ext cx="2667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1400" b="1" smtClean="0">
                <a:solidFill>
                  <a:srgbClr val="7E97B8"/>
                </a:solidFill>
                <a:latin typeface="Aptos Display"/>
              </a:rPr>
              <a:t>-&gt;</a:t>
            </a:r>
            <a:endParaRPr lang="de-DE" sz="1400" b="1">
              <a:solidFill>
                <a:srgbClr val="7E97B8"/>
              </a:solidFill>
              <a:latin typeface="Aptos Display"/>
            </a:endParaRPr>
          </a:p>
        </p:txBody>
      </p:sp>
      <p:sp>
        <p:nvSpPr>
          <p:cNvPr id="13" name="Abgerundetes Rechteck 12"/>
          <p:cNvSpPr/>
          <p:nvPr/>
        </p:nvSpPr>
        <p:spPr>
          <a:xfrm>
            <a:off x="2692400" y="2286000"/>
            <a:ext cx="1879600" cy="1397000"/>
          </a:xfrm>
          <a:prstGeom prst="roundRect">
            <a:avLst/>
          </a:prstGeom>
          <a:solidFill>
            <a:srgbClr val="111927"/>
          </a:solidFill>
          <a:ln w="12700">
            <a:solidFill>
              <a:srgbClr val="2F3F5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4" name="Rechteck 13"/>
          <p:cNvSpPr/>
          <p:nvPr/>
        </p:nvSpPr>
        <p:spPr>
          <a:xfrm>
            <a:off x="2692400" y="2286000"/>
            <a:ext cx="63500" cy="1397000"/>
          </a:xfrm>
          <a:prstGeom prst="rect">
            <a:avLst/>
          </a:prstGeom>
          <a:solidFill>
            <a:srgbClr val="26C6D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5" name="Textfeld 14"/>
          <p:cNvSpPr txBox="1"/>
          <p:nvPr/>
        </p:nvSpPr>
        <p:spPr>
          <a:xfrm>
            <a:off x="2895600" y="2438400"/>
            <a:ext cx="15494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1400" b="1" smtClean="0">
                <a:solidFill>
                  <a:srgbClr val="F8FAFC"/>
                </a:solidFill>
                <a:latin typeface="Aptos Display"/>
              </a:rPr>
              <a:t>Kandidaten</a:t>
            </a:r>
            <a:endParaRPr lang="de-DE" sz="1400" b="1">
              <a:solidFill>
                <a:srgbClr val="F8FAFC"/>
              </a:solidFill>
              <a:latin typeface="Aptos Display"/>
            </a:endParaRPr>
          </a:p>
        </p:txBody>
      </p:sp>
      <p:sp>
        <p:nvSpPr>
          <p:cNvPr id="16" name="Textfeld 15"/>
          <p:cNvSpPr txBox="1"/>
          <p:nvPr/>
        </p:nvSpPr>
        <p:spPr>
          <a:xfrm>
            <a:off x="2895600" y="2768600"/>
            <a:ext cx="1549400" cy="5632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1020" smtClean="0">
                <a:solidFill>
                  <a:srgbClr val="BECDE6"/>
                </a:solidFill>
                <a:latin typeface="Aptos"/>
              </a:rPr>
              <a:t>Nur active, Laufzeit gültig, Budget vorhanden oder intern.</a:t>
            </a:r>
            <a:endParaRPr lang="de-DE" sz="1020">
              <a:solidFill>
                <a:srgbClr val="BECDE6"/>
              </a:solidFill>
              <a:latin typeface="Aptos"/>
            </a:endParaRPr>
          </a:p>
        </p:txBody>
      </p:sp>
      <p:sp>
        <p:nvSpPr>
          <p:cNvPr id="17" name="Textfeld 16"/>
          <p:cNvSpPr txBox="1"/>
          <p:nvPr/>
        </p:nvSpPr>
        <p:spPr>
          <a:xfrm>
            <a:off x="4597400" y="2819400"/>
            <a:ext cx="2667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1400" b="1" smtClean="0">
                <a:solidFill>
                  <a:srgbClr val="7E97B8"/>
                </a:solidFill>
                <a:latin typeface="Aptos Display"/>
              </a:rPr>
              <a:t>-&gt;</a:t>
            </a:r>
            <a:endParaRPr lang="de-DE" sz="1400" b="1">
              <a:solidFill>
                <a:srgbClr val="7E97B8"/>
              </a:solidFill>
              <a:latin typeface="Aptos Display"/>
            </a:endParaRPr>
          </a:p>
        </p:txBody>
      </p:sp>
      <p:sp>
        <p:nvSpPr>
          <p:cNvPr id="18" name="Abgerundetes Rechteck 17"/>
          <p:cNvSpPr/>
          <p:nvPr/>
        </p:nvSpPr>
        <p:spPr>
          <a:xfrm>
            <a:off x="4851400" y="2286000"/>
            <a:ext cx="1879600" cy="1397000"/>
          </a:xfrm>
          <a:prstGeom prst="roundRect">
            <a:avLst/>
          </a:prstGeom>
          <a:solidFill>
            <a:srgbClr val="111927"/>
          </a:solidFill>
          <a:ln w="12700">
            <a:solidFill>
              <a:srgbClr val="2F3F5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9" name="Rechteck 18"/>
          <p:cNvSpPr/>
          <p:nvPr/>
        </p:nvSpPr>
        <p:spPr>
          <a:xfrm>
            <a:off x="4851400" y="2286000"/>
            <a:ext cx="63500" cy="1397000"/>
          </a:xfrm>
          <a:prstGeom prst="rect">
            <a:avLst/>
          </a:prstGeom>
          <a:solidFill>
            <a:srgbClr val="3AD39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0" name="Textfeld 19"/>
          <p:cNvSpPr txBox="1"/>
          <p:nvPr/>
        </p:nvSpPr>
        <p:spPr>
          <a:xfrm>
            <a:off x="5054600" y="2438400"/>
            <a:ext cx="15494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1400" b="1" smtClean="0">
                <a:solidFill>
                  <a:srgbClr val="F8FAFC"/>
                </a:solidFill>
                <a:latin typeface="Aptos Display"/>
              </a:rPr>
              <a:t>Filter</a:t>
            </a:r>
            <a:endParaRPr lang="de-DE" sz="1400" b="1">
              <a:solidFill>
                <a:srgbClr val="F8FAFC"/>
              </a:solidFill>
              <a:latin typeface="Aptos Display"/>
            </a:endParaRPr>
          </a:p>
        </p:txBody>
      </p:sp>
      <p:sp>
        <p:nvSpPr>
          <p:cNvPr id="21" name="Textfeld 20"/>
          <p:cNvSpPr txBox="1"/>
          <p:nvPr/>
        </p:nvSpPr>
        <p:spPr>
          <a:xfrm>
            <a:off x="5054600" y="2768600"/>
            <a:ext cx="1549400" cy="5632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020" smtClean="0">
                <a:solidFill>
                  <a:srgbClr val="BECDE6"/>
                </a:solidFill>
                <a:latin typeface="Aptos"/>
              </a:rPr>
              <a:t>Budget, Frequency Cap, Pacing und Audience Matching.</a:t>
            </a:r>
            <a:endParaRPr lang="de-DE" sz="1020">
              <a:solidFill>
                <a:srgbClr val="BECDE6"/>
              </a:solidFill>
              <a:latin typeface="Aptos"/>
            </a:endParaRPr>
          </a:p>
        </p:txBody>
      </p:sp>
      <p:sp>
        <p:nvSpPr>
          <p:cNvPr id="22" name="Textfeld 21"/>
          <p:cNvSpPr txBox="1"/>
          <p:nvPr/>
        </p:nvSpPr>
        <p:spPr>
          <a:xfrm>
            <a:off x="6756400" y="2819400"/>
            <a:ext cx="2667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1400" b="1" smtClean="0">
                <a:solidFill>
                  <a:srgbClr val="7E97B8"/>
                </a:solidFill>
                <a:latin typeface="Aptos Display"/>
              </a:rPr>
              <a:t>-&gt;</a:t>
            </a:r>
            <a:endParaRPr lang="de-DE" sz="1400" b="1">
              <a:solidFill>
                <a:srgbClr val="7E97B8"/>
              </a:solidFill>
              <a:latin typeface="Aptos Display"/>
            </a:endParaRPr>
          </a:p>
        </p:txBody>
      </p:sp>
      <p:sp>
        <p:nvSpPr>
          <p:cNvPr id="23" name="Abgerundetes Rechteck 22"/>
          <p:cNvSpPr/>
          <p:nvPr/>
        </p:nvSpPr>
        <p:spPr>
          <a:xfrm>
            <a:off x="7010400" y="2286000"/>
            <a:ext cx="1879600" cy="1397000"/>
          </a:xfrm>
          <a:prstGeom prst="roundRect">
            <a:avLst/>
          </a:prstGeom>
          <a:solidFill>
            <a:srgbClr val="111927"/>
          </a:solidFill>
          <a:ln w="12700">
            <a:solidFill>
              <a:srgbClr val="2F3F5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4" name="Rechteck 23"/>
          <p:cNvSpPr/>
          <p:nvPr/>
        </p:nvSpPr>
        <p:spPr>
          <a:xfrm>
            <a:off x="7010400" y="2286000"/>
            <a:ext cx="63500" cy="1397000"/>
          </a:xfrm>
          <a:prstGeom prst="rect">
            <a:avLst/>
          </a:prstGeom>
          <a:solidFill>
            <a:srgbClr val="FFB14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5" name="Textfeld 24"/>
          <p:cNvSpPr txBox="1"/>
          <p:nvPr/>
        </p:nvSpPr>
        <p:spPr>
          <a:xfrm>
            <a:off x="7213600" y="2438400"/>
            <a:ext cx="15494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1400" b="1" smtClean="0">
                <a:solidFill>
                  <a:srgbClr val="F8FAFC"/>
                </a:solidFill>
                <a:latin typeface="Aptos Display"/>
              </a:rPr>
              <a:t>Gewichtung</a:t>
            </a:r>
            <a:endParaRPr lang="de-DE" sz="1400" b="1">
              <a:solidFill>
                <a:srgbClr val="F8FAFC"/>
              </a:solidFill>
              <a:latin typeface="Aptos Display"/>
            </a:endParaRPr>
          </a:p>
        </p:txBody>
      </p:sp>
      <p:sp>
        <p:nvSpPr>
          <p:cNvPr id="26" name="Textfeld 25"/>
          <p:cNvSpPr txBox="1"/>
          <p:nvPr/>
        </p:nvSpPr>
        <p:spPr>
          <a:xfrm>
            <a:off x="7213600" y="2768600"/>
            <a:ext cx="1549400" cy="72019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020" smtClean="0">
                <a:solidFill>
                  <a:srgbClr val="BECDE6"/>
                </a:solidFill>
                <a:latin typeface="Aptos"/>
              </a:rPr>
              <a:t>Ziel, CTR, Freshness, Pacing, Fairness, Conversion, Retargeting.</a:t>
            </a:r>
            <a:endParaRPr lang="de-DE" sz="1020">
              <a:solidFill>
                <a:srgbClr val="BECDE6"/>
              </a:solidFill>
              <a:latin typeface="Aptos"/>
            </a:endParaRPr>
          </a:p>
        </p:txBody>
      </p:sp>
      <p:sp>
        <p:nvSpPr>
          <p:cNvPr id="27" name="Textfeld 26"/>
          <p:cNvSpPr txBox="1"/>
          <p:nvPr/>
        </p:nvSpPr>
        <p:spPr>
          <a:xfrm>
            <a:off x="8915400" y="2819400"/>
            <a:ext cx="2667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1400" b="1" smtClean="0">
                <a:solidFill>
                  <a:srgbClr val="7E97B8"/>
                </a:solidFill>
                <a:latin typeface="Aptos Display"/>
              </a:rPr>
              <a:t>-&gt;</a:t>
            </a:r>
            <a:endParaRPr lang="de-DE" sz="1400" b="1">
              <a:solidFill>
                <a:srgbClr val="7E97B8"/>
              </a:solidFill>
              <a:latin typeface="Aptos Display"/>
            </a:endParaRPr>
          </a:p>
        </p:txBody>
      </p:sp>
      <p:sp>
        <p:nvSpPr>
          <p:cNvPr id="28" name="Abgerundetes Rechteck 27"/>
          <p:cNvSpPr/>
          <p:nvPr/>
        </p:nvSpPr>
        <p:spPr>
          <a:xfrm>
            <a:off x="9169400" y="2286000"/>
            <a:ext cx="1879600" cy="1397000"/>
          </a:xfrm>
          <a:prstGeom prst="roundRect">
            <a:avLst/>
          </a:prstGeom>
          <a:solidFill>
            <a:srgbClr val="111927"/>
          </a:solidFill>
          <a:ln w="12700">
            <a:solidFill>
              <a:srgbClr val="2F3F5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9" name="Rechteck 28"/>
          <p:cNvSpPr/>
          <p:nvPr/>
        </p:nvSpPr>
        <p:spPr>
          <a:xfrm>
            <a:off x="9169400" y="2286000"/>
            <a:ext cx="63500" cy="1397000"/>
          </a:xfrm>
          <a:prstGeom prst="rect">
            <a:avLst/>
          </a:prstGeom>
          <a:solidFill>
            <a:srgbClr val="FF6B6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0" name="Textfeld 29"/>
          <p:cNvSpPr txBox="1"/>
          <p:nvPr/>
        </p:nvSpPr>
        <p:spPr>
          <a:xfrm>
            <a:off x="9372600" y="2438400"/>
            <a:ext cx="15494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1400" b="1" smtClean="0">
                <a:solidFill>
                  <a:srgbClr val="F8FAFC"/>
                </a:solidFill>
                <a:latin typeface="Aptos Display"/>
              </a:rPr>
              <a:t>Response</a:t>
            </a:r>
            <a:endParaRPr lang="de-DE" sz="1400" b="1">
              <a:solidFill>
                <a:srgbClr val="F8FAFC"/>
              </a:solidFill>
              <a:latin typeface="Aptos Display"/>
            </a:endParaRPr>
          </a:p>
        </p:txBody>
      </p:sp>
      <p:sp>
        <p:nvSpPr>
          <p:cNvPr id="31" name="Textfeld 30"/>
          <p:cNvSpPr txBox="1"/>
          <p:nvPr/>
        </p:nvSpPr>
        <p:spPr>
          <a:xfrm>
            <a:off x="9372600" y="2768600"/>
            <a:ext cx="1549400" cy="5632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1020" smtClean="0">
                <a:solidFill>
                  <a:srgbClr val="BECDE6"/>
                </a:solidFill>
                <a:latin typeface="Aptos"/>
              </a:rPr>
              <a:t>Creative JSON + Click-URL; Impression wird gespeichert.</a:t>
            </a:r>
            <a:endParaRPr lang="de-DE" sz="1020">
              <a:solidFill>
                <a:srgbClr val="BECDE6"/>
              </a:solidFill>
              <a:latin typeface="Aptos"/>
            </a:endParaRPr>
          </a:p>
        </p:txBody>
      </p:sp>
      <p:sp>
        <p:nvSpPr>
          <p:cNvPr id="32" name="Abgerundetes Rechteck 31"/>
          <p:cNvSpPr/>
          <p:nvPr/>
        </p:nvSpPr>
        <p:spPr>
          <a:xfrm>
            <a:off x="533400" y="4191000"/>
            <a:ext cx="10515600" cy="1016000"/>
          </a:xfrm>
          <a:prstGeom prst="roundRect">
            <a:avLst/>
          </a:prstGeom>
          <a:solidFill>
            <a:srgbClr val="111927"/>
          </a:solidFill>
          <a:ln w="12700">
            <a:solidFill>
              <a:srgbClr val="2F3F5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3" name="Rechteck 32"/>
          <p:cNvSpPr/>
          <p:nvPr/>
        </p:nvSpPr>
        <p:spPr>
          <a:xfrm>
            <a:off x="533400" y="4191000"/>
            <a:ext cx="63500" cy="1016000"/>
          </a:xfrm>
          <a:prstGeom prst="rect">
            <a:avLst/>
          </a:prstGeom>
          <a:solidFill>
            <a:srgbClr val="26C6D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4" name="Textfeld 33"/>
          <p:cNvSpPr txBox="1"/>
          <p:nvPr/>
        </p:nvSpPr>
        <p:spPr>
          <a:xfrm>
            <a:off x="736600" y="4343400"/>
            <a:ext cx="101854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1400" b="1" smtClean="0">
                <a:solidFill>
                  <a:srgbClr val="F8FAFC"/>
                </a:solidFill>
                <a:latin typeface="Aptos Display"/>
              </a:rPr>
              <a:t>Ergebnis</a:t>
            </a:r>
            <a:endParaRPr lang="de-DE" sz="1400" b="1">
              <a:solidFill>
                <a:srgbClr val="F8FAFC"/>
              </a:solidFill>
              <a:latin typeface="Aptos Display"/>
            </a:endParaRPr>
          </a:p>
        </p:txBody>
      </p:sp>
      <p:sp>
        <p:nvSpPr>
          <p:cNvPr id="35" name="Textfeld 34"/>
          <p:cNvSpPr txBox="1"/>
          <p:nvPr/>
        </p:nvSpPr>
        <p:spPr>
          <a:xfrm>
            <a:off x="736600" y="4673600"/>
            <a:ext cx="10185400" cy="4062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1020" smtClean="0">
                <a:solidFill>
                  <a:srgbClr val="BECDE6"/>
                </a:solidFill>
                <a:latin typeface="Aptos"/>
              </a:rPr>
              <a:t>Das Frontend bekommt id, creative_id, headline, description, primary_text, CTA, objective, placement, format, image_url und click_url. Jeder Klick läuft über /ads/{campaign}/click.</a:t>
            </a:r>
            <a:endParaRPr lang="de-DE" sz="1020">
              <a:solidFill>
                <a:srgbClr val="BECDE6"/>
              </a:solidFill>
              <a:latin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270804121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eck 1"/>
          <p:cNvSpPr/>
          <p:nvPr/>
        </p:nvSpPr>
        <p:spPr>
          <a:xfrm>
            <a:off x="0" y="0"/>
            <a:ext cx="12192000" cy="101600"/>
          </a:xfrm>
          <a:prstGeom prst="rect">
            <a:avLst/>
          </a:prstGeom>
          <a:solidFill>
            <a:srgbClr val="3884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" name="Textfeld 2"/>
          <p:cNvSpPr txBox="1"/>
          <p:nvPr/>
        </p:nvSpPr>
        <p:spPr>
          <a:xfrm>
            <a:off x="533400" y="431800"/>
            <a:ext cx="3302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900" b="1" smtClean="0">
                <a:solidFill>
                  <a:srgbClr val="3884FF"/>
                </a:solidFill>
                <a:latin typeface="Aptos"/>
              </a:rPr>
              <a:t>ALGORITHMUS</a:t>
            </a:r>
            <a:endParaRPr lang="de-DE" sz="900" b="1">
              <a:solidFill>
                <a:srgbClr val="3884FF"/>
              </a:solidFill>
              <a:latin typeface="Aptos"/>
            </a:endParaRPr>
          </a:p>
        </p:txBody>
      </p:sp>
      <p:sp>
        <p:nvSpPr>
          <p:cNvPr id="4" name="Textfeld 3"/>
          <p:cNvSpPr txBox="1"/>
          <p:nvPr/>
        </p:nvSpPr>
        <p:spPr>
          <a:xfrm>
            <a:off x="533400" y="736600"/>
            <a:ext cx="102235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2800" b="1" smtClean="0">
                <a:solidFill>
                  <a:srgbClr val="F8FAFC"/>
                </a:solidFill>
                <a:latin typeface="Aptos Display"/>
              </a:rPr>
              <a:t>Wie Kampagnen gewichtet werden</a:t>
            </a:r>
            <a:endParaRPr lang="de-DE" sz="2800" b="1">
              <a:solidFill>
                <a:srgbClr val="F8FAFC"/>
              </a:solidFill>
              <a:latin typeface="Aptos Display"/>
            </a:endParaRPr>
          </a:p>
        </p:txBody>
      </p:sp>
      <p:sp>
        <p:nvSpPr>
          <p:cNvPr id="5" name="Textfeld 4"/>
          <p:cNvSpPr txBox="1"/>
          <p:nvPr/>
        </p:nvSpPr>
        <p:spPr>
          <a:xfrm>
            <a:off x="533400" y="1422400"/>
            <a:ext cx="104140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1200" smtClean="0">
                <a:solidFill>
                  <a:srgbClr val="BECDE6"/>
                </a:solidFill>
                <a:latin typeface="Aptos"/>
              </a:rPr>
              <a:t>Die Gewichtung kombiniert Performance und Schutzmechanismen. Gewinner bekommen mehr Chancen, neue und kleine Kampagnen werden nicht sofort verdrängt.</a:t>
            </a:r>
            <a:endParaRPr lang="de-DE" sz="1200">
              <a:solidFill>
                <a:srgbClr val="BECDE6"/>
              </a:solidFill>
              <a:latin typeface="Aptos"/>
            </a:endParaRPr>
          </a:p>
        </p:txBody>
      </p:sp>
      <p:sp>
        <p:nvSpPr>
          <p:cNvPr id="6" name="Textfeld 5"/>
          <p:cNvSpPr txBox="1"/>
          <p:nvPr/>
        </p:nvSpPr>
        <p:spPr>
          <a:xfrm>
            <a:off x="533400" y="6451600"/>
            <a:ext cx="66040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800" smtClean="0">
                <a:solidFill>
                  <a:srgbClr val="7E97B8"/>
                </a:solidFill>
                <a:latin typeface="Aptos"/>
              </a:rPr>
              <a:t>Airmius Ads System | Produkt-, Technik- und Finance-Dokumentation</a:t>
            </a:r>
            <a:endParaRPr lang="de-DE" sz="800">
              <a:solidFill>
                <a:srgbClr val="7E97B8"/>
              </a:solidFill>
              <a:latin typeface="Aptos"/>
            </a:endParaRPr>
          </a:p>
        </p:txBody>
      </p:sp>
      <p:sp>
        <p:nvSpPr>
          <p:cNvPr id="7" name="Textfeld 6"/>
          <p:cNvSpPr txBox="1"/>
          <p:nvPr/>
        </p:nvSpPr>
        <p:spPr>
          <a:xfrm>
            <a:off x="11112500" y="64516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1000" b="1" smtClean="0">
                <a:solidFill>
                  <a:srgbClr val="3884FF"/>
                </a:solidFill>
                <a:latin typeface="Aptos Display"/>
              </a:rPr>
              <a:t>09</a:t>
            </a:r>
            <a:endParaRPr lang="de-DE" sz="1000" b="1">
              <a:solidFill>
                <a:srgbClr val="3884FF"/>
              </a:solidFill>
              <a:latin typeface="Aptos Display"/>
            </a:endParaRPr>
          </a:p>
        </p:txBody>
      </p:sp>
      <p:sp>
        <p:nvSpPr>
          <p:cNvPr id="8" name="Abgerundetes Rechteck 7"/>
          <p:cNvSpPr/>
          <p:nvPr/>
        </p:nvSpPr>
        <p:spPr>
          <a:xfrm>
            <a:off x="533400" y="2108200"/>
            <a:ext cx="5105400" cy="1676400"/>
          </a:xfrm>
          <a:prstGeom prst="roundRect">
            <a:avLst/>
          </a:prstGeom>
          <a:solidFill>
            <a:srgbClr val="111927"/>
          </a:solidFill>
          <a:ln w="12700">
            <a:solidFill>
              <a:srgbClr val="2F3F5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9" name="Rechteck 8"/>
          <p:cNvSpPr/>
          <p:nvPr/>
        </p:nvSpPr>
        <p:spPr>
          <a:xfrm>
            <a:off x="533400" y="2108200"/>
            <a:ext cx="63500" cy="1676400"/>
          </a:xfrm>
          <a:prstGeom prst="rect">
            <a:avLst/>
          </a:prstGeom>
          <a:solidFill>
            <a:srgbClr val="3884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0" name="Textfeld 9"/>
          <p:cNvSpPr txBox="1"/>
          <p:nvPr/>
        </p:nvSpPr>
        <p:spPr>
          <a:xfrm>
            <a:off x="736600" y="2260600"/>
            <a:ext cx="47752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1400" b="1" smtClean="0">
                <a:solidFill>
                  <a:srgbClr val="F8FAFC"/>
                </a:solidFill>
                <a:latin typeface="Aptos Display"/>
              </a:rPr>
              <a:t>Basisformel</a:t>
            </a:r>
            <a:endParaRPr lang="de-DE" sz="1400" b="1">
              <a:solidFill>
                <a:srgbClr val="F8FAFC"/>
              </a:solidFill>
              <a:latin typeface="Aptos Display"/>
            </a:endParaRPr>
          </a:p>
        </p:txBody>
      </p:sp>
      <p:sp>
        <p:nvSpPr>
          <p:cNvPr id="11" name="Textfeld 10"/>
          <p:cNvSpPr txBox="1"/>
          <p:nvPr/>
        </p:nvSpPr>
        <p:spPr>
          <a:xfrm>
            <a:off x="736600" y="2590800"/>
            <a:ext cx="4775200" cy="4062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020" smtClean="0">
                <a:solidFill>
                  <a:srgbClr val="BECDE6"/>
                </a:solidFill>
                <a:latin typeface="Aptos"/>
              </a:rPr>
              <a:t>weight ≈ objectiveWeight × budgetRemaining × freshness × pacing × fairness × conversion × retargeting</a:t>
            </a:r>
            <a:endParaRPr lang="de-DE" sz="1020">
              <a:solidFill>
                <a:srgbClr val="BECDE6"/>
              </a:solidFill>
              <a:latin typeface="Aptos"/>
            </a:endParaRPr>
          </a:p>
        </p:txBody>
      </p:sp>
      <p:sp>
        <p:nvSpPr>
          <p:cNvPr id="12" name="Abgerundetes Rechteck 11"/>
          <p:cNvSpPr/>
          <p:nvPr/>
        </p:nvSpPr>
        <p:spPr>
          <a:xfrm>
            <a:off x="5943600" y="2108200"/>
            <a:ext cx="5105400" cy="1676400"/>
          </a:xfrm>
          <a:prstGeom prst="roundRect">
            <a:avLst/>
          </a:prstGeom>
          <a:solidFill>
            <a:srgbClr val="111927"/>
          </a:solidFill>
          <a:ln w="12700">
            <a:solidFill>
              <a:srgbClr val="2F3F5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3" name="Rechteck 12"/>
          <p:cNvSpPr/>
          <p:nvPr/>
        </p:nvSpPr>
        <p:spPr>
          <a:xfrm>
            <a:off x="5943600" y="2108200"/>
            <a:ext cx="63500" cy="1676400"/>
          </a:xfrm>
          <a:prstGeom prst="rect">
            <a:avLst/>
          </a:prstGeom>
          <a:solidFill>
            <a:srgbClr val="26C6D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4" name="Textfeld 13"/>
          <p:cNvSpPr txBox="1"/>
          <p:nvPr/>
        </p:nvSpPr>
        <p:spPr>
          <a:xfrm>
            <a:off x="6146800" y="2260600"/>
            <a:ext cx="47752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1400" b="1" smtClean="0">
                <a:solidFill>
                  <a:srgbClr val="F8FAFC"/>
                </a:solidFill>
                <a:latin typeface="Aptos Display"/>
              </a:rPr>
              <a:t>Objective Weight</a:t>
            </a:r>
            <a:endParaRPr lang="de-DE" sz="1400" b="1">
              <a:solidFill>
                <a:srgbClr val="F8FAFC"/>
              </a:solidFill>
              <a:latin typeface="Aptos Display"/>
            </a:endParaRPr>
          </a:p>
        </p:txBody>
      </p:sp>
      <p:sp>
        <p:nvSpPr>
          <p:cNvPr id="15" name="Textfeld 14"/>
          <p:cNvSpPr txBox="1"/>
          <p:nvPr/>
        </p:nvSpPr>
        <p:spPr>
          <a:xfrm>
            <a:off x="6146800" y="2590800"/>
            <a:ext cx="4775200" cy="4062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1020" smtClean="0">
                <a:solidFill>
                  <a:srgbClr val="BECDE6"/>
                </a:solidFill>
                <a:latin typeface="Aptos"/>
              </a:rPr>
              <a:t>Traffic: CTR zählt stark. Awareness: niedrige Impressionzahl hilft. Leads/Sales: CTR plus Conversion-Signal.</a:t>
            </a:r>
            <a:endParaRPr lang="de-DE" sz="1020">
              <a:solidFill>
                <a:srgbClr val="BECDE6"/>
              </a:solidFill>
              <a:latin typeface="Aptos"/>
            </a:endParaRPr>
          </a:p>
        </p:txBody>
      </p:sp>
      <p:sp>
        <p:nvSpPr>
          <p:cNvPr id="16" name="Abgerundetes Rechteck 15"/>
          <p:cNvSpPr/>
          <p:nvPr/>
        </p:nvSpPr>
        <p:spPr>
          <a:xfrm>
            <a:off x="533400" y="4140200"/>
            <a:ext cx="2476500" cy="1193800"/>
          </a:xfrm>
          <a:prstGeom prst="roundRect">
            <a:avLst/>
          </a:prstGeom>
          <a:solidFill>
            <a:srgbClr val="111927"/>
          </a:solidFill>
          <a:ln w="12700">
            <a:solidFill>
              <a:srgbClr val="2F3F5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7" name="Rechteck 16"/>
          <p:cNvSpPr/>
          <p:nvPr/>
        </p:nvSpPr>
        <p:spPr>
          <a:xfrm>
            <a:off x="533400" y="4140200"/>
            <a:ext cx="63500" cy="1193800"/>
          </a:xfrm>
          <a:prstGeom prst="rect">
            <a:avLst/>
          </a:prstGeom>
          <a:solidFill>
            <a:srgbClr val="3AD39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8" name="Textfeld 17"/>
          <p:cNvSpPr txBox="1"/>
          <p:nvPr/>
        </p:nvSpPr>
        <p:spPr>
          <a:xfrm>
            <a:off x="736600" y="4292600"/>
            <a:ext cx="21463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1400" b="1" smtClean="0">
                <a:solidFill>
                  <a:srgbClr val="F8FAFC"/>
                </a:solidFill>
                <a:latin typeface="Aptos Display"/>
              </a:rPr>
              <a:t>Freshness</a:t>
            </a:r>
            <a:endParaRPr lang="de-DE" sz="1400" b="1">
              <a:solidFill>
                <a:srgbClr val="F8FAFC"/>
              </a:solidFill>
              <a:latin typeface="Aptos Display"/>
            </a:endParaRPr>
          </a:p>
        </p:txBody>
      </p:sp>
      <p:sp>
        <p:nvSpPr>
          <p:cNvPr id="19" name="Textfeld 18"/>
          <p:cNvSpPr txBox="1"/>
          <p:nvPr/>
        </p:nvSpPr>
        <p:spPr>
          <a:xfrm>
            <a:off x="736600" y="4622800"/>
            <a:ext cx="2146300" cy="4062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1020" smtClean="0">
                <a:solidFill>
                  <a:srgbClr val="BECDE6"/>
                </a:solidFill>
                <a:latin typeface="Aptos"/>
              </a:rPr>
              <a:t>Neue Kampagnen bekommen Startluft, damit Daten entstehen.</a:t>
            </a:r>
            <a:endParaRPr lang="de-DE" sz="1020">
              <a:solidFill>
                <a:srgbClr val="BECDE6"/>
              </a:solidFill>
              <a:latin typeface="Aptos"/>
            </a:endParaRPr>
          </a:p>
        </p:txBody>
      </p:sp>
      <p:sp>
        <p:nvSpPr>
          <p:cNvPr id="20" name="Abgerundetes Rechteck 19"/>
          <p:cNvSpPr/>
          <p:nvPr/>
        </p:nvSpPr>
        <p:spPr>
          <a:xfrm>
            <a:off x="3225800" y="4140200"/>
            <a:ext cx="2476500" cy="1193800"/>
          </a:xfrm>
          <a:prstGeom prst="roundRect">
            <a:avLst/>
          </a:prstGeom>
          <a:solidFill>
            <a:srgbClr val="111927"/>
          </a:solidFill>
          <a:ln w="12700">
            <a:solidFill>
              <a:srgbClr val="2F3F5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1" name="Rechteck 20"/>
          <p:cNvSpPr/>
          <p:nvPr/>
        </p:nvSpPr>
        <p:spPr>
          <a:xfrm>
            <a:off x="3225800" y="4140200"/>
            <a:ext cx="63500" cy="1193800"/>
          </a:xfrm>
          <a:prstGeom prst="rect">
            <a:avLst/>
          </a:prstGeom>
          <a:solidFill>
            <a:srgbClr val="FFB14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2" name="Textfeld 21"/>
          <p:cNvSpPr txBox="1"/>
          <p:nvPr/>
        </p:nvSpPr>
        <p:spPr>
          <a:xfrm>
            <a:off x="3429000" y="4292600"/>
            <a:ext cx="21463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1400" b="1" smtClean="0">
                <a:solidFill>
                  <a:srgbClr val="F8FAFC"/>
                </a:solidFill>
                <a:latin typeface="Aptos Display"/>
              </a:rPr>
              <a:t>Fairness</a:t>
            </a:r>
            <a:endParaRPr lang="de-DE" sz="1400" b="1">
              <a:solidFill>
                <a:srgbClr val="F8FAFC"/>
              </a:solidFill>
              <a:latin typeface="Aptos Display"/>
            </a:endParaRPr>
          </a:p>
        </p:txBody>
      </p:sp>
      <p:sp>
        <p:nvSpPr>
          <p:cNvPr id="23" name="Textfeld 22"/>
          <p:cNvSpPr txBox="1"/>
          <p:nvPr/>
        </p:nvSpPr>
        <p:spPr>
          <a:xfrm>
            <a:off x="3429000" y="4622800"/>
            <a:ext cx="2146300" cy="4062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1020" smtClean="0">
                <a:solidFill>
                  <a:srgbClr val="BECDE6"/>
                </a:solidFill>
                <a:latin typeface="Aptos"/>
              </a:rPr>
              <a:t>Kleine Budgets erhalten Schutz vor sofortiger Verdrängung.</a:t>
            </a:r>
            <a:endParaRPr lang="de-DE" sz="1020">
              <a:solidFill>
                <a:srgbClr val="BECDE6"/>
              </a:solidFill>
              <a:latin typeface="Aptos"/>
            </a:endParaRPr>
          </a:p>
        </p:txBody>
      </p:sp>
      <p:sp>
        <p:nvSpPr>
          <p:cNvPr id="24" name="Abgerundetes Rechteck 23"/>
          <p:cNvSpPr/>
          <p:nvPr/>
        </p:nvSpPr>
        <p:spPr>
          <a:xfrm>
            <a:off x="5918200" y="4140200"/>
            <a:ext cx="2476500" cy="1193800"/>
          </a:xfrm>
          <a:prstGeom prst="roundRect">
            <a:avLst/>
          </a:prstGeom>
          <a:solidFill>
            <a:srgbClr val="111927"/>
          </a:solidFill>
          <a:ln w="12700">
            <a:solidFill>
              <a:srgbClr val="2F3F5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5" name="Rechteck 24"/>
          <p:cNvSpPr/>
          <p:nvPr/>
        </p:nvSpPr>
        <p:spPr>
          <a:xfrm>
            <a:off x="5918200" y="4140200"/>
            <a:ext cx="63500" cy="1193800"/>
          </a:xfrm>
          <a:prstGeom prst="rect">
            <a:avLst/>
          </a:prstGeom>
          <a:solidFill>
            <a:srgbClr val="3884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6" name="Textfeld 25"/>
          <p:cNvSpPr txBox="1"/>
          <p:nvPr/>
        </p:nvSpPr>
        <p:spPr>
          <a:xfrm>
            <a:off x="6121400" y="4292600"/>
            <a:ext cx="21463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1400" b="1" smtClean="0">
                <a:solidFill>
                  <a:srgbClr val="F8FAFC"/>
                </a:solidFill>
                <a:latin typeface="Aptos Display"/>
              </a:rPr>
              <a:t>Pacing</a:t>
            </a:r>
            <a:endParaRPr lang="de-DE" sz="1400" b="1">
              <a:solidFill>
                <a:srgbClr val="F8FAFC"/>
              </a:solidFill>
              <a:latin typeface="Aptos Display"/>
            </a:endParaRPr>
          </a:p>
        </p:txBody>
      </p:sp>
      <p:sp>
        <p:nvSpPr>
          <p:cNvPr id="27" name="Textfeld 26"/>
          <p:cNvSpPr txBox="1"/>
          <p:nvPr/>
        </p:nvSpPr>
        <p:spPr>
          <a:xfrm>
            <a:off x="6121400" y="4622800"/>
            <a:ext cx="2146300" cy="4062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1020" smtClean="0">
                <a:solidFill>
                  <a:srgbClr val="BECDE6"/>
                </a:solidFill>
                <a:latin typeface="Aptos"/>
              </a:rPr>
              <a:t>Zu langsam: Boost. Zu schnell: Dämpfung.</a:t>
            </a:r>
            <a:endParaRPr lang="de-DE" sz="1020">
              <a:solidFill>
                <a:srgbClr val="BECDE6"/>
              </a:solidFill>
              <a:latin typeface="Aptos"/>
            </a:endParaRPr>
          </a:p>
        </p:txBody>
      </p:sp>
      <p:sp>
        <p:nvSpPr>
          <p:cNvPr id="28" name="Abgerundetes Rechteck 27"/>
          <p:cNvSpPr/>
          <p:nvPr/>
        </p:nvSpPr>
        <p:spPr>
          <a:xfrm>
            <a:off x="8610600" y="4140200"/>
            <a:ext cx="2476500" cy="1193800"/>
          </a:xfrm>
          <a:prstGeom prst="roundRect">
            <a:avLst/>
          </a:prstGeom>
          <a:solidFill>
            <a:srgbClr val="111927"/>
          </a:solidFill>
          <a:ln w="12700">
            <a:solidFill>
              <a:srgbClr val="2F3F5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9" name="Rechteck 28"/>
          <p:cNvSpPr/>
          <p:nvPr/>
        </p:nvSpPr>
        <p:spPr>
          <a:xfrm>
            <a:off x="8610600" y="4140200"/>
            <a:ext cx="63500" cy="1193800"/>
          </a:xfrm>
          <a:prstGeom prst="rect">
            <a:avLst/>
          </a:prstGeom>
          <a:solidFill>
            <a:srgbClr val="3AD39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0" name="Textfeld 29"/>
          <p:cNvSpPr txBox="1"/>
          <p:nvPr/>
        </p:nvSpPr>
        <p:spPr>
          <a:xfrm>
            <a:off x="8813800" y="4292600"/>
            <a:ext cx="21463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1400" b="1" smtClean="0">
                <a:solidFill>
                  <a:srgbClr val="F8FAFC"/>
                </a:solidFill>
                <a:latin typeface="Aptos Display"/>
              </a:rPr>
              <a:t>Retargeting</a:t>
            </a:r>
            <a:endParaRPr lang="de-DE" sz="1400" b="1">
              <a:solidFill>
                <a:srgbClr val="F8FAFC"/>
              </a:solidFill>
              <a:latin typeface="Aptos Display"/>
            </a:endParaRPr>
          </a:p>
        </p:txBody>
      </p:sp>
      <p:sp>
        <p:nvSpPr>
          <p:cNvPr id="31" name="Textfeld 30"/>
          <p:cNvSpPr txBox="1"/>
          <p:nvPr/>
        </p:nvSpPr>
        <p:spPr>
          <a:xfrm>
            <a:off x="8813800" y="4622800"/>
            <a:ext cx="2146300" cy="4062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1020" smtClean="0">
                <a:solidFill>
                  <a:srgbClr val="BECDE6"/>
                </a:solidFill>
                <a:latin typeface="Aptos"/>
              </a:rPr>
              <a:t>Nur mit Consent; Interessen und letzte Klicks erhöhen Relevanz.</a:t>
            </a:r>
            <a:endParaRPr lang="de-DE" sz="1020">
              <a:solidFill>
                <a:srgbClr val="BECDE6"/>
              </a:solidFill>
              <a:latin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57166249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eck 1"/>
          <p:cNvSpPr/>
          <p:nvPr/>
        </p:nvSpPr>
        <p:spPr>
          <a:xfrm>
            <a:off x="0" y="0"/>
            <a:ext cx="12192000" cy="101600"/>
          </a:xfrm>
          <a:prstGeom prst="rect">
            <a:avLst/>
          </a:prstGeom>
          <a:solidFill>
            <a:srgbClr val="3884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" name="Textfeld 2"/>
          <p:cNvSpPr txBox="1"/>
          <p:nvPr/>
        </p:nvSpPr>
        <p:spPr>
          <a:xfrm>
            <a:off x="533400" y="431800"/>
            <a:ext cx="3302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900" b="1" smtClean="0">
                <a:solidFill>
                  <a:srgbClr val="3884FF"/>
                </a:solidFill>
                <a:latin typeface="Aptos"/>
              </a:rPr>
              <a:t>PRIORITÄT</a:t>
            </a:r>
            <a:endParaRPr lang="de-DE" sz="900" b="1">
              <a:solidFill>
                <a:srgbClr val="3884FF"/>
              </a:solidFill>
              <a:latin typeface="Aptos"/>
            </a:endParaRPr>
          </a:p>
        </p:txBody>
      </p:sp>
      <p:sp>
        <p:nvSpPr>
          <p:cNvPr id="4" name="Textfeld 3"/>
          <p:cNvSpPr txBox="1"/>
          <p:nvPr/>
        </p:nvSpPr>
        <p:spPr>
          <a:xfrm>
            <a:off x="533400" y="736600"/>
            <a:ext cx="102235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2800" b="1" smtClean="0">
                <a:solidFill>
                  <a:srgbClr val="F8FAFC"/>
                </a:solidFill>
                <a:latin typeface="Aptos Display"/>
              </a:rPr>
              <a:t>Interne Airmius-Ads ohne Nutzererlebnis zu ruinieren</a:t>
            </a:r>
            <a:endParaRPr lang="de-DE" sz="2800" b="1">
              <a:solidFill>
                <a:srgbClr val="F8FAFC"/>
              </a:solidFill>
              <a:latin typeface="Aptos Display"/>
            </a:endParaRPr>
          </a:p>
        </p:txBody>
      </p:sp>
      <p:sp>
        <p:nvSpPr>
          <p:cNvPr id="5" name="Textfeld 4"/>
          <p:cNvSpPr txBox="1"/>
          <p:nvPr/>
        </p:nvSpPr>
        <p:spPr>
          <a:xfrm>
            <a:off x="533400" y="1422400"/>
            <a:ext cx="10414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1200" smtClean="0">
                <a:solidFill>
                  <a:srgbClr val="BECDE6"/>
                </a:solidFill>
                <a:latin typeface="Aptos"/>
              </a:rPr>
              <a:t>force_priority existiert für Plattformkampagnen, Onboarding-Hinweise oder strategische interne Flächen.</a:t>
            </a:r>
            <a:endParaRPr lang="de-DE" sz="1200">
              <a:solidFill>
                <a:srgbClr val="BECDE6"/>
              </a:solidFill>
              <a:latin typeface="Aptos"/>
            </a:endParaRPr>
          </a:p>
        </p:txBody>
      </p:sp>
      <p:sp>
        <p:nvSpPr>
          <p:cNvPr id="6" name="Textfeld 5"/>
          <p:cNvSpPr txBox="1"/>
          <p:nvPr/>
        </p:nvSpPr>
        <p:spPr>
          <a:xfrm>
            <a:off x="533400" y="6451600"/>
            <a:ext cx="66040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800" smtClean="0">
                <a:solidFill>
                  <a:srgbClr val="7E97B8"/>
                </a:solidFill>
                <a:latin typeface="Aptos"/>
              </a:rPr>
              <a:t>Airmius Ads System | Produkt-, Technik- und Finance-Dokumentation</a:t>
            </a:r>
            <a:endParaRPr lang="de-DE" sz="800">
              <a:solidFill>
                <a:srgbClr val="7E97B8"/>
              </a:solidFill>
              <a:latin typeface="Aptos"/>
            </a:endParaRPr>
          </a:p>
        </p:txBody>
      </p:sp>
      <p:sp>
        <p:nvSpPr>
          <p:cNvPr id="7" name="Textfeld 6"/>
          <p:cNvSpPr txBox="1"/>
          <p:nvPr/>
        </p:nvSpPr>
        <p:spPr>
          <a:xfrm>
            <a:off x="11112500" y="64516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1000" b="1" smtClean="0">
                <a:solidFill>
                  <a:srgbClr val="3884FF"/>
                </a:solidFill>
                <a:latin typeface="Aptos Display"/>
              </a:rPr>
              <a:t>10</a:t>
            </a:r>
            <a:endParaRPr lang="de-DE" sz="1000" b="1">
              <a:solidFill>
                <a:srgbClr val="3884FF"/>
              </a:solidFill>
              <a:latin typeface="Aptos Display"/>
            </a:endParaRPr>
          </a:p>
        </p:txBody>
      </p:sp>
      <p:sp>
        <p:nvSpPr>
          <p:cNvPr id="8" name="Abgerundetes Rechteck 7"/>
          <p:cNvSpPr/>
          <p:nvPr/>
        </p:nvSpPr>
        <p:spPr>
          <a:xfrm>
            <a:off x="533400" y="2184400"/>
            <a:ext cx="3302000" cy="1600200"/>
          </a:xfrm>
          <a:prstGeom prst="roundRect">
            <a:avLst/>
          </a:prstGeom>
          <a:solidFill>
            <a:srgbClr val="111927"/>
          </a:solidFill>
          <a:ln w="12700">
            <a:solidFill>
              <a:srgbClr val="2F3F5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9" name="Rechteck 8"/>
          <p:cNvSpPr/>
          <p:nvPr/>
        </p:nvSpPr>
        <p:spPr>
          <a:xfrm>
            <a:off x="533400" y="2184400"/>
            <a:ext cx="63500" cy="1600200"/>
          </a:xfrm>
          <a:prstGeom prst="rect">
            <a:avLst/>
          </a:prstGeom>
          <a:solidFill>
            <a:srgbClr val="3884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0" name="Textfeld 9"/>
          <p:cNvSpPr txBox="1"/>
          <p:nvPr/>
        </p:nvSpPr>
        <p:spPr>
          <a:xfrm>
            <a:off x="736600" y="2336800"/>
            <a:ext cx="29718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1400" b="1" smtClean="0">
                <a:solidFill>
                  <a:srgbClr val="F8FAFC"/>
                </a:solidFill>
                <a:latin typeface="Aptos Display"/>
              </a:rPr>
              <a:t>Wer darf es sehen?</a:t>
            </a:r>
            <a:endParaRPr lang="de-DE" sz="1400" b="1">
              <a:solidFill>
                <a:srgbClr val="F8FAFC"/>
              </a:solidFill>
              <a:latin typeface="Aptos Display"/>
            </a:endParaRPr>
          </a:p>
        </p:txBody>
      </p:sp>
      <p:sp>
        <p:nvSpPr>
          <p:cNvPr id="11" name="Textfeld 10"/>
          <p:cNvSpPr txBox="1"/>
          <p:nvPr/>
        </p:nvSpPr>
        <p:spPr>
          <a:xfrm>
            <a:off x="736600" y="2667000"/>
            <a:ext cx="2971800" cy="5632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1020" smtClean="0">
                <a:solidFill>
                  <a:srgbClr val="BECDE6"/>
                </a:solidFill>
                <a:latin typeface="Aptos"/>
              </a:rPr>
              <a:t>Die Admin-UI zeigt interne Kampagnen und force_priority nur für Admins beziehungsweise berechtigte Commerce-Manager.</a:t>
            </a:r>
            <a:endParaRPr lang="de-DE" sz="1020">
              <a:solidFill>
                <a:srgbClr val="BECDE6"/>
              </a:solidFill>
              <a:latin typeface="Aptos"/>
            </a:endParaRPr>
          </a:p>
        </p:txBody>
      </p:sp>
      <p:sp>
        <p:nvSpPr>
          <p:cNvPr id="12" name="Abgerundetes Rechteck 11"/>
          <p:cNvSpPr/>
          <p:nvPr/>
        </p:nvSpPr>
        <p:spPr>
          <a:xfrm>
            <a:off x="4140200" y="2184400"/>
            <a:ext cx="3302000" cy="1600200"/>
          </a:xfrm>
          <a:prstGeom prst="roundRect">
            <a:avLst/>
          </a:prstGeom>
          <a:solidFill>
            <a:srgbClr val="111927"/>
          </a:solidFill>
          <a:ln w="12700">
            <a:solidFill>
              <a:srgbClr val="2F3F5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3" name="Rechteck 12"/>
          <p:cNvSpPr/>
          <p:nvPr/>
        </p:nvSpPr>
        <p:spPr>
          <a:xfrm>
            <a:off x="4140200" y="2184400"/>
            <a:ext cx="63500" cy="1600200"/>
          </a:xfrm>
          <a:prstGeom prst="rect">
            <a:avLst/>
          </a:prstGeom>
          <a:solidFill>
            <a:srgbClr val="FFB14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4" name="Textfeld 13"/>
          <p:cNvSpPr txBox="1"/>
          <p:nvPr/>
        </p:nvSpPr>
        <p:spPr>
          <a:xfrm>
            <a:off x="4343400" y="2336800"/>
            <a:ext cx="29718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1400" b="1" smtClean="0">
                <a:solidFill>
                  <a:srgbClr val="F8FAFC"/>
                </a:solidFill>
                <a:latin typeface="Aptos Display"/>
              </a:rPr>
              <a:t>Was passiert technisch?</a:t>
            </a:r>
            <a:endParaRPr lang="de-DE" sz="1400" b="1">
              <a:solidFill>
                <a:srgbClr val="F8FAFC"/>
              </a:solidFill>
              <a:latin typeface="Aptos Display"/>
            </a:endParaRPr>
          </a:p>
        </p:txBody>
      </p:sp>
      <p:sp>
        <p:nvSpPr>
          <p:cNvPr id="15" name="Textfeld 14"/>
          <p:cNvSpPr txBox="1"/>
          <p:nvPr/>
        </p:nvSpPr>
        <p:spPr>
          <a:xfrm>
            <a:off x="4343400" y="2667000"/>
            <a:ext cx="2971800" cy="5632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1020" smtClean="0">
                <a:solidFill>
                  <a:srgbClr val="BECDE6"/>
                </a:solidFill>
                <a:latin typeface="Aptos"/>
              </a:rPr>
              <a:t>Interne priorisierte Kampagnen werden zuerst im Kandidatenpool gewählt und erhalten sehr hohes Gewicht.</a:t>
            </a:r>
            <a:endParaRPr lang="de-DE" sz="1020">
              <a:solidFill>
                <a:srgbClr val="BECDE6"/>
              </a:solidFill>
              <a:latin typeface="Aptos"/>
            </a:endParaRPr>
          </a:p>
        </p:txBody>
      </p:sp>
      <p:sp>
        <p:nvSpPr>
          <p:cNvPr id="16" name="Abgerundetes Rechteck 15"/>
          <p:cNvSpPr/>
          <p:nvPr/>
        </p:nvSpPr>
        <p:spPr>
          <a:xfrm>
            <a:off x="7747000" y="2184400"/>
            <a:ext cx="3302000" cy="1600200"/>
          </a:xfrm>
          <a:prstGeom prst="roundRect">
            <a:avLst/>
          </a:prstGeom>
          <a:solidFill>
            <a:srgbClr val="111927"/>
          </a:solidFill>
          <a:ln w="12700">
            <a:solidFill>
              <a:srgbClr val="2F3F5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7" name="Rechteck 16"/>
          <p:cNvSpPr/>
          <p:nvPr/>
        </p:nvSpPr>
        <p:spPr>
          <a:xfrm>
            <a:off x="7747000" y="2184400"/>
            <a:ext cx="63500" cy="1600200"/>
          </a:xfrm>
          <a:prstGeom prst="rect">
            <a:avLst/>
          </a:prstGeom>
          <a:solidFill>
            <a:srgbClr val="3AD39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8" name="Textfeld 17"/>
          <p:cNvSpPr txBox="1"/>
          <p:nvPr/>
        </p:nvSpPr>
        <p:spPr>
          <a:xfrm>
            <a:off x="7950200" y="2336800"/>
            <a:ext cx="29718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1400" b="1" smtClean="0">
                <a:solidFill>
                  <a:srgbClr val="F8FAFC"/>
                </a:solidFill>
                <a:latin typeface="Aptos Display"/>
              </a:rPr>
              <a:t>Was begrenzt es?</a:t>
            </a:r>
            <a:endParaRPr lang="de-DE" sz="1400" b="1">
              <a:solidFill>
                <a:srgbClr val="F8FAFC"/>
              </a:solidFill>
              <a:latin typeface="Aptos Display"/>
            </a:endParaRPr>
          </a:p>
        </p:txBody>
      </p:sp>
      <p:sp>
        <p:nvSpPr>
          <p:cNvPr id="19" name="Textfeld 18"/>
          <p:cNvSpPr txBox="1"/>
          <p:nvPr/>
        </p:nvSpPr>
        <p:spPr>
          <a:xfrm>
            <a:off x="7950200" y="2667000"/>
            <a:ext cx="2971800" cy="5632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1020" smtClean="0">
                <a:solidFill>
                  <a:srgbClr val="BECDE6"/>
                </a:solidFill>
                <a:latin typeface="Aptos"/>
              </a:rPr>
              <a:t>Frequency Caps, Laufzeit, Placement und Audience-Regeln gelten weiterhin. Interne Ads kosten kein Budget.</a:t>
            </a:r>
            <a:endParaRPr lang="de-DE" sz="1020">
              <a:solidFill>
                <a:srgbClr val="BECDE6"/>
              </a:solidFill>
              <a:latin typeface="Aptos"/>
            </a:endParaRPr>
          </a:p>
        </p:txBody>
      </p:sp>
      <p:sp>
        <p:nvSpPr>
          <p:cNvPr id="20" name="Abgerundetes Rechteck 19"/>
          <p:cNvSpPr/>
          <p:nvPr/>
        </p:nvSpPr>
        <p:spPr>
          <a:xfrm>
            <a:off x="533400" y="4191000"/>
            <a:ext cx="10515600" cy="1041400"/>
          </a:xfrm>
          <a:prstGeom prst="roundRect">
            <a:avLst/>
          </a:prstGeom>
          <a:solidFill>
            <a:srgbClr val="111927"/>
          </a:solidFill>
          <a:ln w="12700">
            <a:solidFill>
              <a:srgbClr val="2F3F5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1" name="Rechteck 20"/>
          <p:cNvSpPr/>
          <p:nvPr/>
        </p:nvSpPr>
        <p:spPr>
          <a:xfrm>
            <a:off x="533400" y="4191000"/>
            <a:ext cx="63500" cy="1041400"/>
          </a:xfrm>
          <a:prstGeom prst="rect">
            <a:avLst/>
          </a:prstGeom>
          <a:solidFill>
            <a:srgbClr val="FF6B6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2" name="Textfeld 21"/>
          <p:cNvSpPr txBox="1"/>
          <p:nvPr/>
        </p:nvSpPr>
        <p:spPr>
          <a:xfrm>
            <a:off x="736600" y="4343400"/>
            <a:ext cx="101854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1400" b="1" smtClean="0">
                <a:solidFill>
                  <a:srgbClr val="F8FAFC"/>
                </a:solidFill>
                <a:latin typeface="Aptos Display"/>
              </a:rPr>
              <a:t>Empfehlung</a:t>
            </a:r>
            <a:endParaRPr lang="de-DE" sz="1400" b="1">
              <a:solidFill>
                <a:srgbClr val="F8FAFC"/>
              </a:solidFill>
              <a:latin typeface="Aptos Display"/>
            </a:endParaRPr>
          </a:p>
        </p:txBody>
      </p:sp>
      <p:sp>
        <p:nvSpPr>
          <p:cNvPr id="23" name="Textfeld 22"/>
          <p:cNvSpPr txBox="1"/>
          <p:nvPr/>
        </p:nvSpPr>
        <p:spPr>
          <a:xfrm>
            <a:off x="736600" y="4673600"/>
            <a:ext cx="10185400" cy="2492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1020" smtClean="0">
                <a:solidFill>
                  <a:srgbClr val="BECDE6"/>
                </a:solidFill>
                <a:latin typeface="Aptos"/>
              </a:rPr>
              <a:t>Interne Priorität sparsam nutzen: Produktlaunches, rechtliche Hinweise, wichtige Plattformaktionen. Nicht als Dauerzustand, sonst verlieren bezahlte Kampagnen Vertrauen.</a:t>
            </a:r>
            <a:endParaRPr lang="de-DE" sz="1020">
              <a:solidFill>
                <a:srgbClr val="BECDE6"/>
              </a:solidFill>
              <a:latin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335536658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eck 1"/>
          <p:cNvSpPr/>
          <p:nvPr/>
        </p:nvSpPr>
        <p:spPr>
          <a:xfrm>
            <a:off x="0" y="0"/>
            <a:ext cx="12192000" cy="101600"/>
          </a:xfrm>
          <a:prstGeom prst="rect">
            <a:avLst/>
          </a:prstGeom>
          <a:solidFill>
            <a:srgbClr val="3884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" name="Textfeld 2"/>
          <p:cNvSpPr txBox="1"/>
          <p:nvPr/>
        </p:nvSpPr>
        <p:spPr>
          <a:xfrm>
            <a:off x="533400" y="431800"/>
            <a:ext cx="3302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900" b="1" smtClean="0">
                <a:solidFill>
                  <a:srgbClr val="3884FF"/>
                </a:solidFill>
                <a:latin typeface="Aptos"/>
              </a:rPr>
              <a:t>FINANCE</a:t>
            </a:r>
            <a:endParaRPr lang="de-DE" sz="900" b="1">
              <a:solidFill>
                <a:srgbClr val="3884FF"/>
              </a:solidFill>
              <a:latin typeface="Aptos"/>
            </a:endParaRPr>
          </a:p>
        </p:txBody>
      </p:sp>
      <p:sp>
        <p:nvSpPr>
          <p:cNvPr id="4" name="Textfeld 3"/>
          <p:cNvSpPr txBox="1"/>
          <p:nvPr/>
        </p:nvSpPr>
        <p:spPr>
          <a:xfrm>
            <a:off x="533400" y="736600"/>
            <a:ext cx="102235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2800" b="1" smtClean="0">
                <a:solidFill>
                  <a:srgbClr val="F8FAFC"/>
                </a:solidFill>
                <a:latin typeface="Aptos Display"/>
              </a:rPr>
              <a:t>Wie Airmius mit Ads Geld verdient</a:t>
            </a:r>
            <a:endParaRPr lang="de-DE" sz="2800" b="1">
              <a:solidFill>
                <a:srgbClr val="F8FAFC"/>
              </a:solidFill>
              <a:latin typeface="Aptos Display"/>
            </a:endParaRPr>
          </a:p>
        </p:txBody>
      </p:sp>
      <p:sp>
        <p:nvSpPr>
          <p:cNvPr id="5" name="Textfeld 4"/>
          <p:cNvSpPr txBox="1"/>
          <p:nvPr/>
        </p:nvSpPr>
        <p:spPr>
          <a:xfrm>
            <a:off x="533400" y="1422400"/>
            <a:ext cx="10414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1200" smtClean="0">
                <a:solidFill>
                  <a:srgbClr val="BECDE6"/>
                </a:solidFill>
                <a:latin typeface="Aptos"/>
              </a:rPr>
              <a:t>Die Abrechnung hängt am Kampagnenziel. Das verhindert, dass jedes Event immer Geld kostet.</a:t>
            </a:r>
            <a:endParaRPr lang="de-DE" sz="1200">
              <a:solidFill>
                <a:srgbClr val="BECDE6"/>
              </a:solidFill>
              <a:latin typeface="Aptos"/>
            </a:endParaRPr>
          </a:p>
        </p:txBody>
      </p:sp>
      <p:sp>
        <p:nvSpPr>
          <p:cNvPr id="6" name="Textfeld 5"/>
          <p:cNvSpPr txBox="1"/>
          <p:nvPr/>
        </p:nvSpPr>
        <p:spPr>
          <a:xfrm>
            <a:off x="533400" y="6451600"/>
            <a:ext cx="66040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800" smtClean="0">
                <a:solidFill>
                  <a:srgbClr val="7E97B8"/>
                </a:solidFill>
                <a:latin typeface="Aptos"/>
              </a:rPr>
              <a:t>Airmius Ads System | Produkt-, Technik- und Finance-Dokumentation</a:t>
            </a:r>
            <a:endParaRPr lang="de-DE" sz="800">
              <a:solidFill>
                <a:srgbClr val="7E97B8"/>
              </a:solidFill>
              <a:latin typeface="Aptos"/>
            </a:endParaRPr>
          </a:p>
        </p:txBody>
      </p:sp>
      <p:sp>
        <p:nvSpPr>
          <p:cNvPr id="7" name="Textfeld 6"/>
          <p:cNvSpPr txBox="1"/>
          <p:nvPr/>
        </p:nvSpPr>
        <p:spPr>
          <a:xfrm>
            <a:off x="11112500" y="64516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1000" b="1" smtClean="0">
                <a:solidFill>
                  <a:srgbClr val="3884FF"/>
                </a:solidFill>
                <a:latin typeface="Aptos Display"/>
              </a:rPr>
              <a:t>11</a:t>
            </a:r>
            <a:endParaRPr lang="de-DE" sz="1000" b="1">
              <a:solidFill>
                <a:srgbClr val="3884FF"/>
              </a:solidFill>
              <a:latin typeface="Aptos Display"/>
            </a:endParaRPr>
          </a:p>
        </p:txBody>
      </p:sp>
      <p:sp>
        <p:nvSpPr>
          <p:cNvPr id="8" name="Abgerundetes Rechteck 7"/>
          <p:cNvSpPr/>
          <p:nvPr/>
        </p:nvSpPr>
        <p:spPr>
          <a:xfrm>
            <a:off x="533400" y="2184400"/>
            <a:ext cx="2159000" cy="1168400"/>
          </a:xfrm>
          <a:prstGeom prst="roundRect">
            <a:avLst/>
          </a:prstGeom>
          <a:solidFill>
            <a:srgbClr val="182233"/>
          </a:solidFill>
          <a:ln>
            <a:solidFill>
              <a:srgbClr val="2F3F5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9" name="Textfeld 8"/>
          <p:cNvSpPr txBox="1"/>
          <p:nvPr/>
        </p:nvSpPr>
        <p:spPr>
          <a:xfrm>
            <a:off x="711200" y="2336800"/>
            <a:ext cx="18034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800" b="1" smtClean="0">
                <a:solidFill>
                  <a:srgbClr val="3884FF"/>
                </a:solidFill>
                <a:latin typeface="Aptos"/>
              </a:rPr>
              <a:t>CPM</a:t>
            </a:r>
            <a:endParaRPr lang="de-DE" sz="800" b="1">
              <a:solidFill>
                <a:srgbClr val="3884FF"/>
              </a:solidFill>
              <a:latin typeface="Aptos"/>
            </a:endParaRPr>
          </a:p>
        </p:txBody>
      </p:sp>
      <p:sp>
        <p:nvSpPr>
          <p:cNvPr id="10" name="Textfeld 9"/>
          <p:cNvSpPr txBox="1"/>
          <p:nvPr/>
        </p:nvSpPr>
        <p:spPr>
          <a:xfrm>
            <a:off x="711200" y="2565400"/>
            <a:ext cx="1803400" cy="4001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2000" b="1" smtClean="0">
                <a:solidFill>
                  <a:srgbClr val="F8FAFC"/>
                </a:solidFill>
                <a:latin typeface="Aptos Display"/>
              </a:rPr>
              <a:t>5,00 EUR</a:t>
            </a:r>
            <a:endParaRPr lang="de-DE" sz="2000" b="1">
              <a:solidFill>
                <a:srgbClr val="F8FAFC"/>
              </a:solidFill>
              <a:latin typeface="Aptos Display"/>
            </a:endParaRPr>
          </a:p>
        </p:txBody>
      </p:sp>
      <p:sp>
        <p:nvSpPr>
          <p:cNvPr id="11" name="Textfeld 10"/>
          <p:cNvSpPr txBox="1"/>
          <p:nvPr/>
        </p:nvSpPr>
        <p:spPr>
          <a:xfrm>
            <a:off x="711200" y="2971800"/>
            <a:ext cx="1803400" cy="35394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850" smtClean="0">
                <a:solidFill>
                  <a:srgbClr val="BECDE6"/>
                </a:solidFill>
                <a:latin typeface="Aptos"/>
              </a:rPr>
              <a:t>Standard pro 1.000 Impressions bei awareness</a:t>
            </a:r>
            <a:endParaRPr lang="de-DE" sz="850">
              <a:solidFill>
                <a:srgbClr val="BECDE6"/>
              </a:solidFill>
              <a:latin typeface="Aptos"/>
            </a:endParaRPr>
          </a:p>
        </p:txBody>
      </p:sp>
      <p:sp>
        <p:nvSpPr>
          <p:cNvPr id="12" name="Abgerundetes Rechteck 11"/>
          <p:cNvSpPr/>
          <p:nvPr/>
        </p:nvSpPr>
        <p:spPr>
          <a:xfrm>
            <a:off x="2946400" y="2184400"/>
            <a:ext cx="2159000" cy="1168400"/>
          </a:xfrm>
          <a:prstGeom prst="roundRect">
            <a:avLst/>
          </a:prstGeom>
          <a:solidFill>
            <a:srgbClr val="182233"/>
          </a:solidFill>
          <a:ln>
            <a:solidFill>
              <a:srgbClr val="2F3F5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3" name="Textfeld 12"/>
          <p:cNvSpPr txBox="1"/>
          <p:nvPr/>
        </p:nvSpPr>
        <p:spPr>
          <a:xfrm>
            <a:off x="3124200" y="2336800"/>
            <a:ext cx="18034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800" b="1" smtClean="0">
                <a:solidFill>
                  <a:srgbClr val="26C6DA"/>
                </a:solidFill>
                <a:latin typeface="Aptos"/>
              </a:rPr>
              <a:t>CPC</a:t>
            </a:r>
            <a:endParaRPr lang="de-DE" sz="800" b="1">
              <a:solidFill>
                <a:srgbClr val="26C6DA"/>
              </a:solidFill>
              <a:latin typeface="Aptos"/>
            </a:endParaRPr>
          </a:p>
        </p:txBody>
      </p:sp>
      <p:sp>
        <p:nvSpPr>
          <p:cNvPr id="14" name="Textfeld 13"/>
          <p:cNvSpPr txBox="1"/>
          <p:nvPr/>
        </p:nvSpPr>
        <p:spPr>
          <a:xfrm>
            <a:off x="3124200" y="2565400"/>
            <a:ext cx="1803400" cy="4001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2000" b="1" smtClean="0">
                <a:solidFill>
                  <a:srgbClr val="F8FAFC"/>
                </a:solidFill>
                <a:latin typeface="Aptos Display"/>
              </a:rPr>
              <a:t>0,30 EUR</a:t>
            </a:r>
            <a:endParaRPr lang="de-DE" sz="2000" b="1">
              <a:solidFill>
                <a:srgbClr val="F8FAFC"/>
              </a:solidFill>
              <a:latin typeface="Aptos Display"/>
            </a:endParaRPr>
          </a:p>
        </p:txBody>
      </p:sp>
      <p:sp>
        <p:nvSpPr>
          <p:cNvPr id="15" name="Textfeld 14"/>
          <p:cNvSpPr txBox="1"/>
          <p:nvPr/>
        </p:nvSpPr>
        <p:spPr>
          <a:xfrm>
            <a:off x="3124200" y="2971800"/>
            <a:ext cx="1803400" cy="22313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850" smtClean="0">
                <a:solidFill>
                  <a:srgbClr val="BECDE6"/>
                </a:solidFill>
                <a:latin typeface="Aptos"/>
              </a:rPr>
              <a:t>Standard pro Klick bei traffic</a:t>
            </a:r>
            <a:endParaRPr lang="de-DE" sz="850">
              <a:solidFill>
                <a:srgbClr val="BECDE6"/>
              </a:solidFill>
              <a:latin typeface="Aptos"/>
            </a:endParaRPr>
          </a:p>
        </p:txBody>
      </p:sp>
      <p:sp>
        <p:nvSpPr>
          <p:cNvPr id="16" name="Abgerundetes Rechteck 15"/>
          <p:cNvSpPr/>
          <p:nvPr/>
        </p:nvSpPr>
        <p:spPr>
          <a:xfrm>
            <a:off x="5359400" y="2184400"/>
            <a:ext cx="2159000" cy="1168400"/>
          </a:xfrm>
          <a:prstGeom prst="roundRect">
            <a:avLst/>
          </a:prstGeom>
          <a:solidFill>
            <a:srgbClr val="182233"/>
          </a:solidFill>
          <a:ln>
            <a:solidFill>
              <a:srgbClr val="2F3F5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7" name="Textfeld 16"/>
          <p:cNvSpPr txBox="1"/>
          <p:nvPr/>
        </p:nvSpPr>
        <p:spPr>
          <a:xfrm>
            <a:off x="5537200" y="2336800"/>
            <a:ext cx="18034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800" b="1" smtClean="0">
                <a:solidFill>
                  <a:srgbClr val="3AD39F"/>
                </a:solidFill>
                <a:latin typeface="Aptos"/>
              </a:rPr>
              <a:t>CPL</a:t>
            </a:r>
            <a:endParaRPr lang="de-DE" sz="800" b="1">
              <a:solidFill>
                <a:srgbClr val="3AD39F"/>
              </a:solidFill>
              <a:latin typeface="Aptos"/>
            </a:endParaRPr>
          </a:p>
        </p:txBody>
      </p:sp>
      <p:sp>
        <p:nvSpPr>
          <p:cNvPr id="18" name="Textfeld 17"/>
          <p:cNvSpPr txBox="1"/>
          <p:nvPr/>
        </p:nvSpPr>
        <p:spPr>
          <a:xfrm>
            <a:off x="5537200" y="2565400"/>
            <a:ext cx="1803400" cy="4001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2000" b="1" smtClean="0">
                <a:solidFill>
                  <a:srgbClr val="F8FAFC"/>
                </a:solidFill>
                <a:latin typeface="Aptos Display"/>
              </a:rPr>
              <a:t>2,00 EUR</a:t>
            </a:r>
            <a:endParaRPr lang="de-DE" sz="2000" b="1">
              <a:solidFill>
                <a:srgbClr val="F8FAFC"/>
              </a:solidFill>
              <a:latin typeface="Aptos Display"/>
            </a:endParaRPr>
          </a:p>
        </p:txBody>
      </p:sp>
      <p:sp>
        <p:nvSpPr>
          <p:cNvPr id="19" name="Textfeld 18"/>
          <p:cNvSpPr txBox="1"/>
          <p:nvPr/>
        </p:nvSpPr>
        <p:spPr>
          <a:xfrm>
            <a:off x="5537200" y="2971800"/>
            <a:ext cx="1803400" cy="22313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850" smtClean="0">
                <a:solidFill>
                  <a:srgbClr val="BECDE6"/>
                </a:solidFill>
                <a:latin typeface="Aptos"/>
              </a:rPr>
              <a:t>Standard pro Lead bei leads</a:t>
            </a:r>
            <a:endParaRPr lang="de-DE" sz="850">
              <a:solidFill>
                <a:srgbClr val="BECDE6"/>
              </a:solidFill>
              <a:latin typeface="Aptos"/>
            </a:endParaRPr>
          </a:p>
        </p:txBody>
      </p:sp>
      <p:sp>
        <p:nvSpPr>
          <p:cNvPr id="20" name="Abgerundetes Rechteck 19"/>
          <p:cNvSpPr/>
          <p:nvPr/>
        </p:nvSpPr>
        <p:spPr>
          <a:xfrm>
            <a:off x="7772400" y="2184400"/>
            <a:ext cx="2159000" cy="1168400"/>
          </a:xfrm>
          <a:prstGeom prst="roundRect">
            <a:avLst/>
          </a:prstGeom>
          <a:solidFill>
            <a:srgbClr val="182233"/>
          </a:solidFill>
          <a:ln>
            <a:solidFill>
              <a:srgbClr val="2F3F5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1" name="Textfeld 20"/>
          <p:cNvSpPr txBox="1"/>
          <p:nvPr/>
        </p:nvSpPr>
        <p:spPr>
          <a:xfrm>
            <a:off x="7950200" y="2336800"/>
            <a:ext cx="18034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800" b="1" smtClean="0">
                <a:solidFill>
                  <a:srgbClr val="FFB142"/>
                </a:solidFill>
                <a:latin typeface="Aptos"/>
              </a:rPr>
              <a:t>CPA</a:t>
            </a:r>
            <a:endParaRPr lang="de-DE" sz="800" b="1">
              <a:solidFill>
                <a:srgbClr val="FFB142"/>
              </a:solidFill>
              <a:latin typeface="Aptos"/>
            </a:endParaRPr>
          </a:p>
        </p:txBody>
      </p:sp>
      <p:sp>
        <p:nvSpPr>
          <p:cNvPr id="22" name="Textfeld 21"/>
          <p:cNvSpPr txBox="1"/>
          <p:nvPr/>
        </p:nvSpPr>
        <p:spPr>
          <a:xfrm>
            <a:off x="7950200" y="2565400"/>
            <a:ext cx="1803400" cy="4001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2000" b="1" smtClean="0">
                <a:solidFill>
                  <a:srgbClr val="F8FAFC"/>
                </a:solidFill>
                <a:latin typeface="Aptos Display"/>
              </a:rPr>
              <a:t>10 %</a:t>
            </a:r>
            <a:endParaRPr lang="de-DE" sz="2000" b="1">
              <a:solidFill>
                <a:srgbClr val="F8FAFC"/>
              </a:solidFill>
              <a:latin typeface="Aptos Display"/>
            </a:endParaRPr>
          </a:p>
        </p:txBody>
      </p:sp>
      <p:sp>
        <p:nvSpPr>
          <p:cNvPr id="23" name="Textfeld 22"/>
          <p:cNvSpPr txBox="1"/>
          <p:nvPr/>
        </p:nvSpPr>
        <p:spPr>
          <a:xfrm>
            <a:off x="7950200" y="2971800"/>
            <a:ext cx="1803400" cy="35394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850" smtClean="0">
                <a:solidFill>
                  <a:srgbClr val="BECDE6"/>
                </a:solidFill>
                <a:latin typeface="Aptos"/>
              </a:rPr>
              <a:t>Standard vom Warenwert bei sales</a:t>
            </a:r>
            <a:endParaRPr lang="de-DE" sz="850">
              <a:solidFill>
                <a:srgbClr val="BECDE6"/>
              </a:solidFill>
              <a:latin typeface="Aptos"/>
            </a:endParaRPr>
          </a:p>
        </p:txBody>
      </p:sp>
      <p:sp>
        <p:nvSpPr>
          <p:cNvPr id="24" name="Abgerundetes Rechteck 23"/>
          <p:cNvSpPr/>
          <p:nvPr/>
        </p:nvSpPr>
        <p:spPr>
          <a:xfrm>
            <a:off x="533400" y="3937000"/>
            <a:ext cx="5105400" cy="1422400"/>
          </a:xfrm>
          <a:prstGeom prst="roundRect">
            <a:avLst/>
          </a:prstGeom>
          <a:solidFill>
            <a:srgbClr val="111927"/>
          </a:solidFill>
          <a:ln w="12700">
            <a:solidFill>
              <a:srgbClr val="2F3F5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5" name="Rechteck 24"/>
          <p:cNvSpPr/>
          <p:nvPr/>
        </p:nvSpPr>
        <p:spPr>
          <a:xfrm>
            <a:off x="533400" y="3937000"/>
            <a:ext cx="63500" cy="1422400"/>
          </a:xfrm>
          <a:prstGeom prst="rect">
            <a:avLst/>
          </a:prstGeom>
          <a:solidFill>
            <a:srgbClr val="3AD39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6" name="Textfeld 25"/>
          <p:cNvSpPr txBox="1"/>
          <p:nvPr/>
        </p:nvSpPr>
        <p:spPr>
          <a:xfrm>
            <a:off x="736600" y="4089400"/>
            <a:ext cx="47752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1400" b="1" smtClean="0">
                <a:solidFill>
                  <a:srgbClr val="F8FAFC"/>
                </a:solidFill>
                <a:latin typeface="Aptos Display"/>
              </a:rPr>
              <a:t>Budgetverbrauch</a:t>
            </a:r>
            <a:endParaRPr lang="de-DE" sz="1400" b="1">
              <a:solidFill>
                <a:srgbClr val="F8FAFC"/>
              </a:solidFill>
              <a:latin typeface="Aptos Display"/>
            </a:endParaRPr>
          </a:p>
        </p:txBody>
      </p:sp>
      <p:sp>
        <p:nvSpPr>
          <p:cNvPr id="27" name="Textfeld 26"/>
          <p:cNvSpPr txBox="1"/>
          <p:nvPr/>
        </p:nvSpPr>
        <p:spPr>
          <a:xfrm>
            <a:off x="736600" y="4419600"/>
            <a:ext cx="4775200" cy="5632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1020" smtClean="0">
                <a:solidFill>
                  <a:srgbClr val="BECDE6"/>
                </a:solidFill>
                <a:latin typeface="Aptos"/>
              </a:rPr>
              <a:t>spent_cents steigt nur, wenn ein Event für das Ziel abrechnungsrelevant ist und Budget vorhanden ist. Daily Budget stoppt Tagesverbrauch, Gesamtbudget stoppt Kampagne.</a:t>
            </a:r>
            <a:endParaRPr lang="de-DE" sz="1020">
              <a:solidFill>
                <a:srgbClr val="BECDE6"/>
              </a:solidFill>
              <a:latin typeface="Aptos"/>
            </a:endParaRPr>
          </a:p>
        </p:txBody>
      </p:sp>
      <p:sp>
        <p:nvSpPr>
          <p:cNvPr id="28" name="Abgerundetes Rechteck 27"/>
          <p:cNvSpPr/>
          <p:nvPr/>
        </p:nvSpPr>
        <p:spPr>
          <a:xfrm>
            <a:off x="5943600" y="3937000"/>
            <a:ext cx="5105400" cy="1422400"/>
          </a:xfrm>
          <a:prstGeom prst="roundRect">
            <a:avLst/>
          </a:prstGeom>
          <a:solidFill>
            <a:srgbClr val="111927"/>
          </a:solidFill>
          <a:ln w="12700">
            <a:solidFill>
              <a:srgbClr val="2F3F5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9" name="Rechteck 28"/>
          <p:cNvSpPr/>
          <p:nvPr/>
        </p:nvSpPr>
        <p:spPr>
          <a:xfrm>
            <a:off x="5943600" y="3937000"/>
            <a:ext cx="63500" cy="1422400"/>
          </a:xfrm>
          <a:prstGeom prst="rect">
            <a:avLst/>
          </a:prstGeom>
          <a:solidFill>
            <a:srgbClr val="3884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0" name="Textfeld 29"/>
          <p:cNvSpPr txBox="1"/>
          <p:nvPr/>
        </p:nvSpPr>
        <p:spPr>
          <a:xfrm>
            <a:off x="6146800" y="4089400"/>
            <a:ext cx="47752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1400" b="1" smtClean="0">
                <a:solidFill>
                  <a:srgbClr val="F8FAFC"/>
                </a:solidFill>
                <a:latin typeface="Aptos Display"/>
              </a:rPr>
              <a:t>Commerce-Verknüpfung</a:t>
            </a:r>
            <a:endParaRPr lang="de-DE" sz="1400" b="1">
              <a:solidFill>
                <a:srgbClr val="F8FAFC"/>
              </a:solidFill>
              <a:latin typeface="Aptos Display"/>
            </a:endParaRPr>
          </a:p>
        </p:txBody>
      </p:sp>
      <p:sp>
        <p:nvSpPr>
          <p:cNvPr id="31" name="Textfeld 30"/>
          <p:cNvSpPr txBox="1"/>
          <p:nvPr/>
        </p:nvSpPr>
        <p:spPr>
          <a:xfrm>
            <a:off x="6146800" y="4419600"/>
            <a:ext cx="4775200" cy="4062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1020" smtClean="0">
                <a:solidFill>
                  <a:srgbClr val="BECDE6"/>
                </a:solidFill>
                <a:latin typeface="Aptos"/>
              </a:rPr>
              <a:t>Ads-Käufe sind CommerceOrders vom Typ ads_campaign. Nach Provider-Zahlung wird die Kampagne pending_review und erhält später Freigabe.</a:t>
            </a:r>
            <a:endParaRPr lang="de-DE" sz="1020">
              <a:solidFill>
                <a:srgbClr val="BECDE6"/>
              </a:solidFill>
              <a:latin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327040687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eck 1"/>
          <p:cNvSpPr/>
          <p:nvPr/>
        </p:nvSpPr>
        <p:spPr>
          <a:xfrm>
            <a:off x="0" y="0"/>
            <a:ext cx="12192000" cy="101600"/>
          </a:xfrm>
          <a:prstGeom prst="rect">
            <a:avLst/>
          </a:prstGeom>
          <a:solidFill>
            <a:srgbClr val="3884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" name="Textfeld 2"/>
          <p:cNvSpPr txBox="1"/>
          <p:nvPr/>
        </p:nvSpPr>
        <p:spPr>
          <a:xfrm>
            <a:off x="533400" y="431800"/>
            <a:ext cx="3302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900" b="1" smtClean="0">
                <a:solidFill>
                  <a:srgbClr val="3884FF"/>
                </a:solidFill>
                <a:latin typeface="Aptos"/>
              </a:rPr>
              <a:t>EVENT ACCOUNTING</a:t>
            </a:r>
            <a:endParaRPr lang="de-DE" sz="900" b="1">
              <a:solidFill>
                <a:srgbClr val="3884FF"/>
              </a:solidFill>
              <a:latin typeface="Aptos"/>
            </a:endParaRPr>
          </a:p>
        </p:txBody>
      </p:sp>
      <p:sp>
        <p:nvSpPr>
          <p:cNvPr id="4" name="Textfeld 3"/>
          <p:cNvSpPr txBox="1"/>
          <p:nvPr/>
        </p:nvSpPr>
        <p:spPr>
          <a:xfrm>
            <a:off x="533400" y="736600"/>
            <a:ext cx="102235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2800" b="1" smtClean="0">
                <a:solidFill>
                  <a:srgbClr val="F8FAFC"/>
                </a:solidFill>
                <a:latin typeface="Aptos Display"/>
              </a:rPr>
              <a:t>Welche Events das System kennt</a:t>
            </a:r>
            <a:endParaRPr lang="de-DE" sz="2800" b="1">
              <a:solidFill>
                <a:srgbClr val="F8FAFC"/>
              </a:solidFill>
              <a:latin typeface="Aptos Display"/>
            </a:endParaRPr>
          </a:p>
        </p:txBody>
      </p:sp>
      <p:sp>
        <p:nvSpPr>
          <p:cNvPr id="5" name="Textfeld 4"/>
          <p:cNvSpPr txBox="1"/>
          <p:nvPr/>
        </p:nvSpPr>
        <p:spPr>
          <a:xfrm>
            <a:off x="533400" y="1422400"/>
            <a:ext cx="10414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1200" smtClean="0">
                <a:solidFill>
                  <a:srgbClr val="BECDE6"/>
                </a:solidFill>
                <a:latin typeface="Aptos"/>
              </a:rPr>
              <a:t>AdEvent ist die Wahrheit für spätere Reports, Diagnosen, Kosten und Attribution.</a:t>
            </a:r>
            <a:endParaRPr lang="de-DE" sz="1200">
              <a:solidFill>
                <a:srgbClr val="BECDE6"/>
              </a:solidFill>
              <a:latin typeface="Aptos"/>
            </a:endParaRPr>
          </a:p>
        </p:txBody>
      </p:sp>
      <p:sp>
        <p:nvSpPr>
          <p:cNvPr id="6" name="Textfeld 5"/>
          <p:cNvSpPr txBox="1"/>
          <p:nvPr/>
        </p:nvSpPr>
        <p:spPr>
          <a:xfrm>
            <a:off x="533400" y="6451600"/>
            <a:ext cx="66040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800" smtClean="0">
                <a:solidFill>
                  <a:srgbClr val="7E97B8"/>
                </a:solidFill>
                <a:latin typeface="Aptos"/>
              </a:rPr>
              <a:t>Airmius Ads System | Produkt-, Technik- und Finance-Dokumentation</a:t>
            </a:r>
            <a:endParaRPr lang="de-DE" sz="800">
              <a:solidFill>
                <a:srgbClr val="7E97B8"/>
              </a:solidFill>
              <a:latin typeface="Aptos"/>
            </a:endParaRPr>
          </a:p>
        </p:txBody>
      </p:sp>
      <p:sp>
        <p:nvSpPr>
          <p:cNvPr id="7" name="Textfeld 6"/>
          <p:cNvSpPr txBox="1"/>
          <p:nvPr/>
        </p:nvSpPr>
        <p:spPr>
          <a:xfrm>
            <a:off x="11112500" y="64516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1000" b="1" smtClean="0">
                <a:solidFill>
                  <a:srgbClr val="3884FF"/>
                </a:solidFill>
                <a:latin typeface="Aptos Display"/>
              </a:rPr>
              <a:t>12</a:t>
            </a:r>
            <a:endParaRPr lang="de-DE" sz="1000" b="1">
              <a:solidFill>
                <a:srgbClr val="3884FF"/>
              </a:solidFill>
              <a:latin typeface="Aptos Display"/>
            </a:endParaRPr>
          </a:p>
        </p:txBody>
      </p:sp>
      <p:sp>
        <p:nvSpPr>
          <p:cNvPr id="8" name="Abgerundetes Rechteck 7"/>
          <p:cNvSpPr/>
          <p:nvPr/>
        </p:nvSpPr>
        <p:spPr>
          <a:xfrm>
            <a:off x="533400" y="2133600"/>
            <a:ext cx="2476500" cy="1549400"/>
          </a:xfrm>
          <a:prstGeom prst="roundRect">
            <a:avLst/>
          </a:prstGeom>
          <a:solidFill>
            <a:srgbClr val="111927"/>
          </a:solidFill>
          <a:ln w="12700">
            <a:solidFill>
              <a:srgbClr val="2F3F5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9" name="Rechteck 8"/>
          <p:cNvSpPr/>
          <p:nvPr/>
        </p:nvSpPr>
        <p:spPr>
          <a:xfrm>
            <a:off x="533400" y="2133600"/>
            <a:ext cx="63500" cy="1549400"/>
          </a:xfrm>
          <a:prstGeom prst="rect">
            <a:avLst/>
          </a:prstGeom>
          <a:solidFill>
            <a:srgbClr val="3884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0" name="Textfeld 9"/>
          <p:cNvSpPr txBox="1"/>
          <p:nvPr/>
        </p:nvSpPr>
        <p:spPr>
          <a:xfrm>
            <a:off x="736600" y="2286000"/>
            <a:ext cx="21463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1400" b="1" smtClean="0">
                <a:solidFill>
                  <a:srgbClr val="F8FAFC"/>
                </a:solidFill>
                <a:latin typeface="Aptos Display"/>
              </a:rPr>
              <a:t>impression</a:t>
            </a:r>
            <a:endParaRPr lang="de-DE" sz="1400" b="1">
              <a:solidFill>
                <a:srgbClr val="F8FAFC"/>
              </a:solidFill>
              <a:latin typeface="Aptos Display"/>
            </a:endParaRPr>
          </a:p>
        </p:txBody>
      </p:sp>
      <p:sp>
        <p:nvSpPr>
          <p:cNvPr id="11" name="Textfeld 10"/>
          <p:cNvSpPr txBox="1"/>
          <p:nvPr/>
        </p:nvSpPr>
        <p:spPr>
          <a:xfrm>
            <a:off x="736600" y="2616200"/>
            <a:ext cx="2146300" cy="5632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1020" smtClean="0">
                <a:solidFill>
                  <a:srgbClr val="BECDE6"/>
                </a:solidFill>
                <a:latin typeface="Aptos"/>
              </a:rPr>
              <a:t>Anzeige wurde ausgeliefert. Bei awareness kann CPM-Kostenlogik greifen.</a:t>
            </a:r>
            <a:endParaRPr lang="de-DE" sz="1020">
              <a:solidFill>
                <a:srgbClr val="BECDE6"/>
              </a:solidFill>
              <a:latin typeface="Aptos"/>
            </a:endParaRPr>
          </a:p>
        </p:txBody>
      </p:sp>
      <p:sp>
        <p:nvSpPr>
          <p:cNvPr id="12" name="Abgerundetes Rechteck 11"/>
          <p:cNvSpPr/>
          <p:nvPr/>
        </p:nvSpPr>
        <p:spPr>
          <a:xfrm>
            <a:off x="3225800" y="2133600"/>
            <a:ext cx="2476500" cy="1549400"/>
          </a:xfrm>
          <a:prstGeom prst="roundRect">
            <a:avLst/>
          </a:prstGeom>
          <a:solidFill>
            <a:srgbClr val="111927"/>
          </a:solidFill>
          <a:ln w="12700">
            <a:solidFill>
              <a:srgbClr val="2F3F5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3" name="Rechteck 12"/>
          <p:cNvSpPr/>
          <p:nvPr/>
        </p:nvSpPr>
        <p:spPr>
          <a:xfrm>
            <a:off x="3225800" y="2133600"/>
            <a:ext cx="63500" cy="1549400"/>
          </a:xfrm>
          <a:prstGeom prst="rect">
            <a:avLst/>
          </a:prstGeom>
          <a:solidFill>
            <a:srgbClr val="26C6D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4" name="Textfeld 13"/>
          <p:cNvSpPr txBox="1"/>
          <p:nvPr/>
        </p:nvSpPr>
        <p:spPr>
          <a:xfrm>
            <a:off x="3429000" y="2286000"/>
            <a:ext cx="21463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1400" b="1" smtClean="0">
                <a:solidFill>
                  <a:srgbClr val="F8FAFC"/>
                </a:solidFill>
                <a:latin typeface="Aptos Display"/>
              </a:rPr>
              <a:t>click</a:t>
            </a:r>
            <a:endParaRPr lang="de-DE" sz="1400" b="1">
              <a:solidFill>
                <a:srgbClr val="F8FAFC"/>
              </a:solidFill>
              <a:latin typeface="Aptos Display"/>
            </a:endParaRPr>
          </a:p>
        </p:txBody>
      </p:sp>
      <p:sp>
        <p:nvSpPr>
          <p:cNvPr id="15" name="Textfeld 14"/>
          <p:cNvSpPr txBox="1"/>
          <p:nvPr/>
        </p:nvSpPr>
        <p:spPr>
          <a:xfrm>
            <a:off x="3429000" y="2616200"/>
            <a:ext cx="2146300" cy="4062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1020" smtClean="0">
                <a:solidFill>
                  <a:srgbClr val="BECDE6"/>
                </a:solidFill>
                <a:latin typeface="Aptos"/>
              </a:rPr>
              <a:t>Klick auf Click-URL. Bei traffic kann CPC berechnet werden.</a:t>
            </a:r>
            <a:endParaRPr lang="de-DE" sz="1020">
              <a:solidFill>
                <a:srgbClr val="BECDE6"/>
              </a:solidFill>
              <a:latin typeface="Aptos"/>
            </a:endParaRPr>
          </a:p>
        </p:txBody>
      </p:sp>
      <p:sp>
        <p:nvSpPr>
          <p:cNvPr id="16" name="Abgerundetes Rechteck 15"/>
          <p:cNvSpPr/>
          <p:nvPr/>
        </p:nvSpPr>
        <p:spPr>
          <a:xfrm>
            <a:off x="5918200" y="2133600"/>
            <a:ext cx="2476500" cy="1549400"/>
          </a:xfrm>
          <a:prstGeom prst="roundRect">
            <a:avLst/>
          </a:prstGeom>
          <a:solidFill>
            <a:srgbClr val="111927"/>
          </a:solidFill>
          <a:ln w="12700">
            <a:solidFill>
              <a:srgbClr val="2F3F5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7" name="Rechteck 16"/>
          <p:cNvSpPr/>
          <p:nvPr/>
        </p:nvSpPr>
        <p:spPr>
          <a:xfrm>
            <a:off x="5918200" y="2133600"/>
            <a:ext cx="63500" cy="1549400"/>
          </a:xfrm>
          <a:prstGeom prst="rect">
            <a:avLst/>
          </a:prstGeom>
          <a:solidFill>
            <a:srgbClr val="3AD39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8" name="Textfeld 17"/>
          <p:cNvSpPr txBox="1"/>
          <p:nvPr/>
        </p:nvSpPr>
        <p:spPr>
          <a:xfrm>
            <a:off x="6121400" y="2286000"/>
            <a:ext cx="21463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1400" b="1" smtClean="0">
                <a:solidFill>
                  <a:srgbClr val="F8FAFC"/>
                </a:solidFill>
                <a:latin typeface="Aptos Display"/>
              </a:rPr>
              <a:t>lead</a:t>
            </a:r>
            <a:endParaRPr lang="de-DE" sz="1400" b="1">
              <a:solidFill>
                <a:srgbClr val="F8FAFC"/>
              </a:solidFill>
              <a:latin typeface="Aptos Display"/>
            </a:endParaRPr>
          </a:p>
        </p:txBody>
      </p:sp>
      <p:sp>
        <p:nvSpPr>
          <p:cNvPr id="19" name="Textfeld 18"/>
          <p:cNvSpPr txBox="1"/>
          <p:nvPr/>
        </p:nvSpPr>
        <p:spPr>
          <a:xfrm>
            <a:off x="6121400" y="2616200"/>
            <a:ext cx="2146300" cy="5632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1020" smtClean="0">
                <a:solidFill>
                  <a:srgbClr val="BECDE6"/>
                </a:solidFill>
                <a:latin typeface="Aptos"/>
              </a:rPr>
              <a:t>Registrierung, Anfrage oder Checkout-Start. Bei leads kann CPL berechnet werden.</a:t>
            </a:r>
            <a:endParaRPr lang="de-DE" sz="1020">
              <a:solidFill>
                <a:srgbClr val="BECDE6"/>
              </a:solidFill>
              <a:latin typeface="Aptos"/>
            </a:endParaRPr>
          </a:p>
        </p:txBody>
      </p:sp>
      <p:sp>
        <p:nvSpPr>
          <p:cNvPr id="20" name="Abgerundetes Rechteck 19"/>
          <p:cNvSpPr/>
          <p:nvPr/>
        </p:nvSpPr>
        <p:spPr>
          <a:xfrm>
            <a:off x="8610600" y="2133600"/>
            <a:ext cx="2476500" cy="1549400"/>
          </a:xfrm>
          <a:prstGeom prst="roundRect">
            <a:avLst/>
          </a:prstGeom>
          <a:solidFill>
            <a:srgbClr val="111927"/>
          </a:solidFill>
          <a:ln w="12700">
            <a:solidFill>
              <a:srgbClr val="2F3F5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1" name="Rechteck 20"/>
          <p:cNvSpPr/>
          <p:nvPr/>
        </p:nvSpPr>
        <p:spPr>
          <a:xfrm>
            <a:off x="8610600" y="2133600"/>
            <a:ext cx="63500" cy="1549400"/>
          </a:xfrm>
          <a:prstGeom prst="rect">
            <a:avLst/>
          </a:prstGeom>
          <a:solidFill>
            <a:srgbClr val="FFB14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2" name="Textfeld 21"/>
          <p:cNvSpPr txBox="1"/>
          <p:nvPr/>
        </p:nvSpPr>
        <p:spPr>
          <a:xfrm>
            <a:off x="8813800" y="2286000"/>
            <a:ext cx="21463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1400" b="1" smtClean="0">
                <a:solidFill>
                  <a:srgbClr val="F8FAFC"/>
                </a:solidFill>
                <a:latin typeface="Aptos Display"/>
              </a:rPr>
              <a:t>sale</a:t>
            </a:r>
            <a:endParaRPr lang="de-DE" sz="1400" b="1">
              <a:solidFill>
                <a:srgbClr val="F8FAFC"/>
              </a:solidFill>
              <a:latin typeface="Aptos Display"/>
            </a:endParaRPr>
          </a:p>
        </p:txBody>
      </p:sp>
      <p:sp>
        <p:nvSpPr>
          <p:cNvPr id="23" name="Textfeld 22"/>
          <p:cNvSpPr txBox="1"/>
          <p:nvPr/>
        </p:nvSpPr>
        <p:spPr>
          <a:xfrm>
            <a:off x="8813800" y="2616200"/>
            <a:ext cx="2146300" cy="5632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1020" smtClean="0">
                <a:solidFill>
                  <a:srgbClr val="BECDE6"/>
                </a:solidFill>
                <a:latin typeface="Aptos"/>
              </a:rPr>
              <a:t>Bezahlte Bestellung. Bei sales kann CPA vom Warenwert berechnet werden.</a:t>
            </a:r>
            <a:endParaRPr lang="de-DE" sz="1020">
              <a:solidFill>
                <a:srgbClr val="BECDE6"/>
              </a:solidFill>
              <a:latin typeface="Aptos"/>
            </a:endParaRPr>
          </a:p>
        </p:txBody>
      </p:sp>
      <p:sp>
        <p:nvSpPr>
          <p:cNvPr id="24" name="Abgerundetes Rechteck 23"/>
          <p:cNvSpPr/>
          <p:nvPr/>
        </p:nvSpPr>
        <p:spPr>
          <a:xfrm>
            <a:off x="533400" y="4038600"/>
            <a:ext cx="10515600" cy="1219200"/>
          </a:xfrm>
          <a:prstGeom prst="roundRect">
            <a:avLst/>
          </a:prstGeom>
          <a:solidFill>
            <a:srgbClr val="111927"/>
          </a:solidFill>
          <a:ln w="12700">
            <a:solidFill>
              <a:srgbClr val="2F3F5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5" name="Rechteck 24"/>
          <p:cNvSpPr/>
          <p:nvPr/>
        </p:nvSpPr>
        <p:spPr>
          <a:xfrm>
            <a:off x="533400" y="4038600"/>
            <a:ext cx="63500" cy="1219200"/>
          </a:xfrm>
          <a:prstGeom prst="rect">
            <a:avLst/>
          </a:prstGeom>
          <a:solidFill>
            <a:srgbClr val="FF6B6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6" name="Textfeld 25"/>
          <p:cNvSpPr txBox="1"/>
          <p:nvPr/>
        </p:nvSpPr>
        <p:spPr>
          <a:xfrm>
            <a:off x="736600" y="4191000"/>
            <a:ext cx="101854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1400" b="1" smtClean="0">
                <a:solidFill>
                  <a:srgbClr val="F8FAFC"/>
                </a:solidFill>
                <a:latin typeface="Aptos Display"/>
              </a:rPr>
              <a:t>Schutz</a:t>
            </a:r>
            <a:endParaRPr lang="de-DE" sz="1400" b="1">
              <a:solidFill>
                <a:srgbClr val="F8FAFC"/>
              </a:solidFill>
              <a:latin typeface="Aptos Display"/>
            </a:endParaRPr>
          </a:p>
        </p:txBody>
      </p:sp>
      <p:sp>
        <p:nvSpPr>
          <p:cNvPr id="27" name="Textfeld 26"/>
          <p:cNvSpPr txBox="1"/>
          <p:nvPr/>
        </p:nvSpPr>
        <p:spPr>
          <a:xfrm>
            <a:off x="736600" y="4521200"/>
            <a:ext cx="10185400" cy="4062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1020" smtClean="0">
                <a:solidFill>
                  <a:srgbClr val="BECDE6"/>
                </a:solidFill>
                <a:latin typeface="Aptos"/>
              </a:rPr>
              <a:t>Doppelte Events werden per Zeitfenster verhindert: Impression 10 Min, Click 30 Min, Conversions 60 Min. Verdächtiger Traffic wird pro Minute gedämpft: ca. 20 Impressions oder 5 Clicks pro Nutzer/Session/IP+User-Agent.</a:t>
            </a:r>
            <a:endParaRPr lang="de-DE" sz="1020">
              <a:solidFill>
                <a:srgbClr val="BECDE6"/>
              </a:solidFill>
              <a:latin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343963852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eck 1"/>
          <p:cNvSpPr/>
          <p:nvPr/>
        </p:nvSpPr>
        <p:spPr>
          <a:xfrm>
            <a:off x="0" y="0"/>
            <a:ext cx="12192000" cy="101600"/>
          </a:xfrm>
          <a:prstGeom prst="rect">
            <a:avLst/>
          </a:prstGeom>
          <a:solidFill>
            <a:srgbClr val="3884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" name="Textfeld 2"/>
          <p:cNvSpPr txBox="1"/>
          <p:nvPr/>
        </p:nvSpPr>
        <p:spPr>
          <a:xfrm>
            <a:off x="533400" y="431800"/>
            <a:ext cx="3302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900" b="1" smtClean="0">
                <a:solidFill>
                  <a:srgbClr val="3884FF"/>
                </a:solidFill>
                <a:latin typeface="Aptos"/>
              </a:rPr>
              <a:t>TARGETING</a:t>
            </a:r>
            <a:endParaRPr lang="de-DE" sz="900" b="1">
              <a:solidFill>
                <a:srgbClr val="3884FF"/>
              </a:solidFill>
              <a:latin typeface="Aptos"/>
            </a:endParaRPr>
          </a:p>
        </p:txBody>
      </p:sp>
      <p:sp>
        <p:nvSpPr>
          <p:cNvPr id="4" name="Textfeld 3"/>
          <p:cNvSpPr txBox="1"/>
          <p:nvPr/>
        </p:nvSpPr>
        <p:spPr>
          <a:xfrm>
            <a:off x="533400" y="736600"/>
            <a:ext cx="102235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2800" b="1" smtClean="0">
                <a:solidFill>
                  <a:srgbClr val="F8FAFC"/>
                </a:solidFill>
                <a:latin typeface="Aptos Display"/>
              </a:rPr>
              <a:t>Welche Zielgruppenlogik heute möglich ist</a:t>
            </a:r>
            <a:endParaRPr lang="de-DE" sz="2800" b="1">
              <a:solidFill>
                <a:srgbClr val="F8FAFC"/>
              </a:solidFill>
              <a:latin typeface="Aptos Display"/>
            </a:endParaRPr>
          </a:p>
        </p:txBody>
      </p:sp>
      <p:sp>
        <p:nvSpPr>
          <p:cNvPr id="5" name="Textfeld 4"/>
          <p:cNvSpPr txBox="1"/>
          <p:nvPr/>
        </p:nvSpPr>
        <p:spPr>
          <a:xfrm>
            <a:off x="533400" y="1422400"/>
            <a:ext cx="10414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1200" smtClean="0">
                <a:solidFill>
                  <a:srgbClr val="BECDE6"/>
                </a:solidFill>
                <a:latin typeface="Aptos"/>
              </a:rPr>
              <a:t>Audience Matching filtert und gewichtet nach echten Kriterien, soweit Daten vorhanden sind.</a:t>
            </a:r>
            <a:endParaRPr lang="de-DE" sz="1200">
              <a:solidFill>
                <a:srgbClr val="BECDE6"/>
              </a:solidFill>
              <a:latin typeface="Aptos"/>
            </a:endParaRPr>
          </a:p>
        </p:txBody>
      </p:sp>
      <p:sp>
        <p:nvSpPr>
          <p:cNvPr id="6" name="Textfeld 5"/>
          <p:cNvSpPr txBox="1"/>
          <p:nvPr/>
        </p:nvSpPr>
        <p:spPr>
          <a:xfrm>
            <a:off x="533400" y="6451600"/>
            <a:ext cx="66040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800" smtClean="0">
                <a:solidFill>
                  <a:srgbClr val="7E97B8"/>
                </a:solidFill>
                <a:latin typeface="Aptos"/>
              </a:rPr>
              <a:t>Airmius Ads System | Produkt-, Technik- und Finance-Dokumentation</a:t>
            </a:r>
            <a:endParaRPr lang="de-DE" sz="800">
              <a:solidFill>
                <a:srgbClr val="7E97B8"/>
              </a:solidFill>
              <a:latin typeface="Aptos"/>
            </a:endParaRPr>
          </a:p>
        </p:txBody>
      </p:sp>
      <p:sp>
        <p:nvSpPr>
          <p:cNvPr id="7" name="Textfeld 6"/>
          <p:cNvSpPr txBox="1"/>
          <p:nvPr/>
        </p:nvSpPr>
        <p:spPr>
          <a:xfrm>
            <a:off x="11112500" y="64516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1000" b="1" smtClean="0">
                <a:solidFill>
                  <a:srgbClr val="3884FF"/>
                </a:solidFill>
                <a:latin typeface="Aptos Display"/>
              </a:rPr>
              <a:t>13</a:t>
            </a:r>
            <a:endParaRPr lang="de-DE" sz="1000" b="1">
              <a:solidFill>
                <a:srgbClr val="3884FF"/>
              </a:solidFill>
              <a:latin typeface="Aptos Display"/>
            </a:endParaRPr>
          </a:p>
        </p:txBody>
      </p:sp>
      <p:sp>
        <p:nvSpPr>
          <p:cNvPr id="8" name="Abgerundetes Rechteck 7"/>
          <p:cNvSpPr/>
          <p:nvPr/>
        </p:nvSpPr>
        <p:spPr>
          <a:xfrm>
            <a:off x="533400" y="2133600"/>
            <a:ext cx="3302000" cy="1524000"/>
          </a:xfrm>
          <a:prstGeom prst="roundRect">
            <a:avLst/>
          </a:prstGeom>
          <a:solidFill>
            <a:srgbClr val="111927"/>
          </a:solidFill>
          <a:ln w="12700">
            <a:solidFill>
              <a:srgbClr val="2F3F5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9" name="Rechteck 8"/>
          <p:cNvSpPr/>
          <p:nvPr/>
        </p:nvSpPr>
        <p:spPr>
          <a:xfrm>
            <a:off x="533400" y="2133600"/>
            <a:ext cx="63500" cy="1524000"/>
          </a:xfrm>
          <a:prstGeom prst="rect">
            <a:avLst/>
          </a:prstGeom>
          <a:solidFill>
            <a:srgbClr val="3884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0" name="Textfeld 9"/>
          <p:cNvSpPr txBox="1"/>
          <p:nvPr/>
        </p:nvSpPr>
        <p:spPr>
          <a:xfrm>
            <a:off x="736600" y="2286000"/>
            <a:ext cx="29718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1400" b="1" smtClean="0">
                <a:solidFill>
                  <a:srgbClr val="F8FAFC"/>
                </a:solidFill>
                <a:latin typeface="Aptos Display"/>
              </a:rPr>
              <a:t>Inklusion</a:t>
            </a:r>
            <a:endParaRPr lang="de-DE" sz="1400" b="1">
              <a:solidFill>
                <a:srgbClr val="F8FAFC"/>
              </a:solidFill>
              <a:latin typeface="Aptos Display"/>
            </a:endParaRPr>
          </a:p>
        </p:txBody>
      </p:sp>
      <p:sp>
        <p:nvSpPr>
          <p:cNvPr id="11" name="Textfeld 10"/>
          <p:cNvSpPr txBox="1"/>
          <p:nvPr/>
        </p:nvSpPr>
        <p:spPr>
          <a:xfrm>
            <a:off x="736600" y="2616200"/>
            <a:ext cx="2971800" cy="4062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1020" smtClean="0">
                <a:solidFill>
                  <a:srgbClr val="BECDE6"/>
                </a:solidFill>
                <a:latin typeface="Aptos"/>
              </a:rPr>
              <a:t>Regionen, Interessen, Geräte, Sprachen, Zeitfenster, Alter von/bis.</a:t>
            </a:r>
            <a:endParaRPr lang="de-DE" sz="1020">
              <a:solidFill>
                <a:srgbClr val="BECDE6"/>
              </a:solidFill>
              <a:latin typeface="Aptos"/>
            </a:endParaRPr>
          </a:p>
        </p:txBody>
      </p:sp>
      <p:sp>
        <p:nvSpPr>
          <p:cNvPr id="12" name="Abgerundetes Rechteck 11"/>
          <p:cNvSpPr/>
          <p:nvPr/>
        </p:nvSpPr>
        <p:spPr>
          <a:xfrm>
            <a:off x="4140200" y="2133600"/>
            <a:ext cx="3302000" cy="1524000"/>
          </a:xfrm>
          <a:prstGeom prst="roundRect">
            <a:avLst/>
          </a:prstGeom>
          <a:solidFill>
            <a:srgbClr val="111927"/>
          </a:solidFill>
          <a:ln w="12700">
            <a:solidFill>
              <a:srgbClr val="2F3F5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3" name="Rechteck 12"/>
          <p:cNvSpPr/>
          <p:nvPr/>
        </p:nvSpPr>
        <p:spPr>
          <a:xfrm>
            <a:off x="4140200" y="2133600"/>
            <a:ext cx="63500" cy="1524000"/>
          </a:xfrm>
          <a:prstGeom prst="rect">
            <a:avLst/>
          </a:prstGeom>
          <a:solidFill>
            <a:srgbClr val="FF6B6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4" name="Textfeld 13"/>
          <p:cNvSpPr txBox="1"/>
          <p:nvPr/>
        </p:nvSpPr>
        <p:spPr>
          <a:xfrm>
            <a:off x="4343400" y="2286000"/>
            <a:ext cx="29718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1400" b="1" smtClean="0">
                <a:solidFill>
                  <a:srgbClr val="F8FAFC"/>
                </a:solidFill>
                <a:latin typeface="Aptos Display"/>
              </a:rPr>
              <a:t>Exklusion</a:t>
            </a:r>
            <a:endParaRPr lang="de-DE" sz="1400" b="1">
              <a:solidFill>
                <a:srgbClr val="F8FAFC"/>
              </a:solidFill>
              <a:latin typeface="Aptos Display"/>
            </a:endParaRPr>
          </a:p>
        </p:txBody>
      </p:sp>
      <p:sp>
        <p:nvSpPr>
          <p:cNvPr id="15" name="Textfeld 14"/>
          <p:cNvSpPr txBox="1"/>
          <p:nvPr/>
        </p:nvSpPr>
        <p:spPr>
          <a:xfrm>
            <a:off x="4343400" y="2616200"/>
            <a:ext cx="2971800" cy="4062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1020" smtClean="0">
                <a:solidFill>
                  <a:srgbClr val="BECDE6"/>
                </a:solidFill>
                <a:latin typeface="Aptos"/>
              </a:rPr>
              <a:t>Ausgeschlossene Regionen und Interessen verhindern unpassende Ausspielung.</a:t>
            </a:r>
            <a:endParaRPr lang="de-DE" sz="1020">
              <a:solidFill>
                <a:srgbClr val="BECDE6"/>
              </a:solidFill>
              <a:latin typeface="Aptos"/>
            </a:endParaRPr>
          </a:p>
        </p:txBody>
      </p:sp>
      <p:sp>
        <p:nvSpPr>
          <p:cNvPr id="16" name="Abgerundetes Rechteck 15"/>
          <p:cNvSpPr/>
          <p:nvPr/>
        </p:nvSpPr>
        <p:spPr>
          <a:xfrm>
            <a:off x="7747000" y="2133600"/>
            <a:ext cx="3302000" cy="1524000"/>
          </a:xfrm>
          <a:prstGeom prst="roundRect">
            <a:avLst/>
          </a:prstGeom>
          <a:solidFill>
            <a:srgbClr val="111927"/>
          </a:solidFill>
          <a:ln w="12700">
            <a:solidFill>
              <a:srgbClr val="2F3F5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7" name="Rechteck 16"/>
          <p:cNvSpPr/>
          <p:nvPr/>
        </p:nvSpPr>
        <p:spPr>
          <a:xfrm>
            <a:off x="7747000" y="2133600"/>
            <a:ext cx="63500" cy="1524000"/>
          </a:xfrm>
          <a:prstGeom prst="rect">
            <a:avLst/>
          </a:prstGeom>
          <a:solidFill>
            <a:srgbClr val="FFB14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8" name="Textfeld 17"/>
          <p:cNvSpPr txBox="1"/>
          <p:nvPr/>
        </p:nvSpPr>
        <p:spPr>
          <a:xfrm>
            <a:off x="7950200" y="2286000"/>
            <a:ext cx="29718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1400" b="1" smtClean="0">
                <a:solidFill>
                  <a:srgbClr val="F8FAFC"/>
                </a:solidFill>
                <a:latin typeface="Aptos Display"/>
              </a:rPr>
              <a:t>Fallback</a:t>
            </a:r>
            <a:endParaRPr lang="de-DE" sz="1400" b="1">
              <a:solidFill>
                <a:srgbClr val="F8FAFC"/>
              </a:solidFill>
              <a:latin typeface="Aptos Display"/>
            </a:endParaRPr>
          </a:p>
        </p:txBody>
      </p:sp>
      <p:sp>
        <p:nvSpPr>
          <p:cNvPr id="19" name="Textfeld 18"/>
          <p:cNvSpPr txBox="1"/>
          <p:nvPr/>
        </p:nvSpPr>
        <p:spPr>
          <a:xfrm>
            <a:off x="7950200" y="2616200"/>
            <a:ext cx="2971800" cy="5632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1020" smtClean="0">
                <a:solidFill>
                  <a:srgbClr val="BECDE6"/>
                </a:solidFill>
                <a:latin typeface="Aptos"/>
              </a:rPr>
              <a:t>Bei Gästen ohne Profil wird restriktiver bewertet, besonders wenn Alter oder Interessen gebraucht werden.</a:t>
            </a:r>
            <a:endParaRPr lang="de-DE" sz="1020">
              <a:solidFill>
                <a:srgbClr val="BECDE6"/>
              </a:solidFill>
              <a:latin typeface="Aptos"/>
            </a:endParaRPr>
          </a:p>
        </p:txBody>
      </p:sp>
      <p:sp>
        <p:nvSpPr>
          <p:cNvPr id="20" name="Abgerundetes Rechteck 19"/>
          <p:cNvSpPr/>
          <p:nvPr/>
        </p:nvSpPr>
        <p:spPr>
          <a:xfrm>
            <a:off x="533400" y="4038600"/>
            <a:ext cx="5105400" cy="1422400"/>
          </a:xfrm>
          <a:prstGeom prst="roundRect">
            <a:avLst/>
          </a:prstGeom>
          <a:solidFill>
            <a:srgbClr val="111927"/>
          </a:solidFill>
          <a:ln w="12700">
            <a:solidFill>
              <a:srgbClr val="2F3F5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1" name="Rechteck 20"/>
          <p:cNvSpPr/>
          <p:nvPr/>
        </p:nvSpPr>
        <p:spPr>
          <a:xfrm>
            <a:off x="533400" y="4038600"/>
            <a:ext cx="63500" cy="1422400"/>
          </a:xfrm>
          <a:prstGeom prst="rect">
            <a:avLst/>
          </a:prstGeom>
          <a:solidFill>
            <a:srgbClr val="3AD39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2" name="Textfeld 21"/>
          <p:cNvSpPr txBox="1"/>
          <p:nvPr/>
        </p:nvSpPr>
        <p:spPr>
          <a:xfrm>
            <a:off x="736600" y="4191000"/>
            <a:ext cx="47752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1400" b="1" smtClean="0">
                <a:solidFill>
                  <a:srgbClr val="F8FAFC"/>
                </a:solidFill>
                <a:latin typeface="Aptos Display"/>
              </a:rPr>
              <a:t>Sportlicher Kontext</a:t>
            </a:r>
            <a:endParaRPr lang="de-DE" sz="1400" b="1">
              <a:solidFill>
                <a:srgbClr val="F8FAFC"/>
              </a:solidFill>
              <a:latin typeface="Aptos Display"/>
            </a:endParaRPr>
          </a:p>
        </p:txBody>
      </p:sp>
      <p:sp>
        <p:nvSpPr>
          <p:cNvPr id="23" name="Textfeld 22"/>
          <p:cNvSpPr txBox="1"/>
          <p:nvPr/>
        </p:nvSpPr>
        <p:spPr>
          <a:xfrm>
            <a:off x="736600" y="4521200"/>
            <a:ext cx="4775200" cy="4062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1020" smtClean="0">
                <a:solidFill>
                  <a:srgbClr val="BECDE6"/>
                </a:solidFill>
                <a:latin typeface="Aptos"/>
              </a:rPr>
              <a:t>Später stark: Sportart, Rolle, Verein, Teamnähe, Trainingsinteresse, Kurse, Events und Marketplace-Kategorien.</a:t>
            </a:r>
            <a:endParaRPr lang="de-DE" sz="1020">
              <a:solidFill>
                <a:srgbClr val="BECDE6"/>
              </a:solidFill>
              <a:latin typeface="Aptos"/>
            </a:endParaRPr>
          </a:p>
        </p:txBody>
      </p:sp>
      <p:sp>
        <p:nvSpPr>
          <p:cNvPr id="24" name="Abgerundetes Rechteck 23"/>
          <p:cNvSpPr/>
          <p:nvPr/>
        </p:nvSpPr>
        <p:spPr>
          <a:xfrm>
            <a:off x="5943600" y="4038600"/>
            <a:ext cx="5105400" cy="1422400"/>
          </a:xfrm>
          <a:prstGeom prst="roundRect">
            <a:avLst/>
          </a:prstGeom>
          <a:solidFill>
            <a:srgbClr val="111927"/>
          </a:solidFill>
          <a:ln w="12700">
            <a:solidFill>
              <a:srgbClr val="2F3F5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5" name="Rechteck 24"/>
          <p:cNvSpPr/>
          <p:nvPr/>
        </p:nvSpPr>
        <p:spPr>
          <a:xfrm>
            <a:off x="5943600" y="4038600"/>
            <a:ext cx="63500" cy="1422400"/>
          </a:xfrm>
          <a:prstGeom prst="rect">
            <a:avLst/>
          </a:prstGeom>
          <a:solidFill>
            <a:srgbClr val="26C6D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6" name="Textfeld 25"/>
          <p:cNvSpPr txBox="1"/>
          <p:nvPr/>
        </p:nvSpPr>
        <p:spPr>
          <a:xfrm>
            <a:off x="6146800" y="4191000"/>
            <a:ext cx="47752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1400" b="1" smtClean="0">
                <a:solidFill>
                  <a:srgbClr val="F8FAFC"/>
                </a:solidFill>
                <a:latin typeface="Aptos Display"/>
              </a:rPr>
              <a:t>Grenze</a:t>
            </a:r>
            <a:endParaRPr lang="de-DE" sz="1400" b="1">
              <a:solidFill>
                <a:srgbClr val="F8FAFC"/>
              </a:solidFill>
              <a:latin typeface="Aptos Display"/>
            </a:endParaRPr>
          </a:p>
        </p:txBody>
      </p:sp>
      <p:sp>
        <p:nvSpPr>
          <p:cNvPr id="27" name="Textfeld 26"/>
          <p:cNvSpPr txBox="1"/>
          <p:nvPr/>
        </p:nvSpPr>
        <p:spPr>
          <a:xfrm>
            <a:off x="6146800" y="4521200"/>
            <a:ext cx="4775200" cy="4062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1020" smtClean="0">
                <a:solidFill>
                  <a:srgbClr val="BECDE6"/>
                </a:solidFill>
                <a:latin typeface="Aptos"/>
              </a:rPr>
              <a:t>Targeting ist nur so gut wie die vorhandenen Profildaten und Consent-Lage. Minderjährige brauchen besonders vorsichtige Regeln.</a:t>
            </a:r>
            <a:endParaRPr lang="de-DE" sz="1020">
              <a:solidFill>
                <a:srgbClr val="BECDE6"/>
              </a:solidFill>
              <a:latin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56012269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eck 1"/>
          <p:cNvSpPr/>
          <p:nvPr/>
        </p:nvSpPr>
        <p:spPr>
          <a:xfrm>
            <a:off x="0" y="0"/>
            <a:ext cx="12192000" cy="101600"/>
          </a:xfrm>
          <a:prstGeom prst="rect">
            <a:avLst/>
          </a:prstGeom>
          <a:solidFill>
            <a:srgbClr val="3884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" name="Textfeld 2"/>
          <p:cNvSpPr txBox="1"/>
          <p:nvPr/>
        </p:nvSpPr>
        <p:spPr>
          <a:xfrm>
            <a:off x="533400" y="431800"/>
            <a:ext cx="3302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900" b="1" smtClean="0">
                <a:solidFill>
                  <a:srgbClr val="3884FF"/>
                </a:solidFill>
                <a:latin typeface="Aptos"/>
              </a:rPr>
              <a:t>PLACEMENTS</a:t>
            </a:r>
            <a:endParaRPr lang="de-DE" sz="900" b="1">
              <a:solidFill>
                <a:srgbClr val="3884FF"/>
              </a:solidFill>
              <a:latin typeface="Aptos"/>
            </a:endParaRPr>
          </a:p>
        </p:txBody>
      </p:sp>
      <p:sp>
        <p:nvSpPr>
          <p:cNvPr id="4" name="Textfeld 3"/>
          <p:cNvSpPr txBox="1"/>
          <p:nvPr/>
        </p:nvSpPr>
        <p:spPr>
          <a:xfrm>
            <a:off x="533400" y="736600"/>
            <a:ext cx="102235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2800" b="1" smtClean="0">
                <a:solidFill>
                  <a:srgbClr val="F8FAFC"/>
                </a:solidFill>
                <a:latin typeface="Aptos Display"/>
              </a:rPr>
              <a:t>Wo Anzeigen ausgespielt werden</a:t>
            </a:r>
            <a:endParaRPr lang="de-DE" sz="2800" b="1">
              <a:solidFill>
                <a:srgbClr val="F8FAFC"/>
              </a:solidFill>
              <a:latin typeface="Aptos Display"/>
            </a:endParaRPr>
          </a:p>
        </p:txBody>
      </p:sp>
      <p:sp>
        <p:nvSpPr>
          <p:cNvPr id="5" name="Textfeld 4"/>
          <p:cNvSpPr txBox="1"/>
          <p:nvPr/>
        </p:nvSpPr>
        <p:spPr>
          <a:xfrm>
            <a:off x="533400" y="1422400"/>
            <a:ext cx="10414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1200" smtClean="0">
                <a:solidFill>
                  <a:srgbClr val="BECDE6"/>
                </a:solidFill>
                <a:latin typeface="Aptos"/>
              </a:rPr>
              <a:t>Placements steuern Format, Nutzerkontext und Frequency Caps.</a:t>
            </a:r>
            <a:endParaRPr lang="de-DE" sz="1200">
              <a:solidFill>
                <a:srgbClr val="BECDE6"/>
              </a:solidFill>
              <a:latin typeface="Aptos"/>
            </a:endParaRPr>
          </a:p>
        </p:txBody>
      </p:sp>
      <p:sp>
        <p:nvSpPr>
          <p:cNvPr id="6" name="Textfeld 5"/>
          <p:cNvSpPr txBox="1"/>
          <p:nvPr/>
        </p:nvSpPr>
        <p:spPr>
          <a:xfrm>
            <a:off x="533400" y="6451600"/>
            <a:ext cx="66040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800" smtClean="0">
                <a:solidFill>
                  <a:srgbClr val="7E97B8"/>
                </a:solidFill>
                <a:latin typeface="Aptos"/>
              </a:rPr>
              <a:t>Airmius Ads System | Produkt-, Technik- und Finance-Dokumentation</a:t>
            </a:r>
            <a:endParaRPr lang="de-DE" sz="800">
              <a:solidFill>
                <a:srgbClr val="7E97B8"/>
              </a:solidFill>
              <a:latin typeface="Aptos"/>
            </a:endParaRPr>
          </a:p>
        </p:txBody>
      </p:sp>
      <p:sp>
        <p:nvSpPr>
          <p:cNvPr id="7" name="Textfeld 6"/>
          <p:cNvSpPr txBox="1"/>
          <p:nvPr/>
        </p:nvSpPr>
        <p:spPr>
          <a:xfrm>
            <a:off x="11112500" y="64516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1000" b="1" smtClean="0">
                <a:solidFill>
                  <a:srgbClr val="3884FF"/>
                </a:solidFill>
                <a:latin typeface="Aptos Display"/>
              </a:rPr>
              <a:t>14</a:t>
            </a:r>
            <a:endParaRPr lang="de-DE" sz="1000" b="1">
              <a:solidFill>
                <a:srgbClr val="3884FF"/>
              </a:solidFill>
              <a:latin typeface="Aptos Display"/>
            </a:endParaRPr>
          </a:p>
        </p:txBody>
      </p:sp>
      <p:sp>
        <p:nvSpPr>
          <p:cNvPr id="8" name="Abgerundetes Rechteck 7"/>
          <p:cNvSpPr/>
          <p:nvPr/>
        </p:nvSpPr>
        <p:spPr>
          <a:xfrm>
            <a:off x="533400" y="2184400"/>
            <a:ext cx="2413000" cy="1168400"/>
          </a:xfrm>
          <a:prstGeom prst="roundRect">
            <a:avLst/>
          </a:prstGeom>
          <a:solidFill>
            <a:srgbClr val="182233"/>
          </a:solidFill>
          <a:ln>
            <a:solidFill>
              <a:srgbClr val="2F3F5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9" name="Textfeld 8"/>
          <p:cNvSpPr txBox="1"/>
          <p:nvPr/>
        </p:nvSpPr>
        <p:spPr>
          <a:xfrm>
            <a:off x="711200" y="2336800"/>
            <a:ext cx="20574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800" b="1" smtClean="0">
                <a:solidFill>
                  <a:srgbClr val="3884FF"/>
                </a:solidFill>
                <a:latin typeface="Aptos"/>
              </a:rPr>
              <a:t>FEED</a:t>
            </a:r>
            <a:endParaRPr lang="de-DE" sz="800" b="1">
              <a:solidFill>
                <a:srgbClr val="3884FF"/>
              </a:solidFill>
              <a:latin typeface="Aptos"/>
            </a:endParaRPr>
          </a:p>
        </p:txBody>
      </p:sp>
      <p:sp>
        <p:nvSpPr>
          <p:cNvPr id="10" name="Textfeld 9"/>
          <p:cNvSpPr txBox="1"/>
          <p:nvPr/>
        </p:nvSpPr>
        <p:spPr>
          <a:xfrm>
            <a:off x="711200" y="2565400"/>
            <a:ext cx="2057400" cy="4001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2000" b="1" smtClean="0">
                <a:solidFill>
                  <a:srgbClr val="F8FAFC"/>
                </a:solidFill>
                <a:latin typeface="Aptos Display"/>
              </a:rPr>
              <a:t>Cap 3</a:t>
            </a:r>
            <a:endParaRPr lang="de-DE" sz="2000" b="1">
              <a:solidFill>
                <a:srgbClr val="F8FAFC"/>
              </a:solidFill>
              <a:latin typeface="Aptos Display"/>
            </a:endParaRPr>
          </a:p>
        </p:txBody>
      </p:sp>
      <p:sp>
        <p:nvSpPr>
          <p:cNvPr id="11" name="Textfeld 10"/>
          <p:cNvSpPr txBox="1"/>
          <p:nvPr/>
        </p:nvSpPr>
        <p:spPr>
          <a:xfrm>
            <a:off x="711200" y="2971800"/>
            <a:ext cx="2057400" cy="22313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850" smtClean="0">
                <a:solidFill>
                  <a:srgbClr val="BECDE6"/>
                </a:solidFill>
                <a:latin typeface="Aptos"/>
              </a:rPr>
              <a:t>Sozialer Kontext; vorsichtig dosieren</a:t>
            </a:r>
            <a:endParaRPr lang="de-DE" sz="850">
              <a:solidFill>
                <a:srgbClr val="BECDE6"/>
              </a:solidFill>
              <a:latin typeface="Aptos"/>
            </a:endParaRPr>
          </a:p>
        </p:txBody>
      </p:sp>
      <p:sp>
        <p:nvSpPr>
          <p:cNvPr id="12" name="Abgerundetes Rechteck 11"/>
          <p:cNvSpPr/>
          <p:nvPr/>
        </p:nvSpPr>
        <p:spPr>
          <a:xfrm>
            <a:off x="3124200" y="2184400"/>
            <a:ext cx="2413000" cy="1168400"/>
          </a:xfrm>
          <a:prstGeom prst="roundRect">
            <a:avLst/>
          </a:prstGeom>
          <a:solidFill>
            <a:srgbClr val="182233"/>
          </a:solidFill>
          <a:ln>
            <a:solidFill>
              <a:srgbClr val="2F3F5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3" name="Textfeld 12"/>
          <p:cNvSpPr txBox="1"/>
          <p:nvPr/>
        </p:nvSpPr>
        <p:spPr>
          <a:xfrm>
            <a:off x="3302000" y="2336800"/>
            <a:ext cx="20574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800" b="1" smtClean="0">
                <a:solidFill>
                  <a:srgbClr val="26C6DA"/>
                </a:solidFill>
                <a:latin typeface="Aptos"/>
              </a:rPr>
              <a:t>SIDEBAR</a:t>
            </a:r>
            <a:endParaRPr lang="de-DE" sz="800" b="1">
              <a:solidFill>
                <a:srgbClr val="26C6DA"/>
              </a:solidFill>
              <a:latin typeface="Aptos"/>
            </a:endParaRPr>
          </a:p>
        </p:txBody>
      </p:sp>
      <p:sp>
        <p:nvSpPr>
          <p:cNvPr id="14" name="Textfeld 13"/>
          <p:cNvSpPr txBox="1"/>
          <p:nvPr/>
        </p:nvSpPr>
        <p:spPr>
          <a:xfrm>
            <a:off x="3302000" y="2565400"/>
            <a:ext cx="2057400" cy="4001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2000" b="1" smtClean="0">
                <a:solidFill>
                  <a:srgbClr val="F8FAFC"/>
                </a:solidFill>
                <a:latin typeface="Aptos Display"/>
              </a:rPr>
              <a:t>Cap 6</a:t>
            </a:r>
            <a:endParaRPr lang="de-DE" sz="2000" b="1">
              <a:solidFill>
                <a:srgbClr val="F8FAFC"/>
              </a:solidFill>
              <a:latin typeface="Aptos Display"/>
            </a:endParaRPr>
          </a:p>
        </p:txBody>
      </p:sp>
      <p:sp>
        <p:nvSpPr>
          <p:cNvPr id="15" name="Textfeld 14"/>
          <p:cNvSpPr txBox="1"/>
          <p:nvPr/>
        </p:nvSpPr>
        <p:spPr>
          <a:xfrm>
            <a:off x="3302000" y="2971800"/>
            <a:ext cx="2057400" cy="35394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850" smtClean="0">
                <a:solidFill>
                  <a:srgbClr val="BECDE6"/>
                </a:solidFill>
                <a:latin typeface="Aptos"/>
              </a:rPr>
              <a:t>Desktop/Navigation; mehr Wiederholung möglich</a:t>
            </a:r>
            <a:endParaRPr lang="de-DE" sz="850">
              <a:solidFill>
                <a:srgbClr val="BECDE6"/>
              </a:solidFill>
              <a:latin typeface="Aptos"/>
            </a:endParaRPr>
          </a:p>
        </p:txBody>
      </p:sp>
      <p:sp>
        <p:nvSpPr>
          <p:cNvPr id="16" name="Abgerundetes Rechteck 15"/>
          <p:cNvSpPr/>
          <p:nvPr/>
        </p:nvSpPr>
        <p:spPr>
          <a:xfrm>
            <a:off x="5715000" y="2184400"/>
            <a:ext cx="2413000" cy="1168400"/>
          </a:xfrm>
          <a:prstGeom prst="roundRect">
            <a:avLst/>
          </a:prstGeom>
          <a:solidFill>
            <a:srgbClr val="182233"/>
          </a:solidFill>
          <a:ln>
            <a:solidFill>
              <a:srgbClr val="2F3F5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7" name="Textfeld 16"/>
          <p:cNvSpPr txBox="1"/>
          <p:nvPr/>
        </p:nvSpPr>
        <p:spPr>
          <a:xfrm>
            <a:off x="5892800" y="2336800"/>
            <a:ext cx="20574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800" b="1" smtClean="0">
                <a:solidFill>
                  <a:srgbClr val="3AD39F"/>
                </a:solidFill>
                <a:latin typeface="Aptos"/>
              </a:rPr>
              <a:t>MARKETPLACE</a:t>
            </a:r>
            <a:endParaRPr lang="de-DE" sz="800" b="1">
              <a:solidFill>
                <a:srgbClr val="3AD39F"/>
              </a:solidFill>
              <a:latin typeface="Aptos"/>
            </a:endParaRPr>
          </a:p>
        </p:txBody>
      </p:sp>
      <p:sp>
        <p:nvSpPr>
          <p:cNvPr id="18" name="Textfeld 17"/>
          <p:cNvSpPr txBox="1"/>
          <p:nvPr/>
        </p:nvSpPr>
        <p:spPr>
          <a:xfrm>
            <a:off x="5892800" y="2565400"/>
            <a:ext cx="2057400" cy="4001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2000" b="1" smtClean="0">
                <a:solidFill>
                  <a:srgbClr val="F8FAFC"/>
                </a:solidFill>
                <a:latin typeface="Aptos Display"/>
              </a:rPr>
              <a:t>Cap 3</a:t>
            </a:r>
            <a:endParaRPr lang="de-DE" sz="2000" b="1">
              <a:solidFill>
                <a:srgbClr val="F8FAFC"/>
              </a:solidFill>
              <a:latin typeface="Aptos Display"/>
            </a:endParaRPr>
          </a:p>
        </p:txBody>
      </p:sp>
      <p:sp>
        <p:nvSpPr>
          <p:cNvPr id="19" name="Textfeld 18"/>
          <p:cNvSpPr txBox="1"/>
          <p:nvPr/>
        </p:nvSpPr>
        <p:spPr>
          <a:xfrm>
            <a:off x="5892800" y="2971800"/>
            <a:ext cx="2057400" cy="22313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850" smtClean="0">
                <a:solidFill>
                  <a:srgbClr val="BECDE6"/>
                </a:solidFill>
                <a:latin typeface="Aptos"/>
              </a:rPr>
              <a:t>Kaufkontext und Produktempfehlungen</a:t>
            </a:r>
            <a:endParaRPr lang="de-DE" sz="850">
              <a:solidFill>
                <a:srgbClr val="BECDE6"/>
              </a:solidFill>
              <a:latin typeface="Aptos"/>
            </a:endParaRPr>
          </a:p>
        </p:txBody>
      </p:sp>
      <p:sp>
        <p:nvSpPr>
          <p:cNvPr id="20" name="Abgerundetes Rechteck 19"/>
          <p:cNvSpPr/>
          <p:nvPr/>
        </p:nvSpPr>
        <p:spPr>
          <a:xfrm>
            <a:off x="8305800" y="2184400"/>
            <a:ext cx="2413000" cy="1168400"/>
          </a:xfrm>
          <a:prstGeom prst="roundRect">
            <a:avLst/>
          </a:prstGeom>
          <a:solidFill>
            <a:srgbClr val="182233"/>
          </a:solidFill>
          <a:ln>
            <a:solidFill>
              <a:srgbClr val="2F3F5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1" name="Textfeld 20"/>
          <p:cNvSpPr txBox="1"/>
          <p:nvPr/>
        </p:nvSpPr>
        <p:spPr>
          <a:xfrm>
            <a:off x="8483600" y="2336800"/>
            <a:ext cx="20574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800" b="1" smtClean="0">
                <a:solidFill>
                  <a:srgbClr val="FFB142"/>
                </a:solidFill>
                <a:latin typeface="Aptos"/>
              </a:rPr>
              <a:t>SPONSOR</a:t>
            </a:r>
            <a:endParaRPr lang="de-DE" sz="800" b="1">
              <a:solidFill>
                <a:srgbClr val="FFB142"/>
              </a:solidFill>
              <a:latin typeface="Aptos"/>
            </a:endParaRPr>
          </a:p>
        </p:txBody>
      </p:sp>
      <p:sp>
        <p:nvSpPr>
          <p:cNvPr id="22" name="Textfeld 21"/>
          <p:cNvSpPr txBox="1"/>
          <p:nvPr/>
        </p:nvSpPr>
        <p:spPr>
          <a:xfrm>
            <a:off x="8483600" y="2565400"/>
            <a:ext cx="2057400" cy="4001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2000" b="1" smtClean="0">
                <a:solidFill>
                  <a:srgbClr val="F8FAFC"/>
                </a:solidFill>
                <a:latin typeface="Aptos Display"/>
              </a:rPr>
              <a:t>Cap 4</a:t>
            </a:r>
            <a:endParaRPr lang="de-DE" sz="2000" b="1">
              <a:solidFill>
                <a:srgbClr val="F8FAFC"/>
              </a:solidFill>
              <a:latin typeface="Aptos Display"/>
            </a:endParaRPr>
          </a:p>
        </p:txBody>
      </p:sp>
      <p:sp>
        <p:nvSpPr>
          <p:cNvPr id="23" name="Textfeld 22"/>
          <p:cNvSpPr txBox="1"/>
          <p:nvPr/>
        </p:nvSpPr>
        <p:spPr>
          <a:xfrm>
            <a:off x="8483600" y="2971800"/>
            <a:ext cx="2057400" cy="22313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850" smtClean="0">
                <a:solidFill>
                  <a:srgbClr val="BECDE6"/>
                </a:solidFill>
                <a:latin typeface="Aptos"/>
              </a:rPr>
              <a:t>Partner- und Sponsorenbereiche</a:t>
            </a:r>
            <a:endParaRPr lang="de-DE" sz="850">
              <a:solidFill>
                <a:srgbClr val="BECDE6"/>
              </a:solidFill>
              <a:latin typeface="Aptos"/>
            </a:endParaRPr>
          </a:p>
        </p:txBody>
      </p:sp>
      <p:sp>
        <p:nvSpPr>
          <p:cNvPr id="24" name="Abgerundetes Rechteck 23"/>
          <p:cNvSpPr/>
          <p:nvPr/>
        </p:nvSpPr>
        <p:spPr>
          <a:xfrm>
            <a:off x="533400" y="3987800"/>
            <a:ext cx="10515600" cy="1244600"/>
          </a:xfrm>
          <a:prstGeom prst="roundRect">
            <a:avLst/>
          </a:prstGeom>
          <a:solidFill>
            <a:srgbClr val="111927"/>
          </a:solidFill>
          <a:ln w="12700">
            <a:solidFill>
              <a:srgbClr val="2F3F5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5" name="Rechteck 24"/>
          <p:cNvSpPr/>
          <p:nvPr/>
        </p:nvSpPr>
        <p:spPr>
          <a:xfrm>
            <a:off x="533400" y="3987800"/>
            <a:ext cx="63500" cy="1244600"/>
          </a:xfrm>
          <a:prstGeom prst="rect">
            <a:avLst/>
          </a:prstGeom>
          <a:solidFill>
            <a:srgbClr val="3884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6" name="Textfeld 25"/>
          <p:cNvSpPr txBox="1"/>
          <p:nvPr/>
        </p:nvSpPr>
        <p:spPr>
          <a:xfrm>
            <a:off x="736600" y="4140200"/>
            <a:ext cx="101854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1400" b="1" smtClean="0">
                <a:solidFill>
                  <a:srgbClr val="F8FAFC"/>
                </a:solidFill>
                <a:latin typeface="Aptos Display"/>
              </a:rPr>
              <a:t>Formate</a:t>
            </a:r>
            <a:endParaRPr lang="de-DE" sz="1400" b="1">
              <a:solidFill>
                <a:srgbClr val="F8FAFC"/>
              </a:solidFill>
              <a:latin typeface="Aptos Display"/>
            </a:endParaRPr>
          </a:p>
        </p:txBody>
      </p:sp>
      <p:sp>
        <p:nvSpPr>
          <p:cNvPr id="27" name="Textfeld 26"/>
          <p:cNvSpPr txBox="1"/>
          <p:nvPr/>
        </p:nvSpPr>
        <p:spPr>
          <a:xfrm>
            <a:off x="736600" y="4470400"/>
            <a:ext cx="10185400" cy="4062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1020" smtClean="0">
                <a:solidFill>
                  <a:srgbClr val="BECDE6"/>
                </a:solidFill>
                <a:latin typeface="Aptos"/>
              </a:rPr>
              <a:t>Feed Square 1080×1080, Portrait 1080×1350, Story 1080×1920, Wide Banner 1200×628. Upload gewinnt vor externer Bild-URL; Bildformate sind für saubere UX entscheidend.</a:t>
            </a:r>
            <a:endParaRPr lang="de-DE" sz="1020">
              <a:solidFill>
                <a:srgbClr val="BECDE6"/>
              </a:solidFill>
              <a:latin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294291304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eck 1"/>
          <p:cNvSpPr/>
          <p:nvPr/>
        </p:nvSpPr>
        <p:spPr>
          <a:xfrm>
            <a:off x="0" y="0"/>
            <a:ext cx="12192000" cy="101600"/>
          </a:xfrm>
          <a:prstGeom prst="rect">
            <a:avLst/>
          </a:prstGeom>
          <a:solidFill>
            <a:srgbClr val="3884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" name="Textfeld 2"/>
          <p:cNvSpPr txBox="1"/>
          <p:nvPr/>
        </p:nvSpPr>
        <p:spPr>
          <a:xfrm>
            <a:off x="533400" y="431800"/>
            <a:ext cx="3302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900" b="1" smtClean="0">
                <a:solidFill>
                  <a:srgbClr val="3884FF"/>
                </a:solidFill>
                <a:latin typeface="Aptos"/>
              </a:rPr>
              <a:t>A/B-TESTS</a:t>
            </a:r>
            <a:endParaRPr lang="de-DE" sz="900" b="1">
              <a:solidFill>
                <a:srgbClr val="3884FF"/>
              </a:solidFill>
              <a:latin typeface="Aptos"/>
            </a:endParaRPr>
          </a:p>
        </p:txBody>
      </p:sp>
      <p:sp>
        <p:nvSpPr>
          <p:cNvPr id="4" name="Textfeld 3"/>
          <p:cNvSpPr txBox="1"/>
          <p:nvPr/>
        </p:nvSpPr>
        <p:spPr>
          <a:xfrm>
            <a:off x="533400" y="736600"/>
            <a:ext cx="102235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2800" b="1" smtClean="0">
                <a:solidFill>
                  <a:srgbClr val="F8FAFC"/>
                </a:solidFill>
                <a:latin typeface="Aptos Display"/>
              </a:rPr>
              <a:t>Wie Creatives lernen</a:t>
            </a:r>
            <a:endParaRPr lang="de-DE" sz="2800" b="1">
              <a:solidFill>
                <a:srgbClr val="F8FAFC"/>
              </a:solidFill>
              <a:latin typeface="Aptos Display"/>
            </a:endParaRPr>
          </a:p>
        </p:txBody>
      </p:sp>
      <p:sp>
        <p:nvSpPr>
          <p:cNvPr id="5" name="Textfeld 4"/>
          <p:cNvSpPr txBox="1"/>
          <p:nvPr/>
        </p:nvSpPr>
        <p:spPr>
          <a:xfrm>
            <a:off x="533400" y="1422400"/>
            <a:ext cx="10414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1200" smtClean="0">
                <a:solidFill>
                  <a:srgbClr val="BECDE6"/>
                </a:solidFill>
                <a:latin typeface="Aptos"/>
              </a:rPr>
              <a:t>Eine Kampagne kann mehrere Anzeigenvarianten haben. Das System verteilt nicht blind gleichmäßig, sondern gewichtete Chancen.</a:t>
            </a:r>
            <a:endParaRPr lang="de-DE" sz="1200">
              <a:solidFill>
                <a:srgbClr val="BECDE6"/>
              </a:solidFill>
              <a:latin typeface="Aptos"/>
            </a:endParaRPr>
          </a:p>
        </p:txBody>
      </p:sp>
      <p:sp>
        <p:nvSpPr>
          <p:cNvPr id="6" name="Textfeld 5"/>
          <p:cNvSpPr txBox="1"/>
          <p:nvPr/>
        </p:nvSpPr>
        <p:spPr>
          <a:xfrm>
            <a:off x="533400" y="6451600"/>
            <a:ext cx="66040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800" smtClean="0">
                <a:solidFill>
                  <a:srgbClr val="7E97B8"/>
                </a:solidFill>
                <a:latin typeface="Aptos"/>
              </a:rPr>
              <a:t>Airmius Ads System | Produkt-, Technik- und Finance-Dokumentation</a:t>
            </a:r>
            <a:endParaRPr lang="de-DE" sz="800">
              <a:solidFill>
                <a:srgbClr val="7E97B8"/>
              </a:solidFill>
              <a:latin typeface="Aptos"/>
            </a:endParaRPr>
          </a:p>
        </p:txBody>
      </p:sp>
      <p:sp>
        <p:nvSpPr>
          <p:cNvPr id="7" name="Textfeld 6"/>
          <p:cNvSpPr txBox="1"/>
          <p:nvPr/>
        </p:nvSpPr>
        <p:spPr>
          <a:xfrm>
            <a:off x="11112500" y="64516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1000" b="1" smtClean="0">
                <a:solidFill>
                  <a:srgbClr val="3884FF"/>
                </a:solidFill>
                <a:latin typeface="Aptos Display"/>
              </a:rPr>
              <a:t>15</a:t>
            </a:r>
            <a:endParaRPr lang="de-DE" sz="1000" b="1">
              <a:solidFill>
                <a:srgbClr val="3884FF"/>
              </a:solidFill>
              <a:latin typeface="Aptos Display"/>
            </a:endParaRPr>
          </a:p>
        </p:txBody>
      </p:sp>
      <p:sp>
        <p:nvSpPr>
          <p:cNvPr id="8" name="Abgerundetes Rechteck 7"/>
          <p:cNvSpPr/>
          <p:nvPr/>
        </p:nvSpPr>
        <p:spPr>
          <a:xfrm>
            <a:off x="533400" y="2184400"/>
            <a:ext cx="3302000" cy="1600200"/>
          </a:xfrm>
          <a:prstGeom prst="roundRect">
            <a:avLst/>
          </a:prstGeom>
          <a:solidFill>
            <a:srgbClr val="111927"/>
          </a:solidFill>
          <a:ln w="12700">
            <a:solidFill>
              <a:srgbClr val="2F3F5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9" name="Rechteck 8"/>
          <p:cNvSpPr/>
          <p:nvPr/>
        </p:nvSpPr>
        <p:spPr>
          <a:xfrm>
            <a:off x="533400" y="2184400"/>
            <a:ext cx="63500" cy="1600200"/>
          </a:xfrm>
          <a:prstGeom prst="rect">
            <a:avLst/>
          </a:prstGeom>
          <a:solidFill>
            <a:srgbClr val="3884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0" name="Textfeld 9"/>
          <p:cNvSpPr txBox="1"/>
          <p:nvPr/>
        </p:nvSpPr>
        <p:spPr>
          <a:xfrm>
            <a:off x="736600" y="2336800"/>
            <a:ext cx="29718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1400" b="1" smtClean="0">
                <a:solidFill>
                  <a:srgbClr val="F8FAFC"/>
                </a:solidFill>
                <a:latin typeface="Aptos Display"/>
              </a:rPr>
              <a:t>Startphase</a:t>
            </a:r>
            <a:endParaRPr lang="de-DE" sz="1400" b="1">
              <a:solidFill>
                <a:srgbClr val="F8FAFC"/>
              </a:solidFill>
              <a:latin typeface="Aptos Display"/>
            </a:endParaRPr>
          </a:p>
        </p:txBody>
      </p:sp>
      <p:sp>
        <p:nvSpPr>
          <p:cNvPr id="11" name="Textfeld 10"/>
          <p:cNvSpPr txBox="1"/>
          <p:nvPr/>
        </p:nvSpPr>
        <p:spPr>
          <a:xfrm>
            <a:off x="736600" y="2667000"/>
            <a:ext cx="2971800" cy="4062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1020" smtClean="0">
                <a:solidFill>
                  <a:srgbClr val="BECDE6"/>
                </a:solidFill>
                <a:latin typeface="Aptos"/>
              </a:rPr>
              <a:t>Neue Creatives bekommen Freshness Boost, damit genug Daten entstehen.</a:t>
            </a:r>
            <a:endParaRPr lang="de-DE" sz="1020">
              <a:solidFill>
                <a:srgbClr val="BECDE6"/>
              </a:solidFill>
              <a:latin typeface="Aptos"/>
            </a:endParaRPr>
          </a:p>
        </p:txBody>
      </p:sp>
      <p:sp>
        <p:nvSpPr>
          <p:cNvPr id="12" name="Abgerundetes Rechteck 11"/>
          <p:cNvSpPr/>
          <p:nvPr/>
        </p:nvSpPr>
        <p:spPr>
          <a:xfrm>
            <a:off x="4140200" y="2184400"/>
            <a:ext cx="3302000" cy="1600200"/>
          </a:xfrm>
          <a:prstGeom prst="roundRect">
            <a:avLst/>
          </a:prstGeom>
          <a:solidFill>
            <a:srgbClr val="111927"/>
          </a:solidFill>
          <a:ln w="12700">
            <a:solidFill>
              <a:srgbClr val="2F3F5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3" name="Rechteck 12"/>
          <p:cNvSpPr/>
          <p:nvPr/>
        </p:nvSpPr>
        <p:spPr>
          <a:xfrm>
            <a:off x="4140200" y="2184400"/>
            <a:ext cx="63500" cy="1600200"/>
          </a:xfrm>
          <a:prstGeom prst="rect">
            <a:avLst/>
          </a:prstGeom>
          <a:solidFill>
            <a:srgbClr val="26C6D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4" name="Textfeld 13"/>
          <p:cNvSpPr txBox="1"/>
          <p:nvPr/>
        </p:nvSpPr>
        <p:spPr>
          <a:xfrm>
            <a:off x="4343400" y="2336800"/>
            <a:ext cx="29718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1400" b="1" smtClean="0">
                <a:solidFill>
                  <a:srgbClr val="F8FAFC"/>
                </a:solidFill>
                <a:latin typeface="Aptos Display"/>
              </a:rPr>
              <a:t>CTR-Signal</a:t>
            </a:r>
            <a:endParaRPr lang="de-DE" sz="1400" b="1">
              <a:solidFill>
                <a:srgbClr val="F8FAFC"/>
              </a:solidFill>
              <a:latin typeface="Aptos Display"/>
            </a:endParaRPr>
          </a:p>
        </p:txBody>
      </p:sp>
      <p:sp>
        <p:nvSpPr>
          <p:cNvPr id="15" name="Textfeld 14"/>
          <p:cNvSpPr txBox="1"/>
          <p:nvPr/>
        </p:nvSpPr>
        <p:spPr>
          <a:xfrm>
            <a:off x="4343400" y="2667000"/>
            <a:ext cx="2971800" cy="4062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1020" smtClean="0">
                <a:solidFill>
                  <a:srgbClr val="BECDE6"/>
                </a:solidFill>
                <a:latin typeface="Aptos"/>
              </a:rPr>
              <a:t>Ab ca. 30 Impressions fließt CTR stärker in die Gewichtung ein.</a:t>
            </a:r>
            <a:endParaRPr lang="de-DE" sz="1020">
              <a:solidFill>
                <a:srgbClr val="BECDE6"/>
              </a:solidFill>
              <a:latin typeface="Aptos"/>
            </a:endParaRPr>
          </a:p>
        </p:txBody>
      </p:sp>
      <p:sp>
        <p:nvSpPr>
          <p:cNvPr id="16" name="Abgerundetes Rechteck 15"/>
          <p:cNvSpPr/>
          <p:nvPr/>
        </p:nvSpPr>
        <p:spPr>
          <a:xfrm>
            <a:off x="7747000" y="2184400"/>
            <a:ext cx="3302000" cy="1600200"/>
          </a:xfrm>
          <a:prstGeom prst="roundRect">
            <a:avLst/>
          </a:prstGeom>
          <a:solidFill>
            <a:srgbClr val="111927"/>
          </a:solidFill>
          <a:ln w="12700">
            <a:solidFill>
              <a:srgbClr val="2F3F5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7" name="Rechteck 16"/>
          <p:cNvSpPr/>
          <p:nvPr/>
        </p:nvSpPr>
        <p:spPr>
          <a:xfrm>
            <a:off x="7747000" y="2184400"/>
            <a:ext cx="63500" cy="1600200"/>
          </a:xfrm>
          <a:prstGeom prst="rect">
            <a:avLst/>
          </a:prstGeom>
          <a:solidFill>
            <a:srgbClr val="3AD39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8" name="Textfeld 17"/>
          <p:cNvSpPr txBox="1"/>
          <p:nvPr/>
        </p:nvSpPr>
        <p:spPr>
          <a:xfrm>
            <a:off x="7950200" y="2336800"/>
            <a:ext cx="29718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1400" b="1" smtClean="0">
                <a:solidFill>
                  <a:srgbClr val="F8FAFC"/>
                </a:solidFill>
                <a:latin typeface="Aptos Display"/>
              </a:rPr>
              <a:t>Conversion-Signal</a:t>
            </a:r>
            <a:endParaRPr lang="de-DE" sz="1400" b="1">
              <a:solidFill>
                <a:srgbClr val="F8FAFC"/>
              </a:solidFill>
              <a:latin typeface="Aptos Display"/>
            </a:endParaRPr>
          </a:p>
        </p:txBody>
      </p:sp>
      <p:sp>
        <p:nvSpPr>
          <p:cNvPr id="19" name="Textfeld 18"/>
          <p:cNvSpPr txBox="1"/>
          <p:nvPr/>
        </p:nvSpPr>
        <p:spPr>
          <a:xfrm>
            <a:off x="7950200" y="2667000"/>
            <a:ext cx="2971800" cy="4062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1020" smtClean="0">
                <a:solidFill>
                  <a:srgbClr val="BECDE6"/>
                </a:solidFill>
                <a:latin typeface="Aptos"/>
              </a:rPr>
              <a:t>Leads und Sales erhöhen Creative-Gewicht; schwache Varianten werden gedämpft.</a:t>
            </a:r>
            <a:endParaRPr lang="de-DE" sz="1020">
              <a:solidFill>
                <a:srgbClr val="BECDE6"/>
              </a:solidFill>
              <a:latin typeface="Aptos"/>
            </a:endParaRPr>
          </a:p>
        </p:txBody>
      </p:sp>
      <p:sp>
        <p:nvSpPr>
          <p:cNvPr id="20" name="Abgerundetes Rechteck 19"/>
          <p:cNvSpPr/>
          <p:nvPr/>
        </p:nvSpPr>
        <p:spPr>
          <a:xfrm>
            <a:off x="533400" y="4191000"/>
            <a:ext cx="10515600" cy="1041400"/>
          </a:xfrm>
          <a:prstGeom prst="roundRect">
            <a:avLst/>
          </a:prstGeom>
          <a:solidFill>
            <a:srgbClr val="111927"/>
          </a:solidFill>
          <a:ln w="12700">
            <a:solidFill>
              <a:srgbClr val="2F3F5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1" name="Rechteck 20"/>
          <p:cNvSpPr/>
          <p:nvPr/>
        </p:nvSpPr>
        <p:spPr>
          <a:xfrm>
            <a:off x="533400" y="4191000"/>
            <a:ext cx="63500" cy="1041400"/>
          </a:xfrm>
          <a:prstGeom prst="rect">
            <a:avLst/>
          </a:prstGeom>
          <a:solidFill>
            <a:srgbClr val="FFB14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2" name="Textfeld 21"/>
          <p:cNvSpPr txBox="1"/>
          <p:nvPr/>
        </p:nvSpPr>
        <p:spPr>
          <a:xfrm>
            <a:off x="736600" y="4343400"/>
            <a:ext cx="101854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1400" b="1" smtClean="0">
                <a:solidFill>
                  <a:srgbClr val="F8FAFC"/>
                </a:solidFill>
                <a:latin typeface="Aptos Display"/>
              </a:rPr>
              <a:t>Produktnutzen</a:t>
            </a:r>
            <a:endParaRPr lang="de-DE" sz="1400" b="1">
              <a:solidFill>
                <a:srgbClr val="F8FAFC"/>
              </a:solidFill>
              <a:latin typeface="Aptos Display"/>
            </a:endParaRPr>
          </a:p>
        </p:txBody>
      </p:sp>
      <p:sp>
        <p:nvSpPr>
          <p:cNvPr id="23" name="Textfeld 22"/>
          <p:cNvSpPr txBox="1"/>
          <p:nvPr/>
        </p:nvSpPr>
        <p:spPr>
          <a:xfrm>
            <a:off x="736600" y="4673600"/>
            <a:ext cx="10185400" cy="2492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1020" smtClean="0">
                <a:solidFill>
                  <a:srgbClr val="BECDE6"/>
                </a:solidFill>
                <a:latin typeface="Aptos"/>
              </a:rPr>
              <a:t>Der User muss nicht wissen, welche Variante gewinnt. Airmius kann automatisch bessere Bilder, Texte und CTAs häufiger zeigen und trotzdem Mindestlernen zulassen.</a:t>
            </a:r>
            <a:endParaRPr lang="de-DE" sz="1020">
              <a:solidFill>
                <a:srgbClr val="BECDE6"/>
              </a:solidFill>
              <a:latin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321009462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eck 1"/>
          <p:cNvSpPr/>
          <p:nvPr/>
        </p:nvSpPr>
        <p:spPr>
          <a:xfrm>
            <a:off x="0" y="0"/>
            <a:ext cx="12192000" cy="101600"/>
          </a:xfrm>
          <a:prstGeom prst="rect">
            <a:avLst/>
          </a:prstGeom>
          <a:solidFill>
            <a:srgbClr val="3884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" name="Textfeld 2"/>
          <p:cNvSpPr txBox="1"/>
          <p:nvPr/>
        </p:nvSpPr>
        <p:spPr>
          <a:xfrm>
            <a:off x="533400" y="431800"/>
            <a:ext cx="3302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900" b="1" smtClean="0">
                <a:solidFill>
                  <a:srgbClr val="3884FF"/>
                </a:solidFill>
                <a:latin typeface="Aptos"/>
              </a:rPr>
              <a:t>ATTRIBUTION</a:t>
            </a:r>
            <a:endParaRPr lang="de-DE" sz="900" b="1">
              <a:solidFill>
                <a:srgbClr val="3884FF"/>
              </a:solidFill>
              <a:latin typeface="Aptos"/>
            </a:endParaRPr>
          </a:p>
        </p:txBody>
      </p:sp>
      <p:sp>
        <p:nvSpPr>
          <p:cNvPr id="4" name="Textfeld 3"/>
          <p:cNvSpPr txBox="1"/>
          <p:nvPr/>
        </p:nvSpPr>
        <p:spPr>
          <a:xfrm>
            <a:off x="533400" y="736600"/>
            <a:ext cx="102235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2800" b="1" smtClean="0">
                <a:solidFill>
                  <a:srgbClr val="F8FAFC"/>
                </a:solidFill>
                <a:latin typeface="Aptos Display"/>
              </a:rPr>
              <a:t>Wie Klicks zu Leads und Sales werden</a:t>
            </a:r>
            <a:endParaRPr lang="de-DE" sz="2800" b="1">
              <a:solidFill>
                <a:srgbClr val="F8FAFC"/>
              </a:solidFill>
              <a:latin typeface="Aptos Display"/>
            </a:endParaRPr>
          </a:p>
        </p:txBody>
      </p:sp>
      <p:sp>
        <p:nvSpPr>
          <p:cNvPr id="5" name="Textfeld 4"/>
          <p:cNvSpPr txBox="1"/>
          <p:nvPr/>
        </p:nvSpPr>
        <p:spPr>
          <a:xfrm>
            <a:off x="533400" y="1422400"/>
            <a:ext cx="10414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1200" smtClean="0">
                <a:solidFill>
                  <a:srgbClr val="BECDE6"/>
                </a:solidFill>
                <a:latin typeface="Aptos"/>
              </a:rPr>
              <a:t>Airmius nutzt aktuell Last-Click-Attribution innerhalb eines 14-Tage-Fensters, aber nur mit passender Einwilligung.</a:t>
            </a:r>
            <a:endParaRPr lang="de-DE" sz="1200">
              <a:solidFill>
                <a:srgbClr val="BECDE6"/>
              </a:solidFill>
              <a:latin typeface="Aptos"/>
            </a:endParaRPr>
          </a:p>
        </p:txBody>
      </p:sp>
      <p:sp>
        <p:nvSpPr>
          <p:cNvPr id="6" name="Textfeld 5"/>
          <p:cNvSpPr txBox="1"/>
          <p:nvPr/>
        </p:nvSpPr>
        <p:spPr>
          <a:xfrm>
            <a:off x="533400" y="6451600"/>
            <a:ext cx="66040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800" smtClean="0">
                <a:solidFill>
                  <a:srgbClr val="7E97B8"/>
                </a:solidFill>
                <a:latin typeface="Aptos"/>
              </a:rPr>
              <a:t>Airmius Ads System | Produkt-, Technik- und Finance-Dokumentation</a:t>
            </a:r>
            <a:endParaRPr lang="de-DE" sz="800">
              <a:solidFill>
                <a:srgbClr val="7E97B8"/>
              </a:solidFill>
              <a:latin typeface="Aptos"/>
            </a:endParaRPr>
          </a:p>
        </p:txBody>
      </p:sp>
      <p:sp>
        <p:nvSpPr>
          <p:cNvPr id="7" name="Textfeld 6"/>
          <p:cNvSpPr txBox="1"/>
          <p:nvPr/>
        </p:nvSpPr>
        <p:spPr>
          <a:xfrm>
            <a:off x="11112500" y="64516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1000" b="1" smtClean="0">
                <a:solidFill>
                  <a:srgbClr val="3884FF"/>
                </a:solidFill>
                <a:latin typeface="Aptos Display"/>
              </a:rPr>
              <a:t>16</a:t>
            </a:r>
            <a:endParaRPr lang="de-DE" sz="1000" b="1">
              <a:solidFill>
                <a:srgbClr val="3884FF"/>
              </a:solidFill>
              <a:latin typeface="Aptos Display"/>
            </a:endParaRPr>
          </a:p>
        </p:txBody>
      </p:sp>
      <p:sp>
        <p:nvSpPr>
          <p:cNvPr id="8" name="Abgerundetes Rechteck 7"/>
          <p:cNvSpPr/>
          <p:nvPr/>
        </p:nvSpPr>
        <p:spPr>
          <a:xfrm>
            <a:off x="533400" y="2222500"/>
            <a:ext cx="1879600" cy="1397000"/>
          </a:xfrm>
          <a:prstGeom prst="roundRect">
            <a:avLst/>
          </a:prstGeom>
          <a:solidFill>
            <a:srgbClr val="111927"/>
          </a:solidFill>
          <a:ln w="12700">
            <a:solidFill>
              <a:srgbClr val="2F3F5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9" name="Rechteck 8"/>
          <p:cNvSpPr/>
          <p:nvPr/>
        </p:nvSpPr>
        <p:spPr>
          <a:xfrm>
            <a:off x="533400" y="2222500"/>
            <a:ext cx="63500" cy="1397000"/>
          </a:xfrm>
          <a:prstGeom prst="rect">
            <a:avLst/>
          </a:prstGeom>
          <a:solidFill>
            <a:srgbClr val="3884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0" name="Textfeld 9"/>
          <p:cNvSpPr txBox="1"/>
          <p:nvPr/>
        </p:nvSpPr>
        <p:spPr>
          <a:xfrm>
            <a:off x="736600" y="2374900"/>
            <a:ext cx="15494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1400" b="1" smtClean="0">
                <a:solidFill>
                  <a:srgbClr val="F8FAFC"/>
                </a:solidFill>
                <a:latin typeface="Aptos Display"/>
              </a:rPr>
              <a:t>Click</a:t>
            </a:r>
            <a:endParaRPr lang="de-DE" sz="1400" b="1">
              <a:solidFill>
                <a:srgbClr val="F8FAFC"/>
              </a:solidFill>
              <a:latin typeface="Aptos Display"/>
            </a:endParaRPr>
          </a:p>
        </p:txBody>
      </p:sp>
      <p:sp>
        <p:nvSpPr>
          <p:cNvPr id="11" name="Textfeld 10"/>
          <p:cNvSpPr txBox="1"/>
          <p:nvPr/>
        </p:nvSpPr>
        <p:spPr>
          <a:xfrm>
            <a:off x="736600" y="2705100"/>
            <a:ext cx="1549400" cy="87716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020" smtClean="0">
                <a:solidFill>
                  <a:srgbClr val="BECDE6"/>
                </a:solidFill>
                <a:latin typeface="Aptos"/>
              </a:rPr>
              <a:t>Klick speichert campaign_id, creative_id, placement, objective, target_url, clicked_at.</a:t>
            </a:r>
            <a:endParaRPr lang="de-DE" sz="1020">
              <a:solidFill>
                <a:srgbClr val="BECDE6"/>
              </a:solidFill>
              <a:latin typeface="Aptos"/>
            </a:endParaRPr>
          </a:p>
        </p:txBody>
      </p:sp>
      <p:sp>
        <p:nvSpPr>
          <p:cNvPr id="12" name="Textfeld 11"/>
          <p:cNvSpPr txBox="1"/>
          <p:nvPr/>
        </p:nvSpPr>
        <p:spPr>
          <a:xfrm>
            <a:off x="2438400" y="2755900"/>
            <a:ext cx="2667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1400" b="1" smtClean="0">
                <a:solidFill>
                  <a:srgbClr val="7E97B8"/>
                </a:solidFill>
                <a:latin typeface="Aptos Display"/>
              </a:rPr>
              <a:t>-&gt;</a:t>
            </a:r>
            <a:endParaRPr lang="de-DE" sz="1400" b="1">
              <a:solidFill>
                <a:srgbClr val="7E97B8"/>
              </a:solidFill>
              <a:latin typeface="Aptos Display"/>
            </a:endParaRPr>
          </a:p>
        </p:txBody>
      </p:sp>
      <p:sp>
        <p:nvSpPr>
          <p:cNvPr id="13" name="Abgerundetes Rechteck 12"/>
          <p:cNvSpPr/>
          <p:nvPr/>
        </p:nvSpPr>
        <p:spPr>
          <a:xfrm>
            <a:off x="2692400" y="2222500"/>
            <a:ext cx="1879600" cy="1397000"/>
          </a:xfrm>
          <a:prstGeom prst="roundRect">
            <a:avLst/>
          </a:prstGeom>
          <a:solidFill>
            <a:srgbClr val="111927"/>
          </a:solidFill>
          <a:ln w="12700">
            <a:solidFill>
              <a:srgbClr val="2F3F5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4" name="Rechteck 13"/>
          <p:cNvSpPr/>
          <p:nvPr/>
        </p:nvSpPr>
        <p:spPr>
          <a:xfrm>
            <a:off x="2692400" y="2222500"/>
            <a:ext cx="63500" cy="1397000"/>
          </a:xfrm>
          <a:prstGeom prst="rect">
            <a:avLst/>
          </a:prstGeom>
          <a:solidFill>
            <a:srgbClr val="26C6D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5" name="Textfeld 14"/>
          <p:cNvSpPr txBox="1"/>
          <p:nvPr/>
        </p:nvSpPr>
        <p:spPr>
          <a:xfrm>
            <a:off x="2895600" y="2374900"/>
            <a:ext cx="15494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1400" b="1" smtClean="0">
                <a:solidFill>
                  <a:srgbClr val="F8FAFC"/>
                </a:solidFill>
                <a:latin typeface="Aptos Display"/>
              </a:rPr>
              <a:t>Session</a:t>
            </a:r>
            <a:endParaRPr lang="de-DE" sz="1400" b="1">
              <a:solidFill>
                <a:srgbClr val="F8FAFC"/>
              </a:solidFill>
              <a:latin typeface="Aptos Display"/>
            </a:endParaRPr>
          </a:p>
        </p:txBody>
      </p:sp>
      <p:sp>
        <p:nvSpPr>
          <p:cNvPr id="16" name="Textfeld 15"/>
          <p:cNvSpPr txBox="1"/>
          <p:nvPr/>
        </p:nvSpPr>
        <p:spPr>
          <a:xfrm>
            <a:off x="2895600" y="2705100"/>
            <a:ext cx="1549400" cy="4062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1020" smtClean="0">
                <a:solidFill>
                  <a:srgbClr val="BECDE6"/>
                </a:solidFill>
                <a:latin typeface="Aptos"/>
              </a:rPr>
              <a:t>last_ad_click bleibt für Attribution verfügbar.</a:t>
            </a:r>
            <a:endParaRPr lang="de-DE" sz="1020">
              <a:solidFill>
                <a:srgbClr val="BECDE6"/>
              </a:solidFill>
              <a:latin typeface="Aptos"/>
            </a:endParaRPr>
          </a:p>
        </p:txBody>
      </p:sp>
      <p:sp>
        <p:nvSpPr>
          <p:cNvPr id="17" name="Textfeld 16"/>
          <p:cNvSpPr txBox="1"/>
          <p:nvPr/>
        </p:nvSpPr>
        <p:spPr>
          <a:xfrm>
            <a:off x="4597400" y="2755900"/>
            <a:ext cx="2667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1400" b="1" smtClean="0">
                <a:solidFill>
                  <a:srgbClr val="7E97B8"/>
                </a:solidFill>
                <a:latin typeface="Aptos Display"/>
              </a:rPr>
              <a:t>-&gt;</a:t>
            </a:r>
            <a:endParaRPr lang="de-DE" sz="1400" b="1">
              <a:solidFill>
                <a:srgbClr val="7E97B8"/>
              </a:solidFill>
              <a:latin typeface="Aptos Display"/>
            </a:endParaRPr>
          </a:p>
        </p:txBody>
      </p:sp>
      <p:sp>
        <p:nvSpPr>
          <p:cNvPr id="18" name="Abgerundetes Rechteck 17"/>
          <p:cNvSpPr/>
          <p:nvPr/>
        </p:nvSpPr>
        <p:spPr>
          <a:xfrm>
            <a:off x="4851400" y="2222500"/>
            <a:ext cx="1879600" cy="1397000"/>
          </a:xfrm>
          <a:prstGeom prst="roundRect">
            <a:avLst/>
          </a:prstGeom>
          <a:solidFill>
            <a:srgbClr val="111927"/>
          </a:solidFill>
          <a:ln w="12700">
            <a:solidFill>
              <a:srgbClr val="2F3F5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9" name="Rechteck 18"/>
          <p:cNvSpPr/>
          <p:nvPr/>
        </p:nvSpPr>
        <p:spPr>
          <a:xfrm>
            <a:off x="4851400" y="2222500"/>
            <a:ext cx="63500" cy="1397000"/>
          </a:xfrm>
          <a:prstGeom prst="rect">
            <a:avLst/>
          </a:prstGeom>
          <a:solidFill>
            <a:srgbClr val="3AD39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0" name="Textfeld 19"/>
          <p:cNvSpPr txBox="1"/>
          <p:nvPr/>
        </p:nvSpPr>
        <p:spPr>
          <a:xfrm>
            <a:off x="5054600" y="2374900"/>
            <a:ext cx="15494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1400" b="1" smtClean="0">
                <a:solidFill>
                  <a:srgbClr val="F8FAFC"/>
                </a:solidFill>
                <a:latin typeface="Aptos Display"/>
              </a:rPr>
              <a:t>Lead</a:t>
            </a:r>
            <a:endParaRPr lang="de-DE" sz="1400" b="1">
              <a:solidFill>
                <a:srgbClr val="F8FAFC"/>
              </a:solidFill>
              <a:latin typeface="Aptos Display"/>
            </a:endParaRPr>
          </a:p>
        </p:txBody>
      </p:sp>
      <p:sp>
        <p:nvSpPr>
          <p:cNvPr id="21" name="Textfeld 20"/>
          <p:cNvSpPr txBox="1"/>
          <p:nvPr/>
        </p:nvSpPr>
        <p:spPr>
          <a:xfrm>
            <a:off x="5054600" y="2705100"/>
            <a:ext cx="1549400" cy="72019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1020" smtClean="0">
                <a:solidFill>
                  <a:srgbClr val="BECDE6"/>
                </a:solidFill>
                <a:latin typeface="Aptos"/>
              </a:rPr>
              <a:t>Registrierung, Checkout-Start oder Anfrage erzeugt Lead-Event.</a:t>
            </a:r>
            <a:endParaRPr lang="de-DE" sz="1020">
              <a:solidFill>
                <a:srgbClr val="BECDE6"/>
              </a:solidFill>
              <a:latin typeface="Aptos"/>
            </a:endParaRPr>
          </a:p>
        </p:txBody>
      </p:sp>
      <p:sp>
        <p:nvSpPr>
          <p:cNvPr id="22" name="Textfeld 21"/>
          <p:cNvSpPr txBox="1"/>
          <p:nvPr/>
        </p:nvSpPr>
        <p:spPr>
          <a:xfrm>
            <a:off x="6756400" y="2755900"/>
            <a:ext cx="2667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1400" b="1" smtClean="0">
                <a:solidFill>
                  <a:srgbClr val="7E97B8"/>
                </a:solidFill>
                <a:latin typeface="Aptos Display"/>
              </a:rPr>
              <a:t>-&gt;</a:t>
            </a:r>
            <a:endParaRPr lang="de-DE" sz="1400" b="1">
              <a:solidFill>
                <a:srgbClr val="7E97B8"/>
              </a:solidFill>
              <a:latin typeface="Aptos Display"/>
            </a:endParaRPr>
          </a:p>
        </p:txBody>
      </p:sp>
      <p:sp>
        <p:nvSpPr>
          <p:cNvPr id="23" name="Abgerundetes Rechteck 22"/>
          <p:cNvSpPr/>
          <p:nvPr/>
        </p:nvSpPr>
        <p:spPr>
          <a:xfrm>
            <a:off x="7010400" y="2222500"/>
            <a:ext cx="1879600" cy="1397000"/>
          </a:xfrm>
          <a:prstGeom prst="roundRect">
            <a:avLst/>
          </a:prstGeom>
          <a:solidFill>
            <a:srgbClr val="111927"/>
          </a:solidFill>
          <a:ln w="12700">
            <a:solidFill>
              <a:srgbClr val="2F3F5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4" name="Rechteck 23"/>
          <p:cNvSpPr/>
          <p:nvPr/>
        </p:nvSpPr>
        <p:spPr>
          <a:xfrm>
            <a:off x="7010400" y="2222500"/>
            <a:ext cx="63500" cy="1397000"/>
          </a:xfrm>
          <a:prstGeom prst="rect">
            <a:avLst/>
          </a:prstGeom>
          <a:solidFill>
            <a:srgbClr val="FFB14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5" name="Textfeld 24"/>
          <p:cNvSpPr txBox="1"/>
          <p:nvPr/>
        </p:nvSpPr>
        <p:spPr>
          <a:xfrm>
            <a:off x="7213600" y="2374900"/>
            <a:ext cx="15494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1400" b="1" smtClean="0">
                <a:solidFill>
                  <a:srgbClr val="F8FAFC"/>
                </a:solidFill>
                <a:latin typeface="Aptos Display"/>
              </a:rPr>
              <a:t>Sale</a:t>
            </a:r>
            <a:endParaRPr lang="de-DE" sz="1400" b="1">
              <a:solidFill>
                <a:srgbClr val="F8FAFC"/>
              </a:solidFill>
              <a:latin typeface="Aptos Display"/>
            </a:endParaRPr>
          </a:p>
        </p:txBody>
      </p:sp>
      <p:sp>
        <p:nvSpPr>
          <p:cNvPr id="26" name="Textfeld 25"/>
          <p:cNvSpPr txBox="1"/>
          <p:nvPr/>
        </p:nvSpPr>
        <p:spPr>
          <a:xfrm>
            <a:off x="7213600" y="2705100"/>
            <a:ext cx="1549400" cy="72019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1020" smtClean="0">
                <a:solidFill>
                  <a:srgbClr val="BECDE6"/>
                </a:solidFill>
                <a:latin typeface="Aptos"/>
              </a:rPr>
              <a:t>Nach bezahlter Order wird Sale-Event mit order_id und value_cents erstellt.</a:t>
            </a:r>
            <a:endParaRPr lang="de-DE" sz="1020">
              <a:solidFill>
                <a:srgbClr val="BECDE6"/>
              </a:solidFill>
              <a:latin typeface="Aptos"/>
            </a:endParaRPr>
          </a:p>
        </p:txBody>
      </p:sp>
      <p:sp>
        <p:nvSpPr>
          <p:cNvPr id="27" name="Textfeld 26"/>
          <p:cNvSpPr txBox="1"/>
          <p:nvPr/>
        </p:nvSpPr>
        <p:spPr>
          <a:xfrm>
            <a:off x="8915400" y="2755900"/>
            <a:ext cx="2667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1400" b="1" smtClean="0">
                <a:solidFill>
                  <a:srgbClr val="7E97B8"/>
                </a:solidFill>
                <a:latin typeface="Aptos Display"/>
              </a:rPr>
              <a:t>-&gt;</a:t>
            </a:r>
            <a:endParaRPr lang="de-DE" sz="1400" b="1">
              <a:solidFill>
                <a:srgbClr val="7E97B8"/>
              </a:solidFill>
              <a:latin typeface="Aptos Display"/>
            </a:endParaRPr>
          </a:p>
        </p:txBody>
      </p:sp>
      <p:sp>
        <p:nvSpPr>
          <p:cNvPr id="28" name="Abgerundetes Rechteck 27"/>
          <p:cNvSpPr/>
          <p:nvPr/>
        </p:nvSpPr>
        <p:spPr>
          <a:xfrm>
            <a:off x="9169400" y="2222500"/>
            <a:ext cx="1879600" cy="1397000"/>
          </a:xfrm>
          <a:prstGeom prst="roundRect">
            <a:avLst/>
          </a:prstGeom>
          <a:solidFill>
            <a:srgbClr val="111927"/>
          </a:solidFill>
          <a:ln w="12700">
            <a:solidFill>
              <a:srgbClr val="2F3F5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9" name="Rechteck 28"/>
          <p:cNvSpPr/>
          <p:nvPr/>
        </p:nvSpPr>
        <p:spPr>
          <a:xfrm>
            <a:off x="9169400" y="2222500"/>
            <a:ext cx="63500" cy="1397000"/>
          </a:xfrm>
          <a:prstGeom prst="rect">
            <a:avLst/>
          </a:prstGeom>
          <a:solidFill>
            <a:srgbClr val="FF6B6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0" name="Textfeld 29"/>
          <p:cNvSpPr txBox="1"/>
          <p:nvPr/>
        </p:nvSpPr>
        <p:spPr>
          <a:xfrm>
            <a:off x="9372600" y="2374900"/>
            <a:ext cx="15494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1400" b="1" smtClean="0">
                <a:solidFill>
                  <a:srgbClr val="F8FAFC"/>
                </a:solidFill>
                <a:latin typeface="Aptos Display"/>
              </a:rPr>
              <a:t>Kosten</a:t>
            </a:r>
            <a:endParaRPr lang="de-DE" sz="1400" b="1">
              <a:solidFill>
                <a:srgbClr val="F8FAFC"/>
              </a:solidFill>
              <a:latin typeface="Aptos Display"/>
            </a:endParaRPr>
          </a:p>
        </p:txBody>
      </p:sp>
      <p:sp>
        <p:nvSpPr>
          <p:cNvPr id="31" name="Textfeld 30"/>
          <p:cNvSpPr txBox="1"/>
          <p:nvPr/>
        </p:nvSpPr>
        <p:spPr>
          <a:xfrm>
            <a:off x="9372600" y="2705100"/>
            <a:ext cx="1549400" cy="5632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1020" smtClean="0">
                <a:solidFill>
                  <a:srgbClr val="BECDE6"/>
                </a:solidFill>
                <a:latin typeface="Aptos"/>
              </a:rPr>
              <a:t>CPL/CPA werden nur bei passendem Objective berechnet.</a:t>
            </a:r>
            <a:endParaRPr lang="de-DE" sz="1020">
              <a:solidFill>
                <a:srgbClr val="BECDE6"/>
              </a:solidFill>
              <a:latin typeface="Aptos"/>
            </a:endParaRPr>
          </a:p>
        </p:txBody>
      </p:sp>
      <p:sp>
        <p:nvSpPr>
          <p:cNvPr id="32" name="Abgerundetes Rechteck 31"/>
          <p:cNvSpPr/>
          <p:nvPr/>
        </p:nvSpPr>
        <p:spPr>
          <a:xfrm>
            <a:off x="533400" y="4191000"/>
            <a:ext cx="10515600" cy="1041400"/>
          </a:xfrm>
          <a:prstGeom prst="roundRect">
            <a:avLst/>
          </a:prstGeom>
          <a:solidFill>
            <a:srgbClr val="111927"/>
          </a:solidFill>
          <a:ln w="12700">
            <a:solidFill>
              <a:srgbClr val="2F3F5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3" name="Rechteck 32"/>
          <p:cNvSpPr/>
          <p:nvPr/>
        </p:nvSpPr>
        <p:spPr>
          <a:xfrm>
            <a:off x="533400" y="4191000"/>
            <a:ext cx="63500" cy="1041400"/>
          </a:xfrm>
          <a:prstGeom prst="rect">
            <a:avLst/>
          </a:prstGeom>
          <a:solidFill>
            <a:srgbClr val="3AD39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4" name="Textfeld 33"/>
          <p:cNvSpPr txBox="1"/>
          <p:nvPr/>
        </p:nvSpPr>
        <p:spPr>
          <a:xfrm>
            <a:off x="736600" y="4343400"/>
            <a:ext cx="101854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1400" b="1" smtClean="0">
                <a:solidFill>
                  <a:srgbClr val="F8FAFC"/>
                </a:solidFill>
                <a:latin typeface="Aptos Display"/>
              </a:rPr>
              <a:t>Grenze</a:t>
            </a:r>
            <a:endParaRPr lang="de-DE" sz="1400" b="1">
              <a:solidFill>
                <a:srgbClr val="F8FAFC"/>
              </a:solidFill>
              <a:latin typeface="Aptos Display"/>
            </a:endParaRPr>
          </a:p>
        </p:txBody>
      </p:sp>
      <p:sp>
        <p:nvSpPr>
          <p:cNvPr id="35" name="Textfeld 34"/>
          <p:cNvSpPr txBox="1"/>
          <p:nvPr/>
        </p:nvSpPr>
        <p:spPr>
          <a:xfrm>
            <a:off x="736600" y="4673600"/>
            <a:ext cx="10185400" cy="2492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1020" smtClean="0">
                <a:solidFill>
                  <a:srgbClr val="BECDE6"/>
                </a:solidFill>
                <a:latin typeface="Aptos"/>
              </a:rPr>
              <a:t>Ohne ads_measurement_consent wird keine Conversion-Attribution gespeichert. Ohne ads_personalization_consent gibt es kein Retargeting aus Marketplace-Interessen.</a:t>
            </a:r>
            <a:endParaRPr lang="de-DE" sz="1020">
              <a:solidFill>
                <a:srgbClr val="BECDE6"/>
              </a:solidFill>
              <a:latin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145063517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eck 1"/>
          <p:cNvSpPr/>
          <p:nvPr/>
        </p:nvSpPr>
        <p:spPr>
          <a:xfrm>
            <a:off x="0" y="0"/>
            <a:ext cx="12192000" cy="101600"/>
          </a:xfrm>
          <a:prstGeom prst="rect">
            <a:avLst/>
          </a:prstGeom>
          <a:solidFill>
            <a:srgbClr val="3884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" name="Textfeld 2"/>
          <p:cNvSpPr txBox="1"/>
          <p:nvPr/>
        </p:nvSpPr>
        <p:spPr>
          <a:xfrm>
            <a:off x="533400" y="431800"/>
            <a:ext cx="3302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900" b="1" smtClean="0">
                <a:solidFill>
                  <a:srgbClr val="3884FF"/>
                </a:solidFill>
                <a:latin typeface="Aptos"/>
              </a:rPr>
              <a:t>DSGVO &amp; PRIVACY</a:t>
            </a:r>
            <a:endParaRPr lang="de-DE" sz="900" b="1">
              <a:solidFill>
                <a:srgbClr val="3884FF"/>
              </a:solidFill>
              <a:latin typeface="Aptos"/>
            </a:endParaRPr>
          </a:p>
        </p:txBody>
      </p:sp>
      <p:sp>
        <p:nvSpPr>
          <p:cNvPr id="4" name="Textfeld 3"/>
          <p:cNvSpPr txBox="1"/>
          <p:nvPr/>
        </p:nvSpPr>
        <p:spPr>
          <a:xfrm>
            <a:off x="533400" y="736600"/>
            <a:ext cx="102235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2800" b="1" smtClean="0">
                <a:solidFill>
                  <a:srgbClr val="F8FAFC"/>
                </a:solidFill>
                <a:latin typeface="Aptos Display"/>
              </a:rPr>
              <a:t>Consent-first statt heimliches Tracking</a:t>
            </a:r>
            <a:endParaRPr lang="de-DE" sz="2800" b="1">
              <a:solidFill>
                <a:srgbClr val="F8FAFC"/>
              </a:solidFill>
              <a:latin typeface="Aptos Display"/>
            </a:endParaRPr>
          </a:p>
        </p:txBody>
      </p:sp>
      <p:sp>
        <p:nvSpPr>
          <p:cNvPr id="5" name="Textfeld 4"/>
          <p:cNvSpPr txBox="1"/>
          <p:nvPr/>
        </p:nvSpPr>
        <p:spPr>
          <a:xfrm>
            <a:off x="533400" y="1422400"/>
            <a:ext cx="10414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1200" smtClean="0">
                <a:solidFill>
                  <a:srgbClr val="BECDE6"/>
                </a:solidFill>
                <a:latin typeface="Aptos"/>
              </a:rPr>
              <a:t>Die technische Umsetzung trennt notwendige Auslieferung von personalisierter Werbung und Conversion-Messung.</a:t>
            </a:r>
            <a:endParaRPr lang="de-DE" sz="1200">
              <a:solidFill>
                <a:srgbClr val="BECDE6"/>
              </a:solidFill>
              <a:latin typeface="Aptos"/>
            </a:endParaRPr>
          </a:p>
        </p:txBody>
      </p:sp>
      <p:sp>
        <p:nvSpPr>
          <p:cNvPr id="6" name="Textfeld 5"/>
          <p:cNvSpPr txBox="1"/>
          <p:nvPr/>
        </p:nvSpPr>
        <p:spPr>
          <a:xfrm>
            <a:off x="533400" y="6451600"/>
            <a:ext cx="66040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800" smtClean="0">
                <a:solidFill>
                  <a:srgbClr val="7E97B8"/>
                </a:solidFill>
                <a:latin typeface="Aptos"/>
              </a:rPr>
              <a:t>Airmius Ads System | Produkt-, Technik- und Finance-Dokumentation</a:t>
            </a:r>
            <a:endParaRPr lang="de-DE" sz="800">
              <a:solidFill>
                <a:srgbClr val="7E97B8"/>
              </a:solidFill>
              <a:latin typeface="Aptos"/>
            </a:endParaRPr>
          </a:p>
        </p:txBody>
      </p:sp>
      <p:sp>
        <p:nvSpPr>
          <p:cNvPr id="7" name="Textfeld 6"/>
          <p:cNvSpPr txBox="1"/>
          <p:nvPr/>
        </p:nvSpPr>
        <p:spPr>
          <a:xfrm>
            <a:off x="11112500" y="64516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1000" b="1" smtClean="0">
                <a:solidFill>
                  <a:srgbClr val="3884FF"/>
                </a:solidFill>
                <a:latin typeface="Aptos Display"/>
              </a:rPr>
              <a:t>17</a:t>
            </a:r>
            <a:endParaRPr lang="de-DE" sz="1000" b="1">
              <a:solidFill>
                <a:srgbClr val="3884FF"/>
              </a:solidFill>
              <a:latin typeface="Aptos Display"/>
            </a:endParaRPr>
          </a:p>
        </p:txBody>
      </p:sp>
      <p:sp>
        <p:nvSpPr>
          <p:cNvPr id="8" name="Abgerundetes Rechteck 7"/>
          <p:cNvSpPr/>
          <p:nvPr/>
        </p:nvSpPr>
        <p:spPr>
          <a:xfrm>
            <a:off x="533400" y="2184400"/>
            <a:ext cx="3302000" cy="1524000"/>
          </a:xfrm>
          <a:prstGeom prst="roundRect">
            <a:avLst/>
          </a:prstGeom>
          <a:solidFill>
            <a:srgbClr val="111927"/>
          </a:solidFill>
          <a:ln w="12700">
            <a:solidFill>
              <a:srgbClr val="2F3F5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9" name="Rechteck 8"/>
          <p:cNvSpPr/>
          <p:nvPr/>
        </p:nvSpPr>
        <p:spPr>
          <a:xfrm>
            <a:off x="533400" y="2184400"/>
            <a:ext cx="63500" cy="1524000"/>
          </a:xfrm>
          <a:prstGeom prst="rect">
            <a:avLst/>
          </a:prstGeom>
          <a:solidFill>
            <a:srgbClr val="3884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0" name="Textfeld 9"/>
          <p:cNvSpPr txBox="1"/>
          <p:nvPr/>
        </p:nvSpPr>
        <p:spPr>
          <a:xfrm>
            <a:off x="736600" y="2336800"/>
            <a:ext cx="29718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1400" b="1" smtClean="0">
                <a:solidFill>
                  <a:srgbClr val="F8FAFC"/>
                </a:solidFill>
                <a:latin typeface="Aptos Display"/>
              </a:rPr>
              <a:t>User-Flags</a:t>
            </a:r>
            <a:endParaRPr lang="de-DE" sz="1400" b="1">
              <a:solidFill>
                <a:srgbClr val="F8FAFC"/>
              </a:solidFill>
              <a:latin typeface="Aptos Display"/>
            </a:endParaRPr>
          </a:p>
        </p:txBody>
      </p:sp>
      <p:sp>
        <p:nvSpPr>
          <p:cNvPr id="11" name="Textfeld 10"/>
          <p:cNvSpPr txBox="1"/>
          <p:nvPr/>
        </p:nvSpPr>
        <p:spPr>
          <a:xfrm>
            <a:off x="736600" y="2667000"/>
            <a:ext cx="2971800" cy="5632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1020" smtClean="0">
                <a:solidFill>
                  <a:srgbClr val="BECDE6"/>
                </a:solidFill>
                <a:latin typeface="Aptos"/>
              </a:rPr>
              <a:t>ads_personalization_consent und ads_measurement_consent liegen am User und steuern Funktionen getrennt.</a:t>
            </a:r>
            <a:endParaRPr lang="de-DE" sz="1020">
              <a:solidFill>
                <a:srgbClr val="BECDE6"/>
              </a:solidFill>
              <a:latin typeface="Aptos"/>
            </a:endParaRPr>
          </a:p>
        </p:txBody>
      </p:sp>
      <p:sp>
        <p:nvSpPr>
          <p:cNvPr id="12" name="Abgerundetes Rechteck 11"/>
          <p:cNvSpPr/>
          <p:nvPr/>
        </p:nvSpPr>
        <p:spPr>
          <a:xfrm>
            <a:off x="4140200" y="2184400"/>
            <a:ext cx="3302000" cy="1524000"/>
          </a:xfrm>
          <a:prstGeom prst="roundRect">
            <a:avLst/>
          </a:prstGeom>
          <a:solidFill>
            <a:srgbClr val="111927"/>
          </a:solidFill>
          <a:ln w="12700">
            <a:solidFill>
              <a:srgbClr val="2F3F5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3" name="Rechteck 12"/>
          <p:cNvSpPr/>
          <p:nvPr/>
        </p:nvSpPr>
        <p:spPr>
          <a:xfrm>
            <a:off x="4140200" y="2184400"/>
            <a:ext cx="63500" cy="1524000"/>
          </a:xfrm>
          <a:prstGeom prst="rect">
            <a:avLst/>
          </a:prstGeom>
          <a:solidFill>
            <a:srgbClr val="3AD39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4" name="Textfeld 13"/>
          <p:cNvSpPr txBox="1"/>
          <p:nvPr/>
        </p:nvSpPr>
        <p:spPr>
          <a:xfrm>
            <a:off x="4343400" y="2336800"/>
            <a:ext cx="29718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1400" b="1" smtClean="0">
                <a:solidFill>
                  <a:srgbClr val="F8FAFC"/>
                </a:solidFill>
                <a:latin typeface="Aptos Display"/>
              </a:rPr>
              <a:t>Datenminimierung</a:t>
            </a:r>
            <a:endParaRPr lang="de-DE" sz="1400" b="1">
              <a:solidFill>
                <a:srgbClr val="F8FAFC"/>
              </a:solidFill>
              <a:latin typeface="Aptos Display"/>
            </a:endParaRPr>
          </a:p>
        </p:txBody>
      </p:sp>
      <p:sp>
        <p:nvSpPr>
          <p:cNvPr id="15" name="Textfeld 14"/>
          <p:cNvSpPr txBox="1"/>
          <p:nvPr/>
        </p:nvSpPr>
        <p:spPr>
          <a:xfrm>
            <a:off x="4343400" y="2667000"/>
            <a:ext cx="2971800" cy="5632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1020" smtClean="0">
                <a:solidFill>
                  <a:srgbClr val="BECDE6"/>
                </a:solidFill>
                <a:latin typeface="Aptos"/>
              </a:rPr>
              <a:t>Session, IP und User-Agent werden gehasht; Guest-E-Mail wird nicht in Ad-Metadata gespeichert.</a:t>
            </a:r>
            <a:endParaRPr lang="de-DE" sz="1020">
              <a:solidFill>
                <a:srgbClr val="BECDE6"/>
              </a:solidFill>
              <a:latin typeface="Aptos"/>
            </a:endParaRPr>
          </a:p>
        </p:txBody>
      </p:sp>
      <p:sp>
        <p:nvSpPr>
          <p:cNvPr id="16" name="Abgerundetes Rechteck 15"/>
          <p:cNvSpPr/>
          <p:nvPr/>
        </p:nvSpPr>
        <p:spPr>
          <a:xfrm>
            <a:off x="7747000" y="2184400"/>
            <a:ext cx="3302000" cy="1524000"/>
          </a:xfrm>
          <a:prstGeom prst="roundRect">
            <a:avLst/>
          </a:prstGeom>
          <a:solidFill>
            <a:srgbClr val="111927"/>
          </a:solidFill>
          <a:ln w="12700">
            <a:solidFill>
              <a:srgbClr val="2F3F5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7" name="Rechteck 16"/>
          <p:cNvSpPr/>
          <p:nvPr/>
        </p:nvSpPr>
        <p:spPr>
          <a:xfrm>
            <a:off x="7747000" y="2184400"/>
            <a:ext cx="63500" cy="1524000"/>
          </a:xfrm>
          <a:prstGeom prst="rect">
            <a:avLst/>
          </a:prstGeom>
          <a:solidFill>
            <a:srgbClr val="FFB14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8" name="Textfeld 17"/>
          <p:cNvSpPr txBox="1"/>
          <p:nvPr/>
        </p:nvSpPr>
        <p:spPr>
          <a:xfrm>
            <a:off x="7950200" y="2336800"/>
            <a:ext cx="29718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1400" b="1" smtClean="0">
                <a:solidFill>
                  <a:srgbClr val="F8FAFC"/>
                </a:solidFill>
                <a:latin typeface="Aptos Display"/>
              </a:rPr>
              <a:t>Retention</a:t>
            </a:r>
            <a:endParaRPr lang="de-DE" sz="1400" b="1">
              <a:solidFill>
                <a:srgbClr val="F8FAFC"/>
              </a:solidFill>
              <a:latin typeface="Aptos Display"/>
            </a:endParaRPr>
          </a:p>
        </p:txBody>
      </p:sp>
      <p:sp>
        <p:nvSpPr>
          <p:cNvPr id="19" name="Textfeld 18"/>
          <p:cNvSpPr txBox="1"/>
          <p:nvPr/>
        </p:nvSpPr>
        <p:spPr>
          <a:xfrm>
            <a:off x="7950200" y="2667000"/>
            <a:ext cx="2971800" cy="5632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1020" smtClean="0">
                <a:solidFill>
                  <a:srgbClr val="BECDE6"/>
                </a:solidFill>
                <a:latin typeface="Aptos"/>
              </a:rPr>
              <a:t>airmius:prune-ad-events löscht alte AdEvents nach konfigurierter Frist, Standard 180 Tage, Minimum 30.</a:t>
            </a:r>
            <a:endParaRPr lang="de-DE" sz="1020">
              <a:solidFill>
                <a:srgbClr val="BECDE6"/>
              </a:solidFill>
              <a:latin typeface="Aptos"/>
            </a:endParaRPr>
          </a:p>
        </p:txBody>
      </p:sp>
      <p:sp>
        <p:nvSpPr>
          <p:cNvPr id="20" name="Abgerundetes Rechteck 19"/>
          <p:cNvSpPr/>
          <p:nvPr/>
        </p:nvSpPr>
        <p:spPr>
          <a:xfrm>
            <a:off x="533400" y="4038600"/>
            <a:ext cx="10515600" cy="1244600"/>
          </a:xfrm>
          <a:prstGeom prst="roundRect">
            <a:avLst/>
          </a:prstGeom>
          <a:solidFill>
            <a:srgbClr val="111927"/>
          </a:solidFill>
          <a:ln w="12700">
            <a:solidFill>
              <a:srgbClr val="2F3F5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1" name="Rechteck 20"/>
          <p:cNvSpPr/>
          <p:nvPr/>
        </p:nvSpPr>
        <p:spPr>
          <a:xfrm>
            <a:off x="533400" y="4038600"/>
            <a:ext cx="63500" cy="1244600"/>
          </a:xfrm>
          <a:prstGeom prst="rect">
            <a:avLst/>
          </a:prstGeom>
          <a:solidFill>
            <a:srgbClr val="FF6B6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2" name="Textfeld 21"/>
          <p:cNvSpPr txBox="1"/>
          <p:nvPr/>
        </p:nvSpPr>
        <p:spPr>
          <a:xfrm>
            <a:off x="736600" y="4191000"/>
            <a:ext cx="101854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1400" b="1" smtClean="0">
                <a:solidFill>
                  <a:srgbClr val="F8FAFC"/>
                </a:solidFill>
                <a:latin typeface="Aptos Display"/>
              </a:rPr>
              <a:t>Was noch fehlt</a:t>
            </a:r>
            <a:endParaRPr lang="de-DE" sz="1400" b="1">
              <a:solidFill>
                <a:srgbClr val="F8FAFC"/>
              </a:solidFill>
              <a:latin typeface="Aptos Display"/>
            </a:endParaRPr>
          </a:p>
        </p:txBody>
      </p:sp>
      <p:sp>
        <p:nvSpPr>
          <p:cNvPr id="23" name="Textfeld 22"/>
          <p:cNvSpPr txBox="1"/>
          <p:nvPr/>
        </p:nvSpPr>
        <p:spPr>
          <a:xfrm>
            <a:off x="736600" y="4521200"/>
            <a:ext cx="10185400" cy="4062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1020" smtClean="0">
                <a:solidFill>
                  <a:srgbClr val="BECDE6"/>
                </a:solidFill>
                <a:latin typeface="Aptos"/>
              </a:rPr>
              <a:t>Für echten Livebetrieb: Consent-Banner/CMP, finale Datenschutzerklärung, AV-Verträge, Lösch-/Exportprozesse, Minderjährigenregeln und dokumentierte Interessenabwägung für kontextuelle Ads.</a:t>
            </a:r>
            <a:endParaRPr lang="de-DE" sz="1020">
              <a:solidFill>
                <a:srgbClr val="BECDE6"/>
              </a:solidFill>
              <a:latin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188268174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eck 1"/>
          <p:cNvSpPr/>
          <p:nvPr/>
        </p:nvSpPr>
        <p:spPr>
          <a:xfrm>
            <a:off x="0" y="0"/>
            <a:ext cx="12192000" cy="101600"/>
          </a:xfrm>
          <a:prstGeom prst="rect">
            <a:avLst/>
          </a:prstGeom>
          <a:solidFill>
            <a:srgbClr val="3884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" name="Textfeld 2"/>
          <p:cNvSpPr txBox="1"/>
          <p:nvPr/>
        </p:nvSpPr>
        <p:spPr>
          <a:xfrm>
            <a:off x="533400" y="431800"/>
            <a:ext cx="3302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900" b="1" smtClean="0">
                <a:solidFill>
                  <a:srgbClr val="3884FF"/>
                </a:solidFill>
                <a:latin typeface="Aptos"/>
              </a:rPr>
              <a:t>REPORTING</a:t>
            </a:r>
            <a:endParaRPr lang="de-DE" sz="900" b="1">
              <a:solidFill>
                <a:srgbClr val="3884FF"/>
              </a:solidFill>
              <a:latin typeface="Aptos"/>
            </a:endParaRPr>
          </a:p>
        </p:txBody>
      </p:sp>
      <p:sp>
        <p:nvSpPr>
          <p:cNvPr id="4" name="Textfeld 3"/>
          <p:cNvSpPr txBox="1"/>
          <p:nvPr/>
        </p:nvSpPr>
        <p:spPr>
          <a:xfrm>
            <a:off x="533400" y="736600"/>
            <a:ext cx="102235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2800" b="1" smtClean="0">
                <a:solidFill>
                  <a:srgbClr val="F8FAFC"/>
                </a:solidFill>
                <a:latin typeface="Aptos Display"/>
              </a:rPr>
              <a:t>Welche Kennzahlen Admins sehen</a:t>
            </a:r>
            <a:endParaRPr lang="de-DE" sz="2800" b="1">
              <a:solidFill>
                <a:srgbClr val="F8FAFC"/>
              </a:solidFill>
              <a:latin typeface="Aptos Display"/>
            </a:endParaRPr>
          </a:p>
        </p:txBody>
      </p:sp>
      <p:sp>
        <p:nvSpPr>
          <p:cNvPr id="5" name="Textfeld 4"/>
          <p:cNvSpPr txBox="1"/>
          <p:nvPr/>
        </p:nvSpPr>
        <p:spPr>
          <a:xfrm>
            <a:off x="533400" y="1422400"/>
            <a:ext cx="10414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1200" smtClean="0">
                <a:solidFill>
                  <a:srgbClr val="BECDE6"/>
                </a:solidFill>
                <a:latin typeface="Aptos"/>
              </a:rPr>
              <a:t>Reporting ist aktuell admin-zentriert und kombiniert Kampagnen-, Placement- und Diagnoseperspektive.</a:t>
            </a:r>
            <a:endParaRPr lang="de-DE" sz="1200">
              <a:solidFill>
                <a:srgbClr val="BECDE6"/>
              </a:solidFill>
              <a:latin typeface="Aptos"/>
            </a:endParaRPr>
          </a:p>
        </p:txBody>
      </p:sp>
      <p:sp>
        <p:nvSpPr>
          <p:cNvPr id="6" name="Textfeld 5"/>
          <p:cNvSpPr txBox="1"/>
          <p:nvPr/>
        </p:nvSpPr>
        <p:spPr>
          <a:xfrm>
            <a:off x="533400" y="6451600"/>
            <a:ext cx="66040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800" smtClean="0">
                <a:solidFill>
                  <a:srgbClr val="7E97B8"/>
                </a:solidFill>
                <a:latin typeface="Aptos"/>
              </a:rPr>
              <a:t>Airmius Ads System | Produkt-, Technik- und Finance-Dokumentation</a:t>
            </a:r>
            <a:endParaRPr lang="de-DE" sz="800">
              <a:solidFill>
                <a:srgbClr val="7E97B8"/>
              </a:solidFill>
              <a:latin typeface="Aptos"/>
            </a:endParaRPr>
          </a:p>
        </p:txBody>
      </p:sp>
      <p:sp>
        <p:nvSpPr>
          <p:cNvPr id="7" name="Textfeld 6"/>
          <p:cNvSpPr txBox="1"/>
          <p:nvPr/>
        </p:nvSpPr>
        <p:spPr>
          <a:xfrm>
            <a:off x="11112500" y="64516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1000" b="1" smtClean="0">
                <a:solidFill>
                  <a:srgbClr val="3884FF"/>
                </a:solidFill>
                <a:latin typeface="Aptos Display"/>
              </a:rPr>
              <a:t>18</a:t>
            </a:r>
            <a:endParaRPr lang="de-DE" sz="1000" b="1">
              <a:solidFill>
                <a:srgbClr val="3884FF"/>
              </a:solidFill>
              <a:latin typeface="Aptos Display"/>
            </a:endParaRPr>
          </a:p>
        </p:txBody>
      </p:sp>
      <p:sp>
        <p:nvSpPr>
          <p:cNvPr id="8" name="Abgerundetes Rechteck 7"/>
          <p:cNvSpPr/>
          <p:nvPr/>
        </p:nvSpPr>
        <p:spPr>
          <a:xfrm>
            <a:off x="533400" y="2209800"/>
            <a:ext cx="1905000" cy="1168400"/>
          </a:xfrm>
          <a:prstGeom prst="roundRect">
            <a:avLst/>
          </a:prstGeom>
          <a:solidFill>
            <a:srgbClr val="182233"/>
          </a:solidFill>
          <a:ln>
            <a:solidFill>
              <a:srgbClr val="2F3F5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9" name="Textfeld 8"/>
          <p:cNvSpPr txBox="1"/>
          <p:nvPr/>
        </p:nvSpPr>
        <p:spPr>
          <a:xfrm>
            <a:off x="711200" y="2362200"/>
            <a:ext cx="15494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800" b="1" smtClean="0">
                <a:solidFill>
                  <a:srgbClr val="3884FF"/>
                </a:solidFill>
                <a:latin typeface="Aptos"/>
              </a:rPr>
              <a:t>BASIS</a:t>
            </a:r>
            <a:endParaRPr lang="de-DE" sz="800" b="1">
              <a:solidFill>
                <a:srgbClr val="3884FF"/>
              </a:solidFill>
              <a:latin typeface="Aptos"/>
            </a:endParaRPr>
          </a:p>
        </p:txBody>
      </p:sp>
      <p:sp>
        <p:nvSpPr>
          <p:cNvPr id="10" name="Textfeld 9"/>
          <p:cNvSpPr txBox="1"/>
          <p:nvPr/>
        </p:nvSpPr>
        <p:spPr>
          <a:xfrm>
            <a:off x="711200" y="2590800"/>
            <a:ext cx="1549400" cy="70788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2000" b="1" smtClean="0">
                <a:solidFill>
                  <a:srgbClr val="F8FAFC"/>
                </a:solidFill>
                <a:latin typeface="Aptos Display"/>
              </a:rPr>
              <a:t>Impr./Clicks</a:t>
            </a:r>
            <a:endParaRPr lang="de-DE" sz="2000" b="1">
              <a:solidFill>
                <a:srgbClr val="F8FAFC"/>
              </a:solidFill>
              <a:latin typeface="Aptos Display"/>
            </a:endParaRPr>
          </a:p>
        </p:txBody>
      </p:sp>
      <p:sp>
        <p:nvSpPr>
          <p:cNvPr id="11" name="Textfeld 10"/>
          <p:cNvSpPr txBox="1"/>
          <p:nvPr/>
        </p:nvSpPr>
        <p:spPr>
          <a:xfrm>
            <a:off x="711200" y="2997200"/>
            <a:ext cx="1549400" cy="22313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850" smtClean="0">
                <a:solidFill>
                  <a:srgbClr val="BECDE6"/>
                </a:solidFill>
                <a:latin typeface="Aptos"/>
              </a:rPr>
              <a:t>Reichweite und Interesse</a:t>
            </a:r>
            <a:endParaRPr lang="de-DE" sz="850">
              <a:solidFill>
                <a:srgbClr val="BECDE6"/>
              </a:solidFill>
              <a:latin typeface="Aptos"/>
            </a:endParaRPr>
          </a:p>
        </p:txBody>
      </p:sp>
      <p:sp>
        <p:nvSpPr>
          <p:cNvPr id="12" name="Abgerundetes Rechteck 11"/>
          <p:cNvSpPr/>
          <p:nvPr/>
        </p:nvSpPr>
        <p:spPr>
          <a:xfrm>
            <a:off x="2641600" y="2209800"/>
            <a:ext cx="1905000" cy="1168400"/>
          </a:xfrm>
          <a:prstGeom prst="roundRect">
            <a:avLst/>
          </a:prstGeom>
          <a:solidFill>
            <a:srgbClr val="182233"/>
          </a:solidFill>
          <a:ln>
            <a:solidFill>
              <a:srgbClr val="2F3F5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3" name="Textfeld 12"/>
          <p:cNvSpPr txBox="1"/>
          <p:nvPr/>
        </p:nvSpPr>
        <p:spPr>
          <a:xfrm>
            <a:off x="2819400" y="2362200"/>
            <a:ext cx="15494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800" b="1" smtClean="0">
                <a:solidFill>
                  <a:srgbClr val="26C6DA"/>
                </a:solidFill>
                <a:latin typeface="Aptos"/>
              </a:rPr>
              <a:t>KOSTEN</a:t>
            </a:r>
            <a:endParaRPr lang="de-DE" sz="800" b="1">
              <a:solidFill>
                <a:srgbClr val="26C6DA"/>
              </a:solidFill>
              <a:latin typeface="Aptos"/>
            </a:endParaRPr>
          </a:p>
        </p:txBody>
      </p:sp>
      <p:sp>
        <p:nvSpPr>
          <p:cNvPr id="14" name="Textfeld 13"/>
          <p:cNvSpPr txBox="1"/>
          <p:nvPr/>
        </p:nvSpPr>
        <p:spPr>
          <a:xfrm>
            <a:off x="2819400" y="2590800"/>
            <a:ext cx="1549400" cy="4001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2000" b="1" smtClean="0">
                <a:solidFill>
                  <a:srgbClr val="F8FAFC"/>
                </a:solidFill>
                <a:latin typeface="Aptos Display"/>
              </a:rPr>
              <a:t>Spend</a:t>
            </a:r>
            <a:endParaRPr lang="de-DE" sz="2000" b="1">
              <a:solidFill>
                <a:srgbClr val="F8FAFC"/>
              </a:solidFill>
              <a:latin typeface="Aptos Display"/>
            </a:endParaRPr>
          </a:p>
        </p:txBody>
      </p:sp>
      <p:sp>
        <p:nvSpPr>
          <p:cNvPr id="15" name="Textfeld 14"/>
          <p:cNvSpPr txBox="1"/>
          <p:nvPr/>
        </p:nvSpPr>
        <p:spPr>
          <a:xfrm>
            <a:off x="2819400" y="2997200"/>
            <a:ext cx="1549400" cy="35394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850" smtClean="0">
                <a:solidFill>
                  <a:srgbClr val="BECDE6"/>
                </a:solidFill>
                <a:latin typeface="Aptos"/>
              </a:rPr>
              <a:t>Budgetverbrauch in Cent/EUR</a:t>
            </a:r>
            <a:endParaRPr lang="de-DE" sz="850">
              <a:solidFill>
                <a:srgbClr val="BECDE6"/>
              </a:solidFill>
              <a:latin typeface="Aptos"/>
            </a:endParaRPr>
          </a:p>
        </p:txBody>
      </p:sp>
      <p:sp>
        <p:nvSpPr>
          <p:cNvPr id="16" name="Abgerundetes Rechteck 15"/>
          <p:cNvSpPr/>
          <p:nvPr/>
        </p:nvSpPr>
        <p:spPr>
          <a:xfrm>
            <a:off x="4749800" y="2209800"/>
            <a:ext cx="1905000" cy="1168400"/>
          </a:xfrm>
          <a:prstGeom prst="roundRect">
            <a:avLst/>
          </a:prstGeom>
          <a:solidFill>
            <a:srgbClr val="182233"/>
          </a:solidFill>
          <a:ln>
            <a:solidFill>
              <a:srgbClr val="2F3F5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7" name="Textfeld 16"/>
          <p:cNvSpPr txBox="1"/>
          <p:nvPr/>
        </p:nvSpPr>
        <p:spPr>
          <a:xfrm>
            <a:off x="4927600" y="2362200"/>
            <a:ext cx="15494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800" b="1" smtClean="0">
                <a:solidFill>
                  <a:srgbClr val="3AD39F"/>
                </a:solidFill>
                <a:latin typeface="Aptos"/>
              </a:rPr>
              <a:t>WERT</a:t>
            </a:r>
            <a:endParaRPr lang="de-DE" sz="800" b="1">
              <a:solidFill>
                <a:srgbClr val="3AD39F"/>
              </a:solidFill>
              <a:latin typeface="Aptos"/>
            </a:endParaRPr>
          </a:p>
        </p:txBody>
      </p:sp>
      <p:sp>
        <p:nvSpPr>
          <p:cNvPr id="18" name="Textfeld 17"/>
          <p:cNvSpPr txBox="1"/>
          <p:nvPr/>
        </p:nvSpPr>
        <p:spPr>
          <a:xfrm>
            <a:off x="4927600" y="2590800"/>
            <a:ext cx="1549400" cy="4001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2000" b="1" smtClean="0">
                <a:solidFill>
                  <a:srgbClr val="F8FAFC"/>
                </a:solidFill>
                <a:latin typeface="Aptos Display"/>
              </a:rPr>
              <a:t>Value</a:t>
            </a:r>
            <a:endParaRPr lang="de-DE" sz="2000" b="1">
              <a:solidFill>
                <a:srgbClr val="F8FAFC"/>
              </a:solidFill>
              <a:latin typeface="Aptos Display"/>
            </a:endParaRPr>
          </a:p>
        </p:txBody>
      </p:sp>
      <p:sp>
        <p:nvSpPr>
          <p:cNvPr id="19" name="Textfeld 18"/>
          <p:cNvSpPr txBox="1"/>
          <p:nvPr/>
        </p:nvSpPr>
        <p:spPr>
          <a:xfrm>
            <a:off x="4927600" y="2997200"/>
            <a:ext cx="1549400" cy="35394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850" smtClean="0">
                <a:solidFill>
                  <a:srgbClr val="BECDE6"/>
                </a:solidFill>
                <a:latin typeface="Aptos"/>
              </a:rPr>
              <a:t>Sales-/Order-Wert bei Conversions</a:t>
            </a:r>
            <a:endParaRPr lang="de-DE" sz="850">
              <a:solidFill>
                <a:srgbClr val="BECDE6"/>
              </a:solidFill>
              <a:latin typeface="Aptos"/>
            </a:endParaRPr>
          </a:p>
        </p:txBody>
      </p:sp>
      <p:sp>
        <p:nvSpPr>
          <p:cNvPr id="20" name="Abgerundetes Rechteck 19"/>
          <p:cNvSpPr/>
          <p:nvPr/>
        </p:nvSpPr>
        <p:spPr>
          <a:xfrm>
            <a:off x="6858000" y="2209800"/>
            <a:ext cx="1905000" cy="1168400"/>
          </a:xfrm>
          <a:prstGeom prst="roundRect">
            <a:avLst/>
          </a:prstGeom>
          <a:solidFill>
            <a:srgbClr val="182233"/>
          </a:solidFill>
          <a:ln>
            <a:solidFill>
              <a:srgbClr val="2F3F5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1" name="Textfeld 20"/>
          <p:cNvSpPr txBox="1"/>
          <p:nvPr/>
        </p:nvSpPr>
        <p:spPr>
          <a:xfrm>
            <a:off x="7035800" y="2362200"/>
            <a:ext cx="15494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800" b="1" smtClean="0">
                <a:solidFill>
                  <a:srgbClr val="FFB142"/>
                </a:solidFill>
                <a:latin typeface="Aptos"/>
              </a:rPr>
              <a:t>QUALITÄT</a:t>
            </a:r>
            <a:endParaRPr lang="de-DE" sz="800" b="1">
              <a:solidFill>
                <a:srgbClr val="FFB142"/>
              </a:solidFill>
              <a:latin typeface="Aptos"/>
            </a:endParaRPr>
          </a:p>
        </p:txBody>
      </p:sp>
      <p:sp>
        <p:nvSpPr>
          <p:cNvPr id="22" name="Textfeld 21"/>
          <p:cNvSpPr txBox="1"/>
          <p:nvPr/>
        </p:nvSpPr>
        <p:spPr>
          <a:xfrm>
            <a:off x="7035800" y="2590800"/>
            <a:ext cx="1549400" cy="4001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2000" b="1" smtClean="0">
                <a:solidFill>
                  <a:srgbClr val="F8FAFC"/>
                </a:solidFill>
                <a:latin typeface="Aptos Display"/>
              </a:rPr>
              <a:t>CTR</a:t>
            </a:r>
            <a:endParaRPr lang="de-DE" sz="2000" b="1">
              <a:solidFill>
                <a:srgbClr val="F8FAFC"/>
              </a:solidFill>
              <a:latin typeface="Aptos Display"/>
            </a:endParaRPr>
          </a:p>
        </p:txBody>
      </p:sp>
      <p:sp>
        <p:nvSpPr>
          <p:cNvPr id="23" name="Textfeld 22"/>
          <p:cNvSpPr txBox="1"/>
          <p:nvPr/>
        </p:nvSpPr>
        <p:spPr>
          <a:xfrm>
            <a:off x="7035800" y="2997200"/>
            <a:ext cx="1549400" cy="22313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850" smtClean="0">
                <a:solidFill>
                  <a:srgbClr val="BECDE6"/>
                </a:solidFill>
                <a:latin typeface="Aptos"/>
              </a:rPr>
              <a:t>Klicks / Impressionen</a:t>
            </a:r>
            <a:endParaRPr lang="de-DE" sz="850">
              <a:solidFill>
                <a:srgbClr val="BECDE6"/>
              </a:solidFill>
              <a:latin typeface="Aptos"/>
            </a:endParaRPr>
          </a:p>
        </p:txBody>
      </p:sp>
      <p:sp>
        <p:nvSpPr>
          <p:cNvPr id="24" name="Abgerundetes Rechteck 23"/>
          <p:cNvSpPr/>
          <p:nvPr/>
        </p:nvSpPr>
        <p:spPr>
          <a:xfrm>
            <a:off x="8966200" y="2209800"/>
            <a:ext cx="1905000" cy="1168400"/>
          </a:xfrm>
          <a:prstGeom prst="roundRect">
            <a:avLst/>
          </a:prstGeom>
          <a:solidFill>
            <a:srgbClr val="182233"/>
          </a:solidFill>
          <a:ln>
            <a:solidFill>
              <a:srgbClr val="2F3F5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5" name="Textfeld 24"/>
          <p:cNvSpPr txBox="1"/>
          <p:nvPr/>
        </p:nvSpPr>
        <p:spPr>
          <a:xfrm>
            <a:off x="9144000" y="2362200"/>
            <a:ext cx="15494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800" b="1" smtClean="0">
                <a:solidFill>
                  <a:srgbClr val="3AD39F"/>
                </a:solidFill>
                <a:latin typeface="Aptos"/>
              </a:rPr>
              <a:t>OUTCOME</a:t>
            </a:r>
            <a:endParaRPr lang="de-DE" sz="800" b="1">
              <a:solidFill>
                <a:srgbClr val="3AD39F"/>
              </a:solidFill>
              <a:latin typeface="Aptos"/>
            </a:endParaRPr>
          </a:p>
        </p:txBody>
      </p:sp>
      <p:sp>
        <p:nvSpPr>
          <p:cNvPr id="26" name="Textfeld 25"/>
          <p:cNvSpPr txBox="1"/>
          <p:nvPr/>
        </p:nvSpPr>
        <p:spPr>
          <a:xfrm>
            <a:off x="9144000" y="2590800"/>
            <a:ext cx="1549400" cy="4001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2000" b="1" smtClean="0">
                <a:solidFill>
                  <a:srgbClr val="F8FAFC"/>
                </a:solidFill>
                <a:latin typeface="Aptos Display"/>
              </a:rPr>
              <a:t>Lead/Sale</a:t>
            </a:r>
            <a:endParaRPr lang="de-DE" sz="2000" b="1">
              <a:solidFill>
                <a:srgbClr val="F8FAFC"/>
              </a:solidFill>
              <a:latin typeface="Aptos Display"/>
            </a:endParaRPr>
          </a:p>
        </p:txBody>
      </p:sp>
      <p:sp>
        <p:nvSpPr>
          <p:cNvPr id="27" name="Textfeld 26"/>
          <p:cNvSpPr txBox="1"/>
          <p:nvPr/>
        </p:nvSpPr>
        <p:spPr>
          <a:xfrm>
            <a:off x="9144000" y="2997200"/>
            <a:ext cx="1549400" cy="22313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850" smtClean="0">
                <a:solidFill>
                  <a:srgbClr val="BECDE6"/>
                </a:solidFill>
                <a:latin typeface="Aptos"/>
              </a:rPr>
              <a:t>Geschäftlicher Erfolg</a:t>
            </a:r>
            <a:endParaRPr lang="de-DE" sz="850">
              <a:solidFill>
                <a:srgbClr val="BECDE6"/>
              </a:solidFill>
              <a:latin typeface="Aptos"/>
            </a:endParaRPr>
          </a:p>
        </p:txBody>
      </p:sp>
      <p:sp>
        <p:nvSpPr>
          <p:cNvPr id="28" name="Abgerundetes Rechteck 27"/>
          <p:cNvSpPr/>
          <p:nvPr/>
        </p:nvSpPr>
        <p:spPr>
          <a:xfrm>
            <a:off x="533400" y="4038600"/>
            <a:ext cx="5105400" cy="1346200"/>
          </a:xfrm>
          <a:prstGeom prst="roundRect">
            <a:avLst/>
          </a:prstGeom>
          <a:solidFill>
            <a:srgbClr val="111927"/>
          </a:solidFill>
          <a:ln w="12700">
            <a:solidFill>
              <a:srgbClr val="2F3F5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9" name="Rechteck 28"/>
          <p:cNvSpPr/>
          <p:nvPr/>
        </p:nvSpPr>
        <p:spPr>
          <a:xfrm>
            <a:off x="533400" y="4038600"/>
            <a:ext cx="63500" cy="1346200"/>
          </a:xfrm>
          <a:prstGeom prst="rect">
            <a:avLst/>
          </a:prstGeom>
          <a:solidFill>
            <a:srgbClr val="3884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0" name="Textfeld 29"/>
          <p:cNvSpPr txBox="1"/>
          <p:nvPr/>
        </p:nvSpPr>
        <p:spPr>
          <a:xfrm>
            <a:off x="736600" y="4191000"/>
            <a:ext cx="47752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1400" b="1" smtClean="0">
                <a:solidFill>
                  <a:srgbClr val="F8FAFC"/>
                </a:solidFill>
                <a:latin typeface="Aptos Display"/>
              </a:rPr>
              <a:t>Placement Report</a:t>
            </a:r>
            <a:endParaRPr lang="de-DE" sz="1400" b="1">
              <a:solidFill>
                <a:srgbClr val="F8FAFC"/>
              </a:solidFill>
              <a:latin typeface="Aptos Display"/>
            </a:endParaRPr>
          </a:p>
        </p:txBody>
      </p:sp>
      <p:sp>
        <p:nvSpPr>
          <p:cNvPr id="31" name="Textfeld 30"/>
          <p:cNvSpPr txBox="1"/>
          <p:nvPr/>
        </p:nvSpPr>
        <p:spPr>
          <a:xfrm>
            <a:off x="736600" y="4521200"/>
            <a:ext cx="4775200" cy="4062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1020" smtClean="0">
                <a:solidFill>
                  <a:srgbClr val="BECDE6"/>
                </a:solidFill>
                <a:latin typeface="Aptos"/>
              </a:rPr>
              <a:t>Aggregiert Events der letzten 30 Tage nach Placement und Event-Typ: Impressions, Clicks, Leads, Sales, Kosten, Wert, CTR.</a:t>
            </a:r>
            <a:endParaRPr lang="de-DE" sz="1020">
              <a:solidFill>
                <a:srgbClr val="BECDE6"/>
              </a:solidFill>
              <a:latin typeface="Aptos"/>
            </a:endParaRPr>
          </a:p>
        </p:txBody>
      </p:sp>
      <p:sp>
        <p:nvSpPr>
          <p:cNvPr id="32" name="Abgerundetes Rechteck 31"/>
          <p:cNvSpPr/>
          <p:nvPr/>
        </p:nvSpPr>
        <p:spPr>
          <a:xfrm>
            <a:off x="5943600" y="4038600"/>
            <a:ext cx="5105400" cy="1346200"/>
          </a:xfrm>
          <a:prstGeom prst="roundRect">
            <a:avLst/>
          </a:prstGeom>
          <a:solidFill>
            <a:srgbClr val="111927"/>
          </a:solidFill>
          <a:ln w="12700">
            <a:solidFill>
              <a:srgbClr val="2F3F5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3" name="Rechteck 32"/>
          <p:cNvSpPr/>
          <p:nvPr/>
        </p:nvSpPr>
        <p:spPr>
          <a:xfrm>
            <a:off x="5943600" y="4038600"/>
            <a:ext cx="63500" cy="1346200"/>
          </a:xfrm>
          <a:prstGeom prst="rect">
            <a:avLst/>
          </a:prstGeom>
          <a:solidFill>
            <a:srgbClr val="26C6D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4" name="Textfeld 33"/>
          <p:cNvSpPr txBox="1"/>
          <p:nvPr/>
        </p:nvSpPr>
        <p:spPr>
          <a:xfrm>
            <a:off x="6146800" y="4191000"/>
            <a:ext cx="47752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1400" b="1" smtClean="0">
                <a:solidFill>
                  <a:srgbClr val="F8FAFC"/>
                </a:solidFill>
                <a:latin typeface="Aptos Display"/>
              </a:rPr>
              <a:t>Admin Diagnose</a:t>
            </a:r>
            <a:endParaRPr lang="de-DE" sz="1400" b="1">
              <a:solidFill>
                <a:srgbClr val="F8FAFC"/>
              </a:solidFill>
              <a:latin typeface="Aptos Display"/>
            </a:endParaRPr>
          </a:p>
        </p:txBody>
      </p:sp>
      <p:sp>
        <p:nvSpPr>
          <p:cNvPr id="35" name="Textfeld 34"/>
          <p:cNvSpPr txBox="1"/>
          <p:nvPr/>
        </p:nvSpPr>
        <p:spPr>
          <a:xfrm>
            <a:off x="6146800" y="4521200"/>
            <a:ext cx="4775200" cy="4062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1020" smtClean="0">
                <a:solidFill>
                  <a:srgbClr val="BECDE6"/>
                </a:solidFill>
                <a:latin typeface="Aptos"/>
              </a:rPr>
              <a:t>Zeigt Gründe: nicht aktiv, Budget verbraucht, Pacing bremst, Laufzeit, Audience aktiv, keine Conversions, interne Priorität.</a:t>
            </a:r>
            <a:endParaRPr lang="de-DE" sz="1020">
              <a:solidFill>
                <a:srgbClr val="BECDE6"/>
              </a:solidFill>
              <a:latin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72696187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eck 1"/>
          <p:cNvSpPr/>
          <p:nvPr/>
        </p:nvSpPr>
        <p:spPr>
          <a:xfrm>
            <a:off x="0" y="0"/>
            <a:ext cx="12192000" cy="101600"/>
          </a:xfrm>
          <a:prstGeom prst="rect">
            <a:avLst/>
          </a:prstGeom>
          <a:solidFill>
            <a:srgbClr val="3884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" name="Textfeld 2"/>
          <p:cNvSpPr txBox="1"/>
          <p:nvPr/>
        </p:nvSpPr>
        <p:spPr>
          <a:xfrm>
            <a:off x="533400" y="431800"/>
            <a:ext cx="3302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900" b="1" smtClean="0">
                <a:solidFill>
                  <a:srgbClr val="3884FF"/>
                </a:solidFill>
                <a:latin typeface="Aptos"/>
              </a:rPr>
              <a:t>USE CASES</a:t>
            </a:r>
            <a:endParaRPr lang="de-DE" sz="900" b="1">
              <a:solidFill>
                <a:srgbClr val="3884FF"/>
              </a:solidFill>
              <a:latin typeface="Aptos"/>
            </a:endParaRPr>
          </a:p>
        </p:txBody>
      </p:sp>
      <p:sp>
        <p:nvSpPr>
          <p:cNvPr id="4" name="Textfeld 3"/>
          <p:cNvSpPr txBox="1"/>
          <p:nvPr/>
        </p:nvSpPr>
        <p:spPr>
          <a:xfrm>
            <a:off x="533400" y="736600"/>
            <a:ext cx="102235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2800" b="1" smtClean="0">
                <a:solidFill>
                  <a:srgbClr val="F8FAFC"/>
                </a:solidFill>
                <a:latin typeface="Aptos Display"/>
              </a:rPr>
              <a:t>Wofür Airmius Ads konkret eingesetzt wird</a:t>
            </a:r>
            <a:endParaRPr lang="de-DE" sz="2800" b="1">
              <a:solidFill>
                <a:srgbClr val="F8FAFC"/>
              </a:solidFill>
              <a:latin typeface="Aptos Display"/>
            </a:endParaRPr>
          </a:p>
        </p:txBody>
      </p:sp>
      <p:sp>
        <p:nvSpPr>
          <p:cNvPr id="5" name="Textfeld 4"/>
          <p:cNvSpPr txBox="1"/>
          <p:nvPr/>
        </p:nvSpPr>
        <p:spPr>
          <a:xfrm>
            <a:off x="533400" y="1422400"/>
            <a:ext cx="10414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1200" smtClean="0">
                <a:solidFill>
                  <a:srgbClr val="BECDE6"/>
                </a:solidFill>
                <a:latin typeface="Aptos"/>
              </a:rPr>
              <a:t>Der Wert entsteht aus Sportkontext plus Commerce: Anzeigen sind näher an Training, Teams, Vereinen und Marketplace als generische Banner.</a:t>
            </a:r>
            <a:endParaRPr lang="de-DE" sz="1200">
              <a:solidFill>
                <a:srgbClr val="BECDE6"/>
              </a:solidFill>
              <a:latin typeface="Aptos"/>
            </a:endParaRPr>
          </a:p>
        </p:txBody>
      </p:sp>
      <p:sp>
        <p:nvSpPr>
          <p:cNvPr id="6" name="Textfeld 5"/>
          <p:cNvSpPr txBox="1"/>
          <p:nvPr/>
        </p:nvSpPr>
        <p:spPr>
          <a:xfrm>
            <a:off x="533400" y="6451600"/>
            <a:ext cx="66040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800" smtClean="0">
                <a:solidFill>
                  <a:srgbClr val="7E97B8"/>
                </a:solidFill>
                <a:latin typeface="Aptos"/>
              </a:rPr>
              <a:t>Airmius Ads System | Produkt-, Technik- und Finance-Dokumentation</a:t>
            </a:r>
            <a:endParaRPr lang="de-DE" sz="800">
              <a:solidFill>
                <a:srgbClr val="7E97B8"/>
              </a:solidFill>
              <a:latin typeface="Aptos"/>
            </a:endParaRPr>
          </a:p>
        </p:txBody>
      </p:sp>
      <p:sp>
        <p:nvSpPr>
          <p:cNvPr id="7" name="Textfeld 6"/>
          <p:cNvSpPr txBox="1"/>
          <p:nvPr/>
        </p:nvSpPr>
        <p:spPr>
          <a:xfrm>
            <a:off x="11112500" y="64516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1000" b="1" smtClean="0">
                <a:solidFill>
                  <a:srgbClr val="3884FF"/>
                </a:solidFill>
                <a:latin typeface="Aptos Display"/>
              </a:rPr>
              <a:t>19</a:t>
            </a:r>
            <a:endParaRPr lang="de-DE" sz="1000" b="1">
              <a:solidFill>
                <a:srgbClr val="3884FF"/>
              </a:solidFill>
              <a:latin typeface="Aptos Display"/>
            </a:endParaRPr>
          </a:p>
        </p:txBody>
      </p:sp>
      <p:sp>
        <p:nvSpPr>
          <p:cNvPr id="8" name="Abgerundetes Rechteck 7"/>
          <p:cNvSpPr/>
          <p:nvPr/>
        </p:nvSpPr>
        <p:spPr>
          <a:xfrm>
            <a:off x="533400" y="2133600"/>
            <a:ext cx="3302000" cy="1524000"/>
          </a:xfrm>
          <a:prstGeom prst="roundRect">
            <a:avLst/>
          </a:prstGeom>
          <a:solidFill>
            <a:srgbClr val="111927"/>
          </a:solidFill>
          <a:ln w="12700">
            <a:solidFill>
              <a:srgbClr val="2F3F5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9" name="Rechteck 8"/>
          <p:cNvSpPr/>
          <p:nvPr/>
        </p:nvSpPr>
        <p:spPr>
          <a:xfrm>
            <a:off x="533400" y="2133600"/>
            <a:ext cx="63500" cy="1524000"/>
          </a:xfrm>
          <a:prstGeom prst="rect">
            <a:avLst/>
          </a:prstGeom>
          <a:solidFill>
            <a:srgbClr val="3AD39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0" name="Textfeld 9"/>
          <p:cNvSpPr txBox="1"/>
          <p:nvPr/>
        </p:nvSpPr>
        <p:spPr>
          <a:xfrm>
            <a:off x="736600" y="2286000"/>
            <a:ext cx="29718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1400" b="1" smtClean="0">
                <a:solidFill>
                  <a:srgbClr val="F8FAFC"/>
                </a:solidFill>
                <a:latin typeface="Aptos Display"/>
              </a:rPr>
              <a:t>Marketplace Seller</a:t>
            </a:r>
            <a:endParaRPr lang="de-DE" sz="1400" b="1">
              <a:solidFill>
                <a:srgbClr val="F8FAFC"/>
              </a:solidFill>
              <a:latin typeface="Aptos Display"/>
            </a:endParaRPr>
          </a:p>
        </p:txBody>
      </p:sp>
      <p:sp>
        <p:nvSpPr>
          <p:cNvPr id="11" name="Textfeld 10"/>
          <p:cNvSpPr txBox="1"/>
          <p:nvPr/>
        </p:nvSpPr>
        <p:spPr>
          <a:xfrm>
            <a:off x="736600" y="2616200"/>
            <a:ext cx="2971800" cy="4062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1020" smtClean="0">
                <a:solidFill>
                  <a:srgbClr val="BECDE6"/>
                </a:solidFill>
                <a:latin typeface="Aptos"/>
              </a:rPr>
              <a:t>Produkte, Kurse, Camps oder Services bewerben und Sales/Checkout-Starts messen.</a:t>
            </a:r>
            <a:endParaRPr lang="de-DE" sz="1020">
              <a:solidFill>
                <a:srgbClr val="BECDE6"/>
              </a:solidFill>
              <a:latin typeface="Aptos"/>
            </a:endParaRPr>
          </a:p>
        </p:txBody>
      </p:sp>
      <p:sp>
        <p:nvSpPr>
          <p:cNvPr id="12" name="Abgerundetes Rechteck 11"/>
          <p:cNvSpPr/>
          <p:nvPr/>
        </p:nvSpPr>
        <p:spPr>
          <a:xfrm>
            <a:off x="4140200" y="2133600"/>
            <a:ext cx="3302000" cy="1524000"/>
          </a:xfrm>
          <a:prstGeom prst="roundRect">
            <a:avLst/>
          </a:prstGeom>
          <a:solidFill>
            <a:srgbClr val="111927"/>
          </a:solidFill>
          <a:ln w="12700">
            <a:solidFill>
              <a:srgbClr val="2F3F5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3" name="Rechteck 12"/>
          <p:cNvSpPr/>
          <p:nvPr/>
        </p:nvSpPr>
        <p:spPr>
          <a:xfrm>
            <a:off x="4140200" y="2133600"/>
            <a:ext cx="63500" cy="1524000"/>
          </a:xfrm>
          <a:prstGeom prst="rect">
            <a:avLst/>
          </a:prstGeom>
          <a:solidFill>
            <a:srgbClr val="3884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4" name="Textfeld 13"/>
          <p:cNvSpPr txBox="1"/>
          <p:nvPr/>
        </p:nvSpPr>
        <p:spPr>
          <a:xfrm>
            <a:off x="4343400" y="2286000"/>
            <a:ext cx="29718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1400" b="1" smtClean="0">
                <a:solidFill>
                  <a:srgbClr val="F8FAFC"/>
                </a:solidFill>
                <a:latin typeface="Aptos Display"/>
              </a:rPr>
              <a:t>Verein &amp; Trainer</a:t>
            </a:r>
            <a:endParaRPr lang="de-DE" sz="1400" b="1">
              <a:solidFill>
                <a:srgbClr val="F8FAFC"/>
              </a:solidFill>
              <a:latin typeface="Aptos Display"/>
            </a:endParaRPr>
          </a:p>
        </p:txBody>
      </p:sp>
      <p:sp>
        <p:nvSpPr>
          <p:cNvPr id="15" name="Textfeld 14"/>
          <p:cNvSpPr txBox="1"/>
          <p:nvPr/>
        </p:nvSpPr>
        <p:spPr>
          <a:xfrm>
            <a:off x="4343400" y="2616200"/>
            <a:ext cx="2971800" cy="5632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1020" smtClean="0">
                <a:solidFill>
                  <a:srgbClr val="BECDE6"/>
                </a:solidFill>
                <a:latin typeface="Aptos"/>
              </a:rPr>
              <a:t>Probetraining, Feriencamp, Turnier, neue Teams, Sponsorenfläche oder Kursangebot sichtbar machen.</a:t>
            </a:r>
            <a:endParaRPr lang="de-DE" sz="1020">
              <a:solidFill>
                <a:srgbClr val="BECDE6"/>
              </a:solidFill>
              <a:latin typeface="Aptos"/>
            </a:endParaRPr>
          </a:p>
        </p:txBody>
      </p:sp>
      <p:sp>
        <p:nvSpPr>
          <p:cNvPr id="16" name="Abgerundetes Rechteck 15"/>
          <p:cNvSpPr/>
          <p:nvPr/>
        </p:nvSpPr>
        <p:spPr>
          <a:xfrm>
            <a:off x="7747000" y="2133600"/>
            <a:ext cx="3302000" cy="1524000"/>
          </a:xfrm>
          <a:prstGeom prst="roundRect">
            <a:avLst/>
          </a:prstGeom>
          <a:solidFill>
            <a:srgbClr val="111927"/>
          </a:solidFill>
          <a:ln w="12700">
            <a:solidFill>
              <a:srgbClr val="2F3F5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7" name="Rechteck 16"/>
          <p:cNvSpPr/>
          <p:nvPr/>
        </p:nvSpPr>
        <p:spPr>
          <a:xfrm>
            <a:off x="7747000" y="2133600"/>
            <a:ext cx="63500" cy="1524000"/>
          </a:xfrm>
          <a:prstGeom prst="rect">
            <a:avLst/>
          </a:prstGeom>
          <a:solidFill>
            <a:srgbClr val="FFB14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8" name="Textfeld 17"/>
          <p:cNvSpPr txBox="1"/>
          <p:nvPr/>
        </p:nvSpPr>
        <p:spPr>
          <a:xfrm>
            <a:off x="7950200" y="2286000"/>
            <a:ext cx="29718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1400" b="1" smtClean="0">
                <a:solidFill>
                  <a:srgbClr val="F8FAFC"/>
                </a:solidFill>
                <a:latin typeface="Aptos Display"/>
              </a:rPr>
              <a:t>Sponsor</a:t>
            </a:r>
            <a:endParaRPr lang="de-DE" sz="1400" b="1">
              <a:solidFill>
                <a:srgbClr val="F8FAFC"/>
              </a:solidFill>
              <a:latin typeface="Aptos Display"/>
            </a:endParaRPr>
          </a:p>
        </p:txBody>
      </p:sp>
      <p:sp>
        <p:nvSpPr>
          <p:cNvPr id="19" name="Textfeld 18"/>
          <p:cNvSpPr txBox="1"/>
          <p:nvPr/>
        </p:nvSpPr>
        <p:spPr>
          <a:xfrm>
            <a:off x="7950200" y="2616200"/>
            <a:ext cx="2971800" cy="4062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1020" smtClean="0">
                <a:solidFill>
                  <a:srgbClr val="BECDE6"/>
                </a:solidFill>
                <a:latin typeface="Aptos"/>
              </a:rPr>
              <a:t>Markensichtbarkeit in Sportkontexten, regional oder thematisch begrenzt.</a:t>
            </a:r>
            <a:endParaRPr lang="de-DE" sz="1020">
              <a:solidFill>
                <a:srgbClr val="BECDE6"/>
              </a:solidFill>
              <a:latin typeface="Aptos"/>
            </a:endParaRPr>
          </a:p>
        </p:txBody>
      </p:sp>
      <p:sp>
        <p:nvSpPr>
          <p:cNvPr id="20" name="Abgerundetes Rechteck 19"/>
          <p:cNvSpPr/>
          <p:nvPr/>
        </p:nvSpPr>
        <p:spPr>
          <a:xfrm>
            <a:off x="533400" y="4038600"/>
            <a:ext cx="5105400" cy="1422400"/>
          </a:xfrm>
          <a:prstGeom prst="roundRect">
            <a:avLst/>
          </a:prstGeom>
          <a:solidFill>
            <a:srgbClr val="111927"/>
          </a:solidFill>
          <a:ln w="12700">
            <a:solidFill>
              <a:srgbClr val="2F3F5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1" name="Rechteck 20"/>
          <p:cNvSpPr/>
          <p:nvPr/>
        </p:nvSpPr>
        <p:spPr>
          <a:xfrm>
            <a:off x="533400" y="4038600"/>
            <a:ext cx="63500" cy="1422400"/>
          </a:xfrm>
          <a:prstGeom prst="rect">
            <a:avLst/>
          </a:prstGeom>
          <a:solidFill>
            <a:srgbClr val="26C6D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2" name="Textfeld 21"/>
          <p:cNvSpPr txBox="1"/>
          <p:nvPr/>
        </p:nvSpPr>
        <p:spPr>
          <a:xfrm>
            <a:off x="736600" y="4191000"/>
            <a:ext cx="47752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1400" b="1" smtClean="0">
                <a:solidFill>
                  <a:srgbClr val="F8FAFC"/>
                </a:solidFill>
                <a:latin typeface="Aptos Display"/>
              </a:rPr>
              <a:t>Airmius intern</a:t>
            </a:r>
            <a:endParaRPr lang="de-DE" sz="1400" b="1">
              <a:solidFill>
                <a:srgbClr val="F8FAFC"/>
              </a:solidFill>
              <a:latin typeface="Aptos Display"/>
            </a:endParaRPr>
          </a:p>
        </p:txBody>
      </p:sp>
      <p:sp>
        <p:nvSpPr>
          <p:cNvPr id="23" name="Textfeld 22"/>
          <p:cNvSpPr txBox="1"/>
          <p:nvPr/>
        </p:nvSpPr>
        <p:spPr>
          <a:xfrm>
            <a:off x="736600" y="4521200"/>
            <a:ext cx="4775200" cy="4062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1020" smtClean="0">
                <a:solidFill>
                  <a:srgbClr val="BECDE6"/>
                </a:solidFill>
                <a:latin typeface="Aptos"/>
              </a:rPr>
              <a:t>Upgrade Pro, Outfit-Abo, neue Features, rechtliche Hinweise, Marketplace-Launch, E-Learning oder Onboarding.</a:t>
            </a:r>
            <a:endParaRPr lang="de-DE" sz="1020">
              <a:solidFill>
                <a:srgbClr val="BECDE6"/>
              </a:solidFill>
              <a:latin typeface="Aptos"/>
            </a:endParaRPr>
          </a:p>
        </p:txBody>
      </p:sp>
      <p:sp>
        <p:nvSpPr>
          <p:cNvPr id="24" name="Abgerundetes Rechteck 23"/>
          <p:cNvSpPr/>
          <p:nvPr/>
        </p:nvSpPr>
        <p:spPr>
          <a:xfrm>
            <a:off x="5943600" y="4038600"/>
            <a:ext cx="5105400" cy="1422400"/>
          </a:xfrm>
          <a:prstGeom prst="roundRect">
            <a:avLst/>
          </a:prstGeom>
          <a:solidFill>
            <a:srgbClr val="111927"/>
          </a:solidFill>
          <a:ln w="12700">
            <a:solidFill>
              <a:srgbClr val="2F3F5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5" name="Rechteck 24"/>
          <p:cNvSpPr/>
          <p:nvPr/>
        </p:nvSpPr>
        <p:spPr>
          <a:xfrm>
            <a:off x="5943600" y="4038600"/>
            <a:ext cx="63500" cy="1422400"/>
          </a:xfrm>
          <a:prstGeom prst="rect">
            <a:avLst/>
          </a:prstGeom>
          <a:solidFill>
            <a:srgbClr val="3884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6" name="Textfeld 25"/>
          <p:cNvSpPr txBox="1"/>
          <p:nvPr/>
        </p:nvSpPr>
        <p:spPr>
          <a:xfrm>
            <a:off x="6146800" y="4191000"/>
            <a:ext cx="47752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1400" b="1" smtClean="0">
                <a:solidFill>
                  <a:srgbClr val="F8FAFC"/>
                </a:solidFill>
                <a:latin typeface="Aptos Display"/>
              </a:rPr>
              <a:t>Agentur/Website</a:t>
            </a:r>
            <a:endParaRPr lang="de-DE" sz="1400" b="1">
              <a:solidFill>
                <a:srgbClr val="F8FAFC"/>
              </a:solidFill>
              <a:latin typeface="Aptos Display"/>
            </a:endParaRPr>
          </a:p>
        </p:txBody>
      </p:sp>
      <p:sp>
        <p:nvSpPr>
          <p:cNvPr id="27" name="Textfeld 26"/>
          <p:cNvSpPr txBox="1"/>
          <p:nvPr/>
        </p:nvSpPr>
        <p:spPr>
          <a:xfrm>
            <a:off x="6146800" y="4521200"/>
            <a:ext cx="4775200" cy="4062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1020" smtClean="0">
                <a:solidFill>
                  <a:srgbClr val="BECDE6"/>
                </a:solidFill>
                <a:latin typeface="Aptos"/>
              </a:rPr>
              <a:t>Airmius kann Website- und Kampagnenanfragen mit Ads verbinden: Landingpage, Zielgruppe, Budget, Reporting.</a:t>
            </a:r>
            <a:endParaRPr lang="de-DE" sz="1020">
              <a:solidFill>
                <a:srgbClr val="BECDE6"/>
              </a:solidFill>
              <a:latin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181582294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eck 1"/>
          <p:cNvSpPr/>
          <p:nvPr/>
        </p:nvSpPr>
        <p:spPr>
          <a:xfrm>
            <a:off x="0" y="0"/>
            <a:ext cx="12192000" cy="101600"/>
          </a:xfrm>
          <a:prstGeom prst="rect">
            <a:avLst/>
          </a:prstGeom>
          <a:solidFill>
            <a:srgbClr val="3884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" name="Textfeld 2"/>
          <p:cNvSpPr txBox="1"/>
          <p:nvPr/>
        </p:nvSpPr>
        <p:spPr>
          <a:xfrm>
            <a:off x="533400" y="431800"/>
            <a:ext cx="3302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900" b="1" smtClean="0">
                <a:solidFill>
                  <a:srgbClr val="3884FF"/>
                </a:solidFill>
                <a:latin typeface="Aptos"/>
              </a:rPr>
              <a:t>OPERATIONS</a:t>
            </a:r>
            <a:endParaRPr lang="de-DE" sz="900" b="1">
              <a:solidFill>
                <a:srgbClr val="3884FF"/>
              </a:solidFill>
              <a:latin typeface="Aptos"/>
            </a:endParaRPr>
          </a:p>
        </p:txBody>
      </p:sp>
      <p:sp>
        <p:nvSpPr>
          <p:cNvPr id="4" name="Textfeld 3"/>
          <p:cNvSpPr txBox="1"/>
          <p:nvPr/>
        </p:nvSpPr>
        <p:spPr>
          <a:xfrm>
            <a:off x="533400" y="736600"/>
            <a:ext cx="102235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2800" b="1" smtClean="0">
                <a:solidFill>
                  <a:srgbClr val="F8FAFC"/>
                </a:solidFill>
                <a:latin typeface="Aptos Display"/>
              </a:rPr>
              <a:t>Was im Betrieb wichtig ist</a:t>
            </a:r>
            <a:endParaRPr lang="de-DE" sz="2800" b="1">
              <a:solidFill>
                <a:srgbClr val="F8FAFC"/>
              </a:solidFill>
              <a:latin typeface="Aptos Display"/>
            </a:endParaRPr>
          </a:p>
        </p:txBody>
      </p:sp>
      <p:sp>
        <p:nvSpPr>
          <p:cNvPr id="5" name="Textfeld 4"/>
          <p:cNvSpPr txBox="1"/>
          <p:nvPr/>
        </p:nvSpPr>
        <p:spPr>
          <a:xfrm>
            <a:off x="533400" y="1422400"/>
            <a:ext cx="10414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1200" smtClean="0">
                <a:solidFill>
                  <a:srgbClr val="BECDE6"/>
                </a:solidFill>
                <a:latin typeface="Aptos"/>
              </a:rPr>
              <a:t>Ein Ads-System braucht nicht nur Algorithmus, sondern tägliche Regeln und Verantwortlichkeiten.</a:t>
            </a:r>
            <a:endParaRPr lang="de-DE" sz="1200">
              <a:solidFill>
                <a:srgbClr val="BECDE6"/>
              </a:solidFill>
              <a:latin typeface="Aptos"/>
            </a:endParaRPr>
          </a:p>
        </p:txBody>
      </p:sp>
      <p:sp>
        <p:nvSpPr>
          <p:cNvPr id="6" name="Textfeld 5"/>
          <p:cNvSpPr txBox="1"/>
          <p:nvPr/>
        </p:nvSpPr>
        <p:spPr>
          <a:xfrm>
            <a:off x="533400" y="6451600"/>
            <a:ext cx="66040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800" smtClean="0">
                <a:solidFill>
                  <a:srgbClr val="7E97B8"/>
                </a:solidFill>
                <a:latin typeface="Aptos"/>
              </a:rPr>
              <a:t>Airmius Ads System | Produkt-, Technik- und Finance-Dokumentation</a:t>
            </a:r>
            <a:endParaRPr lang="de-DE" sz="800">
              <a:solidFill>
                <a:srgbClr val="7E97B8"/>
              </a:solidFill>
              <a:latin typeface="Aptos"/>
            </a:endParaRPr>
          </a:p>
        </p:txBody>
      </p:sp>
      <p:sp>
        <p:nvSpPr>
          <p:cNvPr id="7" name="Textfeld 6"/>
          <p:cNvSpPr txBox="1"/>
          <p:nvPr/>
        </p:nvSpPr>
        <p:spPr>
          <a:xfrm>
            <a:off x="11112500" y="64516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1000" b="1" smtClean="0">
                <a:solidFill>
                  <a:srgbClr val="3884FF"/>
                </a:solidFill>
                <a:latin typeface="Aptos Display"/>
              </a:rPr>
              <a:t>20</a:t>
            </a:r>
            <a:endParaRPr lang="de-DE" sz="1000" b="1">
              <a:solidFill>
                <a:srgbClr val="3884FF"/>
              </a:solidFill>
              <a:latin typeface="Aptos Display"/>
            </a:endParaRPr>
          </a:p>
        </p:txBody>
      </p:sp>
      <p:sp>
        <p:nvSpPr>
          <p:cNvPr id="8" name="Abgerundetes Rechteck 7"/>
          <p:cNvSpPr/>
          <p:nvPr/>
        </p:nvSpPr>
        <p:spPr>
          <a:xfrm>
            <a:off x="533400" y="2133600"/>
            <a:ext cx="3302000" cy="1549400"/>
          </a:xfrm>
          <a:prstGeom prst="roundRect">
            <a:avLst/>
          </a:prstGeom>
          <a:solidFill>
            <a:srgbClr val="111927"/>
          </a:solidFill>
          <a:ln w="12700">
            <a:solidFill>
              <a:srgbClr val="2F3F5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9" name="Rechteck 8"/>
          <p:cNvSpPr/>
          <p:nvPr/>
        </p:nvSpPr>
        <p:spPr>
          <a:xfrm>
            <a:off x="533400" y="2133600"/>
            <a:ext cx="63500" cy="1549400"/>
          </a:xfrm>
          <a:prstGeom prst="rect">
            <a:avLst/>
          </a:prstGeom>
          <a:solidFill>
            <a:srgbClr val="3884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0" name="Textfeld 9"/>
          <p:cNvSpPr txBox="1"/>
          <p:nvPr/>
        </p:nvSpPr>
        <p:spPr>
          <a:xfrm>
            <a:off x="736600" y="2286000"/>
            <a:ext cx="29718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1400" b="1" smtClean="0">
                <a:solidFill>
                  <a:srgbClr val="F8FAFC"/>
                </a:solidFill>
                <a:latin typeface="Aptos Display"/>
              </a:rPr>
              <a:t>Review SLA</a:t>
            </a:r>
            <a:endParaRPr lang="de-DE" sz="1400" b="1">
              <a:solidFill>
                <a:srgbClr val="F8FAFC"/>
              </a:solidFill>
              <a:latin typeface="Aptos Display"/>
            </a:endParaRPr>
          </a:p>
        </p:txBody>
      </p:sp>
      <p:sp>
        <p:nvSpPr>
          <p:cNvPr id="11" name="Textfeld 10"/>
          <p:cNvSpPr txBox="1"/>
          <p:nvPr/>
        </p:nvSpPr>
        <p:spPr>
          <a:xfrm>
            <a:off x="736600" y="2616200"/>
            <a:ext cx="2971800" cy="5632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1020" smtClean="0">
                <a:solidFill>
                  <a:srgbClr val="BECDE6"/>
                </a:solidFill>
                <a:latin typeface="Aptos"/>
              </a:rPr>
              <a:t>Klare Admin-Zeit für Freigabe/Ablehnung: z. B. 24-48h. Sonst zahlen User und warten ohne Vertrauen.</a:t>
            </a:r>
            <a:endParaRPr lang="de-DE" sz="1020">
              <a:solidFill>
                <a:srgbClr val="BECDE6"/>
              </a:solidFill>
              <a:latin typeface="Aptos"/>
            </a:endParaRPr>
          </a:p>
        </p:txBody>
      </p:sp>
      <p:sp>
        <p:nvSpPr>
          <p:cNvPr id="12" name="Abgerundetes Rechteck 11"/>
          <p:cNvSpPr/>
          <p:nvPr/>
        </p:nvSpPr>
        <p:spPr>
          <a:xfrm>
            <a:off x="4140200" y="2133600"/>
            <a:ext cx="3302000" cy="1549400"/>
          </a:xfrm>
          <a:prstGeom prst="roundRect">
            <a:avLst/>
          </a:prstGeom>
          <a:solidFill>
            <a:srgbClr val="111927"/>
          </a:solidFill>
          <a:ln w="12700">
            <a:solidFill>
              <a:srgbClr val="2F3F5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3" name="Rechteck 12"/>
          <p:cNvSpPr/>
          <p:nvPr/>
        </p:nvSpPr>
        <p:spPr>
          <a:xfrm>
            <a:off x="4140200" y="2133600"/>
            <a:ext cx="63500" cy="1549400"/>
          </a:xfrm>
          <a:prstGeom prst="rect">
            <a:avLst/>
          </a:prstGeom>
          <a:solidFill>
            <a:srgbClr val="FF6B6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4" name="Textfeld 13"/>
          <p:cNvSpPr txBox="1"/>
          <p:nvPr/>
        </p:nvSpPr>
        <p:spPr>
          <a:xfrm>
            <a:off x="4343400" y="2286000"/>
            <a:ext cx="29718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1400" b="1" smtClean="0">
                <a:solidFill>
                  <a:srgbClr val="F8FAFC"/>
                </a:solidFill>
                <a:latin typeface="Aptos Display"/>
              </a:rPr>
              <a:t>Policy</a:t>
            </a:r>
            <a:endParaRPr lang="de-DE" sz="1400" b="1">
              <a:solidFill>
                <a:srgbClr val="F8FAFC"/>
              </a:solidFill>
              <a:latin typeface="Aptos Display"/>
            </a:endParaRPr>
          </a:p>
        </p:txBody>
      </p:sp>
      <p:sp>
        <p:nvSpPr>
          <p:cNvPr id="15" name="Textfeld 14"/>
          <p:cNvSpPr txBox="1"/>
          <p:nvPr/>
        </p:nvSpPr>
        <p:spPr>
          <a:xfrm>
            <a:off x="4343400" y="2616200"/>
            <a:ext cx="2971800" cy="5632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1020" smtClean="0">
                <a:solidFill>
                  <a:srgbClr val="BECDE6"/>
                </a:solidFill>
                <a:latin typeface="Aptos"/>
              </a:rPr>
              <a:t>Verbotene Produkte, irreführende Claims, Minderjährige, Glücksspiel, Gesundheit, Rechte, Zielseiten.</a:t>
            </a:r>
            <a:endParaRPr lang="de-DE" sz="1020">
              <a:solidFill>
                <a:srgbClr val="BECDE6"/>
              </a:solidFill>
              <a:latin typeface="Aptos"/>
            </a:endParaRPr>
          </a:p>
        </p:txBody>
      </p:sp>
      <p:sp>
        <p:nvSpPr>
          <p:cNvPr id="16" name="Abgerundetes Rechteck 15"/>
          <p:cNvSpPr/>
          <p:nvPr/>
        </p:nvSpPr>
        <p:spPr>
          <a:xfrm>
            <a:off x="7747000" y="2133600"/>
            <a:ext cx="3302000" cy="1549400"/>
          </a:xfrm>
          <a:prstGeom prst="roundRect">
            <a:avLst/>
          </a:prstGeom>
          <a:solidFill>
            <a:srgbClr val="111927"/>
          </a:solidFill>
          <a:ln w="12700">
            <a:solidFill>
              <a:srgbClr val="2F3F5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7" name="Rechteck 16"/>
          <p:cNvSpPr/>
          <p:nvPr/>
        </p:nvSpPr>
        <p:spPr>
          <a:xfrm>
            <a:off x="7747000" y="2133600"/>
            <a:ext cx="63500" cy="1549400"/>
          </a:xfrm>
          <a:prstGeom prst="rect">
            <a:avLst/>
          </a:prstGeom>
          <a:solidFill>
            <a:srgbClr val="3AD39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8" name="Textfeld 17"/>
          <p:cNvSpPr txBox="1"/>
          <p:nvPr/>
        </p:nvSpPr>
        <p:spPr>
          <a:xfrm>
            <a:off x="7950200" y="2286000"/>
            <a:ext cx="29718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1400" b="1" smtClean="0">
                <a:solidFill>
                  <a:srgbClr val="F8FAFC"/>
                </a:solidFill>
                <a:latin typeface="Aptos Display"/>
              </a:rPr>
              <a:t>Finance Check</a:t>
            </a:r>
            <a:endParaRPr lang="de-DE" sz="1400" b="1">
              <a:solidFill>
                <a:srgbClr val="F8FAFC"/>
              </a:solidFill>
              <a:latin typeface="Aptos Display"/>
            </a:endParaRPr>
          </a:p>
        </p:txBody>
      </p:sp>
      <p:sp>
        <p:nvSpPr>
          <p:cNvPr id="19" name="Textfeld 18"/>
          <p:cNvSpPr txBox="1"/>
          <p:nvPr/>
        </p:nvSpPr>
        <p:spPr>
          <a:xfrm>
            <a:off x="7950200" y="2616200"/>
            <a:ext cx="2971800" cy="5632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1020" smtClean="0">
                <a:solidFill>
                  <a:srgbClr val="BECDE6"/>
                </a:solidFill>
                <a:latin typeface="Aptos"/>
              </a:rPr>
              <a:t>Zahlung abgeschlossen? Rechnung erzeugt? Budget korrekt? Refund/Chargeback-Prozess definiert?</a:t>
            </a:r>
            <a:endParaRPr lang="de-DE" sz="1020">
              <a:solidFill>
                <a:srgbClr val="BECDE6"/>
              </a:solidFill>
              <a:latin typeface="Aptos"/>
            </a:endParaRPr>
          </a:p>
        </p:txBody>
      </p:sp>
      <p:sp>
        <p:nvSpPr>
          <p:cNvPr id="20" name="Abgerundetes Rechteck 19"/>
          <p:cNvSpPr/>
          <p:nvPr/>
        </p:nvSpPr>
        <p:spPr>
          <a:xfrm>
            <a:off x="533400" y="4038600"/>
            <a:ext cx="5105400" cy="1422400"/>
          </a:xfrm>
          <a:prstGeom prst="roundRect">
            <a:avLst/>
          </a:prstGeom>
          <a:solidFill>
            <a:srgbClr val="111927"/>
          </a:solidFill>
          <a:ln w="12700">
            <a:solidFill>
              <a:srgbClr val="2F3F5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1" name="Rechteck 20"/>
          <p:cNvSpPr/>
          <p:nvPr/>
        </p:nvSpPr>
        <p:spPr>
          <a:xfrm>
            <a:off x="533400" y="4038600"/>
            <a:ext cx="63500" cy="1422400"/>
          </a:xfrm>
          <a:prstGeom prst="rect">
            <a:avLst/>
          </a:prstGeom>
          <a:solidFill>
            <a:srgbClr val="FFB14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2" name="Textfeld 21"/>
          <p:cNvSpPr txBox="1"/>
          <p:nvPr/>
        </p:nvSpPr>
        <p:spPr>
          <a:xfrm>
            <a:off x="736600" y="4191000"/>
            <a:ext cx="47752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1400" b="1" smtClean="0">
                <a:solidFill>
                  <a:srgbClr val="F8FAFC"/>
                </a:solidFill>
                <a:latin typeface="Aptos Display"/>
              </a:rPr>
              <a:t>Monitoring</a:t>
            </a:r>
            <a:endParaRPr lang="de-DE" sz="1400" b="1">
              <a:solidFill>
                <a:srgbClr val="F8FAFC"/>
              </a:solidFill>
              <a:latin typeface="Aptos Display"/>
            </a:endParaRPr>
          </a:p>
        </p:txBody>
      </p:sp>
      <p:sp>
        <p:nvSpPr>
          <p:cNvPr id="23" name="Textfeld 22"/>
          <p:cNvSpPr txBox="1"/>
          <p:nvPr/>
        </p:nvSpPr>
        <p:spPr>
          <a:xfrm>
            <a:off x="736600" y="4521200"/>
            <a:ext cx="4775200" cy="4062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1020" smtClean="0">
                <a:solidFill>
                  <a:srgbClr val="BECDE6"/>
                </a:solidFill>
                <a:latin typeface="Aptos"/>
              </a:rPr>
              <a:t>Täglich prüfen: Kampagnen ohne Auslieferung, Budget zu schnell, verdächtige Klicks, Conversion-Spikes, leere Creatives.</a:t>
            </a:r>
            <a:endParaRPr lang="de-DE" sz="1020">
              <a:solidFill>
                <a:srgbClr val="BECDE6"/>
              </a:solidFill>
              <a:latin typeface="Aptos"/>
            </a:endParaRPr>
          </a:p>
        </p:txBody>
      </p:sp>
      <p:sp>
        <p:nvSpPr>
          <p:cNvPr id="24" name="Abgerundetes Rechteck 23"/>
          <p:cNvSpPr/>
          <p:nvPr/>
        </p:nvSpPr>
        <p:spPr>
          <a:xfrm>
            <a:off x="5943600" y="4038600"/>
            <a:ext cx="5105400" cy="1422400"/>
          </a:xfrm>
          <a:prstGeom prst="roundRect">
            <a:avLst/>
          </a:prstGeom>
          <a:solidFill>
            <a:srgbClr val="111927"/>
          </a:solidFill>
          <a:ln w="12700">
            <a:solidFill>
              <a:srgbClr val="2F3F5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5" name="Rechteck 24"/>
          <p:cNvSpPr/>
          <p:nvPr/>
        </p:nvSpPr>
        <p:spPr>
          <a:xfrm>
            <a:off x="5943600" y="4038600"/>
            <a:ext cx="63500" cy="1422400"/>
          </a:xfrm>
          <a:prstGeom prst="rect">
            <a:avLst/>
          </a:prstGeom>
          <a:solidFill>
            <a:srgbClr val="26C6D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6" name="Textfeld 25"/>
          <p:cNvSpPr txBox="1"/>
          <p:nvPr/>
        </p:nvSpPr>
        <p:spPr>
          <a:xfrm>
            <a:off x="6146800" y="4191000"/>
            <a:ext cx="47752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1400" b="1" smtClean="0">
                <a:solidFill>
                  <a:srgbClr val="F8FAFC"/>
                </a:solidFill>
                <a:latin typeface="Aptos Display"/>
              </a:rPr>
              <a:t>Wartung</a:t>
            </a:r>
            <a:endParaRPr lang="de-DE" sz="1400" b="1">
              <a:solidFill>
                <a:srgbClr val="F8FAFC"/>
              </a:solidFill>
              <a:latin typeface="Aptos Display"/>
            </a:endParaRPr>
          </a:p>
        </p:txBody>
      </p:sp>
      <p:sp>
        <p:nvSpPr>
          <p:cNvPr id="27" name="Textfeld 26"/>
          <p:cNvSpPr txBox="1"/>
          <p:nvPr/>
        </p:nvSpPr>
        <p:spPr>
          <a:xfrm>
            <a:off x="6146800" y="4521200"/>
            <a:ext cx="4775200" cy="4062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1020" smtClean="0">
                <a:solidFill>
                  <a:srgbClr val="BECDE6"/>
                </a:solidFill>
                <a:latin typeface="Aptos"/>
              </a:rPr>
              <a:t>Scheduler für Pruning aktiv halten, Settings dokumentieren, Reports exportierbar machen, Consent-Änderungen testen.</a:t>
            </a:r>
            <a:endParaRPr lang="de-DE" sz="1020">
              <a:solidFill>
                <a:srgbClr val="BECDE6"/>
              </a:solidFill>
              <a:latin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269169957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eck 1"/>
          <p:cNvSpPr/>
          <p:nvPr/>
        </p:nvSpPr>
        <p:spPr>
          <a:xfrm>
            <a:off x="0" y="0"/>
            <a:ext cx="12192000" cy="101600"/>
          </a:xfrm>
          <a:prstGeom prst="rect">
            <a:avLst/>
          </a:prstGeom>
          <a:solidFill>
            <a:srgbClr val="3884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" name="Textfeld 2"/>
          <p:cNvSpPr txBox="1"/>
          <p:nvPr/>
        </p:nvSpPr>
        <p:spPr>
          <a:xfrm>
            <a:off x="533400" y="431800"/>
            <a:ext cx="3302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900" b="1" smtClean="0">
                <a:solidFill>
                  <a:srgbClr val="3884FF"/>
                </a:solidFill>
                <a:latin typeface="Aptos"/>
              </a:rPr>
              <a:t>ROADMAP</a:t>
            </a:r>
            <a:endParaRPr lang="de-DE" sz="900" b="1">
              <a:solidFill>
                <a:srgbClr val="3884FF"/>
              </a:solidFill>
              <a:latin typeface="Aptos"/>
            </a:endParaRPr>
          </a:p>
        </p:txBody>
      </p:sp>
      <p:sp>
        <p:nvSpPr>
          <p:cNvPr id="4" name="Textfeld 3"/>
          <p:cNvSpPr txBox="1"/>
          <p:nvPr/>
        </p:nvSpPr>
        <p:spPr>
          <a:xfrm>
            <a:off x="533400" y="736600"/>
            <a:ext cx="102235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2800" b="1" smtClean="0">
                <a:solidFill>
                  <a:srgbClr val="F8FAFC"/>
                </a:solidFill>
                <a:latin typeface="Aptos Display"/>
              </a:rPr>
              <a:t>Was als Nächstes sinnvoll ist</a:t>
            </a:r>
            <a:endParaRPr lang="de-DE" sz="2800" b="1">
              <a:solidFill>
                <a:srgbClr val="F8FAFC"/>
              </a:solidFill>
              <a:latin typeface="Aptos Display"/>
            </a:endParaRPr>
          </a:p>
        </p:txBody>
      </p:sp>
      <p:sp>
        <p:nvSpPr>
          <p:cNvPr id="5" name="Textfeld 4"/>
          <p:cNvSpPr txBox="1"/>
          <p:nvPr/>
        </p:nvSpPr>
        <p:spPr>
          <a:xfrm>
            <a:off x="533400" y="1422400"/>
            <a:ext cx="10414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1200" smtClean="0">
                <a:solidFill>
                  <a:srgbClr val="BECDE6"/>
                </a:solidFill>
                <a:latin typeface="Aptos"/>
              </a:rPr>
              <a:t>Der Stand ist gut für eine eigene Plattform, aber noch nicht Facebook/Google-Niveau. Die nächsten Schritte sind klar.</a:t>
            </a:r>
            <a:endParaRPr lang="de-DE" sz="1200">
              <a:solidFill>
                <a:srgbClr val="BECDE6"/>
              </a:solidFill>
              <a:latin typeface="Aptos"/>
            </a:endParaRPr>
          </a:p>
        </p:txBody>
      </p:sp>
      <p:sp>
        <p:nvSpPr>
          <p:cNvPr id="6" name="Textfeld 5"/>
          <p:cNvSpPr txBox="1"/>
          <p:nvPr/>
        </p:nvSpPr>
        <p:spPr>
          <a:xfrm>
            <a:off x="533400" y="6451600"/>
            <a:ext cx="66040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800" smtClean="0">
                <a:solidFill>
                  <a:srgbClr val="7E97B8"/>
                </a:solidFill>
                <a:latin typeface="Aptos"/>
              </a:rPr>
              <a:t>Airmius Ads System | Produkt-, Technik- und Finance-Dokumentation</a:t>
            </a:r>
            <a:endParaRPr lang="de-DE" sz="800">
              <a:solidFill>
                <a:srgbClr val="7E97B8"/>
              </a:solidFill>
              <a:latin typeface="Aptos"/>
            </a:endParaRPr>
          </a:p>
        </p:txBody>
      </p:sp>
      <p:sp>
        <p:nvSpPr>
          <p:cNvPr id="7" name="Textfeld 6"/>
          <p:cNvSpPr txBox="1"/>
          <p:nvPr/>
        </p:nvSpPr>
        <p:spPr>
          <a:xfrm>
            <a:off x="11112500" y="64516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1000" b="1" smtClean="0">
                <a:solidFill>
                  <a:srgbClr val="3884FF"/>
                </a:solidFill>
                <a:latin typeface="Aptos Display"/>
              </a:rPr>
              <a:t>21</a:t>
            </a:r>
            <a:endParaRPr lang="de-DE" sz="1000" b="1">
              <a:solidFill>
                <a:srgbClr val="3884FF"/>
              </a:solidFill>
              <a:latin typeface="Aptos Display"/>
            </a:endParaRPr>
          </a:p>
        </p:txBody>
      </p:sp>
      <p:sp>
        <p:nvSpPr>
          <p:cNvPr id="8" name="Abgerundetes Rechteck 7"/>
          <p:cNvSpPr/>
          <p:nvPr/>
        </p:nvSpPr>
        <p:spPr>
          <a:xfrm>
            <a:off x="533400" y="2108200"/>
            <a:ext cx="5105400" cy="1219200"/>
          </a:xfrm>
          <a:prstGeom prst="roundRect">
            <a:avLst/>
          </a:prstGeom>
          <a:solidFill>
            <a:srgbClr val="111927"/>
          </a:solidFill>
          <a:ln w="12700">
            <a:solidFill>
              <a:srgbClr val="2F3F5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9" name="Rechteck 8"/>
          <p:cNvSpPr/>
          <p:nvPr/>
        </p:nvSpPr>
        <p:spPr>
          <a:xfrm>
            <a:off x="533400" y="2108200"/>
            <a:ext cx="63500" cy="1219200"/>
          </a:xfrm>
          <a:prstGeom prst="rect">
            <a:avLst/>
          </a:prstGeom>
          <a:solidFill>
            <a:srgbClr val="3884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0" name="Textfeld 9"/>
          <p:cNvSpPr txBox="1"/>
          <p:nvPr/>
        </p:nvSpPr>
        <p:spPr>
          <a:xfrm>
            <a:off x="736600" y="2260600"/>
            <a:ext cx="47752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1400" b="1" smtClean="0">
                <a:solidFill>
                  <a:srgbClr val="F8FAFC"/>
                </a:solidFill>
                <a:latin typeface="Aptos Display"/>
              </a:rPr>
              <a:t>Kurzfristig</a:t>
            </a:r>
            <a:endParaRPr lang="de-DE" sz="1400" b="1">
              <a:solidFill>
                <a:srgbClr val="F8FAFC"/>
              </a:solidFill>
              <a:latin typeface="Aptos Display"/>
            </a:endParaRPr>
          </a:p>
        </p:txBody>
      </p:sp>
      <p:sp>
        <p:nvSpPr>
          <p:cNvPr id="11" name="Textfeld 10"/>
          <p:cNvSpPr txBox="1"/>
          <p:nvPr/>
        </p:nvSpPr>
        <p:spPr>
          <a:xfrm>
            <a:off x="736600" y="2590800"/>
            <a:ext cx="4775200" cy="4062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1020" smtClean="0">
                <a:solidFill>
                  <a:srgbClr val="BECDE6"/>
                </a:solidFill>
                <a:latin typeface="Aptos"/>
              </a:rPr>
              <a:t>Consent-Banner, Self-Service-Reports für Käufer, klare Review-Kommentare, Vorschau je Placement, bessere leere Zustände.</a:t>
            </a:r>
            <a:endParaRPr lang="de-DE" sz="1020">
              <a:solidFill>
                <a:srgbClr val="BECDE6"/>
              </a:solidFill>
              <a:latin typeface="Aptos"/>
            </a:endParaRPr>
          </a:p>
        </p:txBody>
      </p:sp>
      <p:sp>
        <p:nvSpPr>
          <p:cNvPr id="12" name="Abgerundetes Rechteck 11"/>
          <p:cNvSpPr/>
          <p:nvPr/>
        </p:nvSpPr>
        <p:spPr>
          <a:xfrm>
            <a:off x="5943600" y="2108200"/>
            <a:ext cx="5105400" cy="1219200"/>
          </a:xfrm>
          <a:prstGeom prst="roundRect">
            <a:avLst/>
          </a:prstGeom>
          <a:solidFill>
            <a:srgbClr val="111927"/>
          </a:solidFill>
          <a:ln w="12700">
            <a:solidFill>
              <a:srgbClr val="2F3F5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3" name="Rechteck 12"/>
          <p:cNvSpPr/>
          <p:nvPr/>
        </p:nvSpPr>
        <p:spPr>
          <a:xfrm>
            <a:off x="5943600" y="2108200"/>
            <a:ext cx="63500" cy="1219200"/>
          </a:xfrm>
          <a:prstGeom prst="rect">
            <a:avLst/>
          </a:prstGeom>
          <a:solidFill>
            <a:srgbClr val="26C6D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4" name="Textfeld 13"/>
          <p:cNvSpPr txBox="1"/>
          <p:nvPr/>
        </p:nvSpPr>
        <p:spPr>
          <a:xfrm>
            <a:off x="6146800" y="2260600"/>
            <a:ext cx="47752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1400" b="1" smtClean="0">
                <a:solidFill>
                  <a:srgbClr val="F8FAFC"/>
                </a:solidFill>
                <a:latin typeface="Aptos Display"/>
              </a:rPr>
              <a:t>Mittelfristig</a:t>
            </a:r>
            <a:endParaRPr lang="de-DE" sz="1400" b="1">
              <a:solidFill>
                <a:srgbClr val="F8FAFC"/>
              </a:solidFill>
              <a:latin typeface="Aptos Display"/>
            </a:endParaRPr>
          </a:p>
        </p:txBody>
      </p:sp>
      <p:sp>
        <p:nvSpPr>
          <p:cNvPr id="15" name="Textfeld 14"/>
          <p:cNvSpPr txBox="1"/>
          <p:nvPr/>
        </p:nvSpPr>
        <p:spPr>
          <a:xfrm>
            <a:off x="6146800" y="2590800"/>
            <a:ext cx="4775200" cy="4062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1020" smtClean="0">
                <a:solidFill>
                  <a:srgbClr val="BECDE6"/>
                </a:solidFill>
                <a:latin typeface="Aptos"/>
              </a:rPr>
              <a:t>Frequency pro User+Placement, Inventarprognose, Zielgruppen-Segmente, Export, Creative-Library, Kampagnen-Duplizieren.</a:t>
            </a:r>
            <a:endParaRPr lang="de-DE" sz="1020">
              <a:solidFill>
                <a:srgbClr val="BECDE6"/>
              </a:solidFill>
              <a:latin typeface="Aptos"/>
            </a:endParaRPr>
          </a:p>
        </p:txBody>
      </p:sp>
      <p:sp>
        <p:nvSpPr>
          <p:cNvPr id="16" name="Abgerundetes Rechteck 15"/>
          <p:cNvSpPr/>
          <p:nvPr/>
        </p:nvSpPr>
        <p:spPr>
          <a:xfrm>
            <a:off x="533400" y="3708400"/>
            <a:ext cx="5105400" cy="1219200"/>
          </a:xfrm>
          <a:prstGeom prst="roundRect">
            <a:avLst/>
          </a:prstGeom>
          <a:solidFill>
            <a:srgbClr val="111927"/>
          </a:solidFill>
          <a:ln w="12700">
            <a:solidFill>
              <a:srgbClr val="2F3F5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7" name="Rechteck 16"/>
          <p:cNvSpPr/>
          <p:nvPr/>
        </p:nvSpPr>
        <p:spPr>
          <a:xfrm>
            <a:off x="533400" y="3708400"/>
            <a:ext cx="63500" cy="1219200"/>
          </a:xfrm>
          <a:prstGeom prst="rect">
            <a:avLst/>
          </a:prstGeom>
          <a:solidFill>
            <a:srgbClr val="3AD39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8" name="Textfeld 17"/>
          <p:cNvSpPr txBox="1"/>
          <p:nvPr/>
        </p:nvSpPr>
        <p:spPr>
          <a:xfrm>
            <a:off x="736600" y="3860800"/>
            <a:ext cx="47752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1400" b="1" smtClean="0">
                <a:solidFill>
                  <a:srgbClr val="F8FAFC"/>
                </a:solidFill>
                <a:latin typeface="Aptos Display"/>
              </a:rPr>
              <a:t>Langfristig</a:t>
            </a:r>
            <a:endParaRPr lang="de-DE" sz="1400" b="1">
              <a:solidFill>
                <a:srgbClr val="F8FAFC"/>
              </a:solidFill>
              <a:latin typeface="Aptos Display"/>
            </a:endParaRPr>
          </a:p>
        </p:txBody>
      </p:sp>
      <p:sp>
        <p:nvSpPr>
          <p:cNvPr id="19" name="Textfeld 18"/>
          <p:cNvSpPr txBox="1"/>
          <p:nvPr/>
        </p:nvSpPr>
        <p:spPr>
          <a:xfrm>
            <a:off x="736600" y="4191000"/>
            <a:ext cx="4775200" cy="4062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1020" smtClean="0">
                <a:solidFill>
                  <a:srgbClr val="BECDE6"/>
                </a:solidFill>
                <a:latin typeface="Aptos"/>
              </a:rPr>
              <a:t>Lookalike-ähnliche Sportsegmente, Bidding/Auktion, Forecasting, Multi-Touch Attribution, Fraud Scoring, Sponsor Marketplace.</a:t>
            </a:r>
            <a:endParaRPr lang="de-DE" sz="1020">
              <a:solidFill>
                <a:srgbClr val="BECDE6"/>
              </a:solidFill>
              <a:latin typeface="Aptos"/>
            </a:endParaRPr>
          </a:p>
        </p:txBody>
      </p:sp>
      <p:sp>
        <p:nvSpPr>
          <p:cNvPr id="20" name="Abgerundetes Rechteck 19"/>
          <p:cNvSpPr/>
          <p:nvPr/>
        </p:nvSpPr>
        <p:spPr>
          <a:xfrm>
            <a:off x="5943600" y="3708400"/>
            <a:ext cx="5105400" cy="1219200"/>
          </a:xfrm>
          <a:prstGeom prst="roundRect">
            <a:avLst/>
          </a:prstGeom>
          <a:solidFill>
            <a:srgbClr val="111927"/>
          </a:solidFill>
          <a:ln w="12700">
            <a:solidFill>
              <a:srgbClr val="2F3F5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1" name="Rechteck 20"/>
          <p:cNvSpPr/>
          <p:nvPr/>
        </p:nvSpPr>
        <p:spPr>
          <a:xfrm>
            <a:off x="5943600" y="3708400"/>
            <a:ext cx="63500" cy="1219200"/>
          </a:xfrm>
          <a:prstGeom prst="rect">
            <a:avLst/>
          </a:prstGeom>
          <a:solidFill>
            <a:srgbClr val="FFB14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2" name="Textfeld 21"/>
          <p:cNvSpPr txBox="1"/>
          <p:nvPr/>
        </p:nvSpPr>
        <p:spPr>
          <a:xfrm>
            <a:off x="6146800" y="3860800"/>
            <a:ext cx="47752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1400" b="1" smtClean="0">
                <a:solidFill>
                  <a:srgbClr val="F8FAFC"/>
                </a:solidFill>
                <a:latin typeface="Aptos Display"/>
              </a:rPr>
              <a:t>Recht &amp; Vertrauen</a:t>
            </a:r>
            <a:endParaRPr lang="de-DE" sz="1400" b="1">
              <a:solidFill>
                <a:srgbClr val="F8FAFC"/>
              </a:solidFill>
              <a:latin typeface="Aptos Display"/>
            </a:endParaRPr>
          </a:p>
        </p:txBody>
      </p:sp>
      <p:sp>
        <p:nvSpPr>
          <p:cNvPr id="23" name="Textfeld 22"/>
          <p:cNvSpPr txBox="1"/>
          <p:nvPr/>
        </p:nvSpPr>
        <p:spPr>
          <a:xfrm>
            <a:off x="6146800" y="4191000"/>
            <a:ext cx="4775200" cy="4062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1020" smtClean="0">
                <a:solidFill>
                  <a:srgbClr val="BECDE6"/>
                </a:solidFill>
                <a:latin typeface="Aptos"/>
              </a:rPr>
              <a:t>DSGVO-Doku, Auftragsverarbeiter, Minderjährigen-Policy, Werbekennzeichnung, Beschwerde-/Storno-Regeln, Audit-Logs.</a:t>
            </a:r>
            <a:endParaRPr lang="de-DE" sz="1020">
              <a:solidFill>
                <a:srgbClr val="BECDE6"/>
              </a:solidFill>
              <a:latin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113344444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eck 1"/>
          <p:cNvSpPr/>
          <p:nvPr/>
        </p:nvSpPr>
        <p:spPr>
          <a:xfrm>
            <a:off x="0" y="0"/>
            <a:ext cx="12192000" cy="101600"/>
          </a:xfrm>
          <a:prstGeom prst="rect">
            <a:avLst/>
          </a:prstGeom>
          <a:solidFill>
            <a:srgbClr val="3884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" name="Textfeld 2"/>
          <p:cNvSpPr txBox="1"/>
          <p:nvPr/>
        </p:nvSpPr>
        <p:spPr>
          <a:xfrm>
            <a:off x="533400" y="431800"/>
            <a:ext cx="3302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900" b="1" smtClean="0">
                <a:solidFill>
                  <a:srgbClr val="3884FF"/>
                </a:solidFill>
                <a:latin typeface="Aptos"/>
              </a:rPr>
              <a:t>CHEAT SHEET</a:t>
            </a:r>
            <a:endParaRPr lang="de-DE" sz="900" b="1">
              <a:solidFill>
                <a:srgbClr val="3884FF"/>
              </a:solidFill>
              <a:latin typeface="Aptos"/>
            </a:endParaRPr>
          </a:p>
        </p:txBody>
      </p:sp>
      <p:sp>
        <p:nvSpPr>
          <p:cNvPr id="4" name="Textfeld 3"/>
          <p:cNvSpPr txBox="1"/>
          <p:nvPr/>
        </p:nvSpPr>
        <p:spPr>
          <a:xfrm>
            <a:off x="533400" y="736600"/>
            <a:ext cx="102235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2800" b="1" smtClean="0">
                <a:solidFill>
                  <a:srgbClr val="F8FAFC"/>
                </a:solidFill>
                <a:latin typeface="Aptos Display"/>
              </a:rPr>
              <a:t>Was man sich merken muss</a:t>
            </a:r>
            <a:endParaRPr lang="de-DE" sz="2800" b="1">
              <a:solidFill>
                <a:srgbClr val="F8FAFC"/>
              </a:solidFill>
              <a:latin typeface="Aptos Display"/>
            </a:endParaRPr>
          </a:p>
        </p:txBody>
      </p:sp>
      <p:sp>
        <p:nvSpPr>
          <p:cNvPr id="5" name="Textfeld 4"/>
          <p:cNvSpPr txBox="1"/>
          <p:nvPr/>
        </p:nvSpPr>
        <p:spPr>
          <a:xfrm>
            <a:off x="533400" y="1422400"/>
            <a:ext cx="10414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1200" smtClean="0">
                <a:solidFill>
                  <a:srgbClr val="BECDE6"/>
                </a:solidFill>
                <a:latin typeface="Aptos"/>
              </a:rPr>
              <a:t>Das Ads-System ist Commerce, Algorithmus, Reporting und Datenschutz in einem Produktbereich.</a:t>
            </a:r>
            <a:endParaRPr lang="de-DE" sz="1200">
              <a:solidFill>
                <a:srgbClr val="BECDE6"/>
              </a:solidFill>
              <a:latin typeface="Aptos"/>
            </a:endParaRPr>
          </a:p>
        </p:txBody>
      </p:sp>
      <p:sp>
        <p:nvSpPr>
          <p:cNvPr id="6" name="Textfeld 5"/>
          <p:cNvSpPr txBox="1"/>
          <p:nvPr/>
        </p:nvSpPr>
        <p:spPr>
          <a:xfrm>
            <a:off x="533400" y="6451600"/>
            <a:ext cx="66040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800" smtClean="0">
                <a:solidFill>
                  <a:srgbClr val="7E97B8"/>
                </a:solidFill>
                <a:latin typeface="Aptos"/>
              </a:rPr>
              <a:t>Airmius Ads System | Produkt-, Technik- und Finance-Dokumentation</a:t>
            </a:r>
            <a:endParaRPr lang="de-DE" sz="800">
              <a:solidFill>
                <a:srgbClr val="7E97B8"/>
              </a:solidFill>
              <a:latin typeface="Aptos"/>
            </a:endParaRPr>
          </a:p>
        </p:txBody>
      </p:sp>
      <p:sp>
        <p:nvSpPr>
          <p:cNvPr id="7" name="Textfeld 6"/>
          <p:cNvSpPr txBox="1"/>
          <p:nvPr/>
        </p:nvSpPr>
        <p:spPr>
          <a:xfrm>
            <a:off x="11112500" y="64516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1000" b="1" smtClean="0">
                <a:solidFill>
                  <a:srgbClr val="3884FF"/>
                </a:solidFill>
                <a:latin typeface="Aptos Display"/>
              </a:rPr>
              <a:t>22</a:t>
            </a:r>
            <a:endParaRPr lang="de-DE" sz="1000" b="1">
              <a:solidFill>
                <a:srgbClr val="3884FF"/>
              </a:solidFill>
              <a:latin typeface="Aptos Display"/>
            </a:endParaRPr>
          </a:p>
        </p:txBody>
      </p:sp>
      <p:sp>
        <p:nvSpPr>
          <p:cNvPr id="8" name="Abgerundetes Rechteck 7"/>
          <p:cNvSpPr/>
          <p:nvPr/>
        </p:nvSpPr>
        <p:spPr>
          <a:xfrm>
            <a:off x="533400" y="2032000"/>
            <a:ext cx="5105400" cy="1219200"/>
          </a:xfrm>
          <a:prstGeom prst="roundRect">
            <a:avLst/>
          </a:prstGeom>
          <a:solidFill>
            <a:srgbClr val="111927"/>
          </a:solidFill>
          <a:ln w="12700">
            <a:solidFill>
              <a:srgbClr val="2F3F5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9" name="Rechteck 8"/>
          <p:cNvSpPr/>
          <p:nvPr/>
        </p:nvSpPr>
        <p:spPr>
          <a:xfrm>
            <a:off x="533400" y="2032000"/>
            <a:ext cx="63500" cy="1219200"/>
          </a:xfrm>
          <a:prstGeom prst="rect">
            <a:avLst/>
          </a:prstGeom>
          <a:solidFill>
            <a:srgbClr val="3884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0" name="Textfeld 9"/>
          <p:cNvSpPr txBox="1"/>
          <p:nvPr/>
        </p:nvSpPr>
        <p:spPr>
          <a:xfrm>
            <a:off x="736600" y="2184400"/>
            <a:ext cx="47752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1400" b="1" smtClean="0">
                <a:solidFill>
                  <a:srgbClr val="F8FAFC"/>
                </a:solidFill>
                <a:latin typeface="Aptos Display"/>
              </a:rPr>
              <a:t>Struktur</a:t>
            </a:r>
            <a:endParaRPr lang="de-DE" sz="1400" b="1">
              <a:solidFill>
                <a:srgbClr val="F8FAFC"/>
              </a:solidFill>
              <a:latin typeface="Aptos Display"/>
            </a:endParaRPr>
          </a:p>
        </p:txBody>
      </p:sp>
      <p:sp>
        <p:nvSpPr>
          <p:cNvPr id="11" name="Textfeld 10"/>
          <p:cNvSpPr txBox="1"/>
          <p:nvPr/>
        </p:nvSpPr>
        <p:spPr>
          <a:xfrm>
            <a:off x="736600" y="2514600"/>
            <a:ext cx="4775200" cy="4062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1020" smtClean="0">
                <a:solidFill>
                  <a:srgbClr val="BECDE6"/>
                </a:solidFill>
                <a:latin typeface="Aptos"/>
              </a:rPr>
              <a:t>Kampagne = Strategie. Anzeigegruppe = Zielgruppe. Anzeige/Creative = Inhalt. Event = Messung. Setting = Preis/Regel.</a:t>
            </a:r>
            <a:endParaRPr lang="de-DE" sz="1020">
              <a:solidFill>
                <a:srgbClr val="BECDE6"/>
              </a:solidFill>
              <a:latin typeface="Aptos"/>
            </a:endParaRPr>
          </a:p>
        </p:txBody>
      </p:sp>
      <p:sp>
        <p:nvSpPr>
          <p:cNvPr id="12" name="Abgerundetes Rechteck 11"/>
          <p:cNvSpPr/>
          <p:nvPr/>
        </p:nvSpPr>
        <p:spPr>
          <a:xfrm>
            <a:off x="5943600" y="2032000"/>
            <a:ext cx="5105400" cy="1219200"/>
          </a:xfrm>
          <a:prstGeom prst="roundRect">
            <a:avLst/>
          </a:prstGeom>
          <a:solidFill>
            <a:srgbClr val="111927"/>
          </a:solidFill>
          <a:ln w="12700">
            <a:solidFill>
              <a:srgbClr val="2F3F5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3" name="Rechteck 12"/>
          <p:cNvSpPr/>
          <p:nvPr/>
        </p:nvSpPr>
        <p:spPr>
          <a:xfrm>
            <a:off x="5943600" y="2032000"/>
            <a:ext cx="63500" cy="1219200"/>
          </a:xfrm>
          <a:prstGeom prst="rect">
            <a:avLst/>
          </a:prstGeom>
          <a:solidFill>
            <a:srgbClr val="26C6D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4" name="Textfeld 13"/>
          <p:cNvSpPr txBox="1"/>
          <p:nvPr/>
        </p:nvSpPr>
        <p:spPr>
          <a:xfrm>
            <a:off x="6146800" y="2184400"/>
            <a:ext cx="47752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1400" b="1" smtClean="0">
                <a:solidFill>
                  <a:srgbClr val="F8FAFC"/>
                </a:solidFill>
                <a:latin typeface="Aptos Display"/>
              </a:rPr>
              <a:t>Ausspielung</a:t>
            </a:r>
            <a:endParaRPr lang="de-DE" sz="1400" b="1">
              <a:solidFill>
                <a:srgbClr val="F8FAFC"/>
              </a:solidFill>
              <a:latin typeface="Aptos Display"/>
            </a:endParaRPr>
          </a:p>
        </p:txBody>
      </p:sp>
      <p:sp>
        <p:nvSpPr>
          <p:cNvPr id="15" name="Textfeld 14"/>
          <p:cNvSpPr txBox="1"/>
          <p:nvPr/>
        </p:nvSpPr>
        <p:spPr>
          <a:xfrm>
            <a:off x="6146800" y="2514600"/>
            <a:ext cx="4775200" cy="4062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1020" smtClean="0">
                <a:solidFill>
                  <a:srgbClr val="BECDE6"/>
                </a:solidFill>
                <a:latin typeface="Aptos"/>
              </a:rPr>
              <a:t>Active + Laufzeit + Budget + Cap + Pacing + Audience + Gewichtung. Dann Impression speichern und Creative ausliefern.</a:t>
            </a:r>
            <a:endParaRPr lang="de-DE" sz="1020">
              <a:solidFill>
                <a:srgbClr val="BECDE6"/>
              </a:solidFill>
              <a:latin typeface="Aptos"/>
            </a:endParaRPr>
          </a:p>
        </p:txBody>
      </p:sp>
      <p:sp>
        <p:nvSpPr>
          <p:cNvPr id="16" name="Abgerundetes Rechteck 15"/>
          <p:cNvSpPr/>
          <p:nvPr/>
        </p:nvSpPr>
        <p:spPr>
          <a:xfrm>
            <a:off x="533400" y="3632200"/>
            <a:ext cx="5105400" cy="1219200"/>
          </a:xfrm>
          <a:prstGeom prst="roundRect">
            <a:avLst/>
          </a:prstGeom>
          <a:solidFill>
            <a:srgbClr val="111927"/>
          </a:solidFill>
          <a:ln w="12700">
            <a:solidFill>
              <a:srgbClr val="2F3F5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7" name="Rechteck 16"/>
          <p:cNvSpPr/>
          <p:nvPr/>
        </p:nvSpPr>
        <p:spPr>
          <a:xfrm>
            <a:off x="533400" y="3632200"/>
            <a:ext cx="63500" cy="1219200"/>
          </a:xfrm>
          <a:prstGeom prst="rect">
            <a:avLst/>
          </a:prstGeom>
          <a:solidFill>
            <a:srgbClr val="3AD39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8" name="Textfeld 17"/>
          <p:cNvSpPr txBox="1"/>
          <p:nvPr/>
        </p:nvSpPr>
        <p:spPr>
          <a:xfrm>
            <a:off x="736600" y="3784600"/>
            <a:ext cx="47752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1400" b="1" smtClean="0">
                <a:solidFill>
                  <a:srgbClr val="F8FAFC"/>
                </a:solidFill>
                <a:latin typeface="Aptos Display"/>
              </a:rPr>
              <a:t>Finance</a:t>
            </a:r>
            <a:endParaRPr lang="de-DE" sz="1400" b="1">
              <a:solidFill>
                <a:srgbClr val="F8FAFC"/>
              </a:solidFill>
              <a:latin typeface="Aptos Display"/>
            </a:endParaRPr>
          </a:p>
        </p:txBody>
      </p:sp>
      <p:sp>
        <p:nvSpPr>
          <p:cNvPr id="19" name="Textfeld 18"/>
          <p:cNvSpPr txBox="1"/>
          <p:nvPr/>
        </p:nvSpPr>
        <p:spPr>
          <a:xfrm>
            <a:off x="736600" y="4114800"/>
            <a:ext cx="4775200" cy="4062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1020" smtClean="0">
                <a:solidFill>
                  <a:srgbClr val="BECDE6"/>
                </a:solidFill>
                <a:latin typeface="Aptos"/>
              </a:rPr>
              <a:t>Awareness kostet CPM, Traffic CPC, Leads CPL, Sales CPA. Interne Kampagnen kosten 0 und bleiben capped.</a:t>
            </a:r>
            <a:endParaRPr lang="de-DE" sz="1020">
              <a:solidFill>
                <a:srgbClr val="BECDE6"/>
              </a:solidFill>
              <a:latin typeface="Aptos"/>
            </a:endParaRPr>
          </a:p>
        </p:txBody>
      </p:sp>
      <p:sp>
        <p:nvSpPr>
          <p:cNvPr id="20" name="Abgerundetes Rechteck 19"/>
          <p:cNvSpPr/>
          <p:nvPr/>
        </p:nvSpPr>
        <p:spPr>
          <a:xfrm>
            <a:off x="5943600" y="3632200"/>
            <a:ext cx="5105400" cy="1219200"/>
          </a:xfrm>
          <a:prstGeom prst="roundRect">
            <a:avLst/>
          </a:prstGeom>
          <a:solidFill>
            <a:srgbClr val="111927"/>
          </a:solidFill>
          <a:ln w="12700">
            <a:solidFill>
              <a:srgbClr val="2F3F5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1" name="Rechteck 20"/>
          <p:cNvSpPr/>
          <p:nvPr/>
        </p:nvSpPr>
        <p:spPr>
          <a:xfrm>
            <a:off x="5943600" y="3632200"/>
            <a:ext cx="63500" cy="1219200"/>
          </a:xfrm>
          <a:prstGeom prst="rect">
            <a:avLst/>
          </a:prstGeom>
          <a:solidFill>
            <a:srgbClr val="FFB14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2" name="Textfeld 21"/>
          <p:cNvSpPr txBox="1"/>
          <p:nvPr/>
        </p:nvSpPr>
        <p:spPr>
          <a:xfrm>
            <a:off x="6146800" y="3784600"/>
            <a:ext cx="47752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1400" b="1" smtClean="0">
                <a:solidFill>
                  <a:srgbClr val="F8FAFC"/>
                </a:solidFill>
                <a:latin typeface="Aptos Display"/>
              </a:rPr>
              <a:t>Datenschutz</a:t>
            </a:r>
            <a:endParaRPr lang="de-DE" sz="1400" b="1">
              <a:solidFill>
                <a:srgbClr val="F8FAFC"/>
              </a:solidFill>
              <a:latin typeface="Aptos Display"/>
            </a:endParaRPr>
          </a:p>
        </p:txBody>
      </p:sp>
      <p:sp>
        <p:nvSpPr>
          <p:cNvPr id="23" name="Textfeld 22"/>
          <p:cNvSpPr txBox="1"/>
          <p:nvPr/>
        </p:nvSpPr>
        <p:spPr>
          <a:xfrm>
            <a:off x="6146800" y="4114800"/>
            <a:ext cx="4775200" cy="4062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1020" smtClean="0">
                <a:solidFill>
                  <a:srgbClr val="BECDE6"/>
                </a:solidFill>
                <a:latin typeface="Aptos"/>
              </a:rPr>
              <a:t>Personalisierung und Conversion-Messung nur mit Consent. Hashes statt Rohdaten, Retention/Pruning, keine Guest-E-Mail in AdEvents.</a:t>
            </a:r>
            <a:endParaRPr lang="de-DE" sz="1020">
              <a:solidFill>
                <a:srgbClr val="BECDE6"/>
              </a:solidFill>
              <a:latin typeface="Aptos"/>
            </a:endParaRPr>
          </a:p>
        </p:txBody>
      </p:sp>
      <p:sp>
        <p:nvSpPr>
          <p:cNvPr id="24" name="Textfeld 23"/>
          <p:cNvSpPr txBox="1"/>
          <p:nvPr/>
        </p:nvSpPr>
        <p:spPr>
          <a:xfrm>
            <a:off x="533400" y="5334000"/>
            <a:ext cx="10414000" cy="49244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1300" smtClean="0">
                <a:solidFill>
                  <a:srgbClr val="BECDE6"/>
                </a:solidFill>
                <a:latin typeface="Aptos"/>
              </a:rPr>
              <a:t>Produktleitsatz: Anzeigen sollen Sportangebote finanzieren und sichtbar machen, ohne Nutzer zu überfordern oder Vertrauen zu verbrennen.</a:t>
            </a:r>
            <a:endParaRPr lang="de-DE" sz="1300">
              <a:solidFill>
                <a:srgbClr val="BECDE6"/>
              </a:solidFill>
              <a:latin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32685492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2639</Words>
  <Application>Microsoft Office PowerPoint</Application>
  <PresentationFormat>Benutzerdefiniert</PresentationFormat>
  <Paragraphs>380</Paragraphs>
  <Slides>22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5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22</vt:i4>
      </vt:variant>
    </vt:vector>
  </HeadingPairs>
  <TitlesOfParts>
    <vt:vector size="28" baseType="lpstr">
      <vt:lpstr>Aptos</vt:lpstr>
      <vt:lpstr>Aptos Display</vt:lpstr>
      <vt:lpstr>Arial</vt:lpstr>
      <vt:lpstr>Calibri</vt:lpstr>
      <vt:lpstr>Calibri Light</vt:lpstr>
      <vt:lpstr>Office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Amin Masri</dc:creator>
  <cp:lastModifiedBy>Amin Masri</cp:lastModifiedBy>
  <cp:revision>1</cp:revision>
  <dcterms:created xsi:type="dcterms:W3CDTF">2026-05-16T10:21:50Z</dcterms:created>
  <dcterms:modified xsi:type="dcterms:W3CDTF">2026-05-16T10:21:50Z</dcterms:modified>
</cp:coreProperties>
</file>