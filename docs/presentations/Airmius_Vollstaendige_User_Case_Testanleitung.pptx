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0.xml.rels" ContentType="application/vnd.openxmlformats-package.relationships+xml"/>
  <Override PartName="/ppt/slides/_rels/slide27.xml.rels" ContentType="application/vnd.openxmlformats-package.relationships+xml"/>
  <Override PartName="/ppt/slides/_rels/slide95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206.xml.rels" ContentType="application/vnd.openxmlformats-package.relationships+xml"/>
  <Override PartName="/ppt/slides/_rels/slide8.xml.rels" ContentType="application/vnd.openxmlformats-package.relationships+xml"/>
  <Override PartName="/ppt/slides/_rels/slide207.xml.rels" ContentType="application/vnd.openxmlformats-package.relationships+xml"/>
  <Override PartName="/ppt/slides/_rels/slide9.xml.rels" ContentType="application/vnd.openxmlformats-package.relationships+xml"/>
  <Override PartName="/ppt/slides/_rels/slide208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210.xml.rels" ContentType="application/vnd.openxmlformats-package.relationships+xml"/>
  <Override PartName="/ppt/slides/_rels/slide209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220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213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223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212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222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221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46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81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188.xml.rels" ContentType="application/vnd.openxmlformats-package.relationships+xml"/>
  <Override PartName="/ppt/slides/_rels/slide224.xml.rels" ContentType="application/vnd.openxmlformats-package.relationships+xml"/>
  <Override PartName="/ppt/slides/_rels/slide189.xml.rels" ContentType="application/vnd.openxmlformats-package.relationships+xml"/>
  <Override PartName="/ppt/slides/_rels/slide225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64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219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16.xml.rels" ContentType="application/vnd.openxmlformats-package.relationships+xml"/>
  <Override PartName="/ppt/slides/_rels/slide228.xml.rels" ContentType="application/vnd.openxmlformats-package.relationships+xml"/>
  <Override PartName="/ppt/slides/_rels/slide16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7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166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5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224.xml" ContentType="application/vnd.openxmlformats-officedocument.presentationml.slide+xml"/>
  <Override PartName="/ppt/slides/slide3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225.xml" ContentType="application/vnd.openxmlformats-officedocument.presentationml.slide+xml"/>
  <Override PartName="/ppt/slides/slide32.xml" ContentType="application/vnd.openxmlformats-officedocument.presentationml.slide+xml"/>
  <Override PartName="/ppt/slides/slide161.xml" ContentType="application/vnd.openxmlformats-officedocument.presentationml.slide+xml"/>
  <Override PartName="/ppt/slides/slide41.xml" ContentType="application/vnd.openxmlformats-officedocument.presentationml.slide+xml"/>
  <Override PartName="/ppt/slides/slide154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64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20.xml" ContentType="application/vnd.openxmlformats-officedocument.presentationml.slide+xml"/>
  <Override PartName="/ppt/slides/slide219.xml" ContentType="application/vnd.openxmlformats-officedocument.presentationml.slide+xml"/>
  <Override PartName="/ppt/slides/slide221.xml" ContentType="application/vnd.openxmlformats-officedocument.presentationml.slide+xml"/>
  <Override PartName="/ppt/slides/slide162.xml" ContentType="application/vnd.openxmlformats-officedocument.presentationml.slide+xml"/>
  <Override PartName="/ppt/slides/slide42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30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226.xml" ContentType="application/vnd.openxmlformats-officedocument.presentationml.slide+xml"/>
  <Override PartName="/ppt/slides/slide33.xml" ContentType="application/vnd.openxmlformats-officedocument.presentationml.slide+xml"/>
  <Override PartName="/ppt/slides/slide227.xml" ContentType="application/vnd.openxmlformats-officedocument.presentationml.slide+xml"/>
  <Override PartName="/ppt/slides/slide34.xml" ContentType="application/vnd.openxmlformats-officedocument.presentationml.slide+xml"/>
  <Override PartName="/ppt/slides/slide216.xml" ContentType="application/vnd.openxmlformats-officedocument.presentationml.slide+xml"/>
  <Override PartName="/ppt/slides/slide228.xml" ContentType="application/vnd.openxmlformats-officedocument.presentationml.slide+xml"/>
  <Override PartName="/ppt/slides/slide35.xml" ContentType="application/vnd.openxmlformats-officedocument.presentationml.slide+xml"/>
  <Override PartName="/ppt/slides/slide169.xml" ContentType="application/vnd.openxmlformats-officedocument.presentationml.slide+xml"/>
  <Override PartName="/ppt/slides/slide205.xml" ContentType="application/vnd.openxmlformats-officedocument.presentationml.slide+xml"/>
  <Override PartName="/ppt/slides/slide168.xml" ContentType="application/vnd.openxmlformats-officedocument.presentationml.slide+xml"/>
  <Override PartName="/ppt/slides/slide204.xml" ContentType="application/vnd.openxmlformats-officedocument.presentationml.slide+xml"/>
  <Override PartName="/ppt/slides/slide11.xml" ContentType="application/vnd.openxmlformats-officedocument.presentationml.slide+xml"/>
  <Override PartName="/ppt/slides/slide167.xml" ContentType="application/vnd.openxmlformats-officedocument.presentationml.slide+xml"/>
  <Override PartName="/ppt/slides/slide20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166.xml" ContentType="application/vnd.openxmlformats-officedocument.presentationml.slide+xml"/>
  <Override PartName="/ppt/slides/slide202.xml" ContentType="application/vnd.openxmlformats-officedocument.presentationml.slide+xml"/>
  <Override PartName="/ppt/slides/slide212.xml" ContentType="application/vnd.openxmlformats-officedocument.presentationml.slide+xml"/>
  <Override PartName="/ppt/slides/slide165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11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08.xml" ContentType="application/vnd.openxmlformats-officedocument.presentationml.slide+xml"/>
  <Override PartName="/ppt/slides/slide207.xml" ContentType="application/vnd.openxmlformats-officedocument.presentationml.slide+xml"/>
  <Override PartName="/ppt/slides/slide206.xml" ContentType="application/vnd.openxmlformats-officedocument.presentationml.slide+xml"/>
  <Override PartName="/ppt/slides/slide15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3.xml" ContentType="application/vnd.openxmlformats-officedocument.presentationml.slide+xml"/>
  <Override PartName="/ppt/slides/slide142.xml" ContentType="application/vnd.openxmlformats-officedocument.presentationml.slide+xml"/>
  <Override PartName="/ppt/slides/slide141.xml" ContentType="application/vnd.openxmlformats-officedocument.presentationml.slide+xml"/>
  <Override PartName="/ppt/slides/slide140.xml" ContentType="application/vnd.openxmlformats-officedocument.presentationml.slide+xml"/>
  <Override PartName="/ppt/slides/slide13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5760000" y="0"/>
            <a:ext cx="6431760" cy="685764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540000" y="360000"/>
            <a:ext cx="35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Airmius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540000" y="1080000"/>
            <a:ext cx="4859640" cy="10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Vollständig</a:t>
            </a: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e</a:t>
            </a:r>
            <a:br>
              <a:rPr sz="2500"/>
            </a:b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User-Case-</a:t>
            </a: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Testanleitun</a:t>
            </a: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g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58000" y="2376000"/>
            <a:ext cx="41396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</a:rPr>
              <a:t>Web + App · </a:t>
            </a:r>
            <a:r>
              <a:rPr b="0" lang="de-DE" sz="1400" spc="-1" strike="noStrike">
                <a:solidFill>
                  <a:srgbClr val="d8e7ff"/>
                </a:solidFill>
                <a:latin typeface="Arial"/>
              </a:rPr>
              <a:t>Sportler · Trainer · </a:t>
            </a:r>
            <a:r>
              <a:rPr b="0" lang="de-DE" sz="1400" spc="-1" strike="noStrike">
                <a:solidFill>
                  <a:srgbClr val="d8e7ff"/>
                </a:solidFill>
                <a:latin typeface="Arial"/>
              </a:rPr>
              <a:t>Verein · Admin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558000" y="2916000"/>
            <a:ext cx="38876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Schritt für Schritt prüfen, </a:t>
            </a: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dokumentieren und auf </a:t>
            </a: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vier Geräten abgleichen.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558000" y="3960000"/>
            <a:ext cx="1151640" cy="28764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558000" y="3960000"/>
            <a:ext cx="1151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93 Use Cases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1800000" y="3960000"/>
            <a:ext cx="1439640" cy="287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800000" y="3960000"/>
            <a:ext cx="143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1.884 Checkpunkte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3312000" y="3960000"/>
            <a:ext cx="1151640" cy="2876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3312000" y="3960000"/>
            <a:ext cx="1151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PPT-Testplan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558000" y="6264000"/>
            <a:ext cx="1799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Stand: 01.08.2026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396000" y="252000"/>
            <a:ext cx="79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So testest </a:t>
            </a: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du mit 2 </a:t>
            </a: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Handys </a:t>
            </a: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und 2 </a:t>
            </a: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Laptops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96000" y="576000"/>
            <a:ext cx="791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Jedes Gerät bleibt </a:t>
            </a: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während eines Use </a:t>
            </a: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Cases bei seiner Rolle.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396000" y="1152000"/>
            <a:ext cx="2411640" cy="1511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96000" y="1152000"/>
            <a:ext cx="2411640" cy="15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Handy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App · 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Training · Feed ·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Profil · Vereinssuche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3060000" y="1152000"/>
            <a:ext cx="2411640" cy="151164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3060000" y="1152000"/>
            <a:ext cx="2411640" cy="15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Handy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App · 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Cockpit · Teams · </a:t>
            </a: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Feedback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 · Anwesenheit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5724000" y="1152000"/>
            <a:ext cx="2411640" cy="151164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5724000" y="1152000"/>
            <a:ext cx="2411640" cy="15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Laptop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· 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Mitglieder · Finanzen · Dokumente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Events · Sponsoren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388000" y="1152000"/>
            <a:ext cx="2519640" cy="1511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8388000" y="1152000"/>
            <a:ext cx="2519640" cy="15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Laptop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· Gegenkonto / 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Kontrolle · Moderation · Commerce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396000" y="3276000"/>
            <a:ext cx="1043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</a:rPr>
              <a:t>Ablauf: Aktion auslösen → anderes Gerät prüfen → Erwartung dokumentieren → Testobjekt bereinigen.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96000" y="3960000"/>
            <a:ext cx="10511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</a:rPr>
              <a:t>Wichtig: Auf echtem Handy niemals localhost verwenden. Emulator: 10.0.2.2 · echtes Handy: erreichbare LAN-IP.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396000" y="4680000"/>
            <a:ext cx="863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genaue Entwicklungsmodus- und USB-Debugging-Anleitung steht in UC-93.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96000" y="252000"/>
            <a:ext cx="79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So benutzt du jede Use-Case-Folie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96000" y="576000"/>
            <a:ext cx="863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Nicht nur klicken: immer Ergebnis, Gegenkonto und Nachweis kontrollieren.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396000" y="1080000"/>
            <a:ext cx="3167640" cy="863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396000" y="1080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1 · 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Verstehen, welche Nutzeraufgabe geprüft wird.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780000" y="1080000"/>
            <a:ext cx="3167640" cy="86364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780000" y="1080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2 · 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Konto, Rolle, Testdaten und Geräte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7164000" y="1080000"/>
            <a:ext cx="3167640" cy="86364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7164000" y="1080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3 · Klicken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Schritt für Schritt die angezeigten Aktionen durchführen.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96000" y="2232000"/>
            <a:ext cx="3167640" cy="86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396000" y="2232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4 ·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Auf dem zweiten Konto oder Gerät Ergebnis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780000" y="2232000"/>
            <a:ext cx="3167640" cy="86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3780000" y="2232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5 ·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Status, Version, Screenshot und Fehlertext eintragen.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164000" y="2232000"/>
            <a:ext cx="3167640" cy="863640"/>
          </a:xfrm>
          <a:prstGeom prst="rect">
            <a:avLst/>
          </a:prstGeom>
          <a:solidFill>
            <a:srgbClr val="fdecec"/>
          </a:solidFill>
          <a:ln w="126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7164000" y="2232000"/>
            <a:ext cx="316764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6 · Bereinigen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Testposts, Dateien, Zahlungen und Konten wieder entfernen.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396000" y="3780000"/>
            <a:ext cx="719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</a:rPr>
              <a:t>Statuswerte: Offen · Bestanden · Fehler · Nachtest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396000" y="4320000"/>
            <a:ext cx="10727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</a:rPr>
              <a:t>UI-only beachten: Wenn ein Screen „UI bereit“ oder „API folgt“ anzeigt, als Integrationslücke markieren und nicht als echte erfolgreiche Serveraktion werten.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96000" y="252000"/>
            <a:ext cx="79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Die komplette Produktkette auf einen Blick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396000" y="576000"/>
            <a:ext cx="863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Vom ersten Login bis zu Verein, Commerce, Lernen und Admin.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396000" y="972000"/>
            <a:ext cx="7919640" cy="4499640"/>
          </a:xfrm>
          <a:prstGeom prst="rect">
            <a:avLst/>
          </a:prstGeom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8640000" y="1152000"/>
            <a:ext cx="3059640" cy="1115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8640000" y="1152000"/>
            <a:ext cx="305964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Prüfprinzip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Jede Aktion braucht ein erwartetes Ergebnis und eine Gegenprüfung.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8640000" y="2520000"/>
            <a:ext cx="3059640" cy="1115640"/>
          </a:xfrm>
          <a:prstGeom prst="rect">
            <a:avLst/>
          </a:prstGeom>
          <a:solidFill>
            <a:srgbClr val="e8f8f1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8640000" y="2520000"/>
            <a:ext cx="305964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Datenfluss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und App greifen auf denselben Teststand zu. Änderungen müssen synchron erscheinen.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8640000" y="3888000"/>
            <a:ext cx="3059640" cy="111564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8640000" y="3888000"/>
            <a:ext cx="305964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Rollen, Sichtbarkeit, Altersfreigabe und Löschung in jedem Bereich mitprüfen.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396000" y="252000"/>
            <a:ext cx="79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Rollen- und Funktionsmatrix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6000" y="576000"/>
            <a:ext cx="791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Diese Matrix zeigt, wer welchen Bereich primär prüft.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96000" y="1008000"/>
            <a:ext cx="2015640" cy="323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396000" y="1008000"/>
            <a:ext cx="2015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Bereich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2556000" y="1008000"/>
            <a:ext cx="1799640" cy="323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2556000" y="1008000"/>
            <a:ext cx="1799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</a:rPr>
              <a:t>Sportler</a:t>
            </a:r>
            <a:endParaRPr b="0" lang="de-DE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00000" y="1008000"/>
            <a:ext cx="1799640" cy="323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500000" y="1008000"/>
            <a:ext cx="1799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</a:rPr>
              <a:t>Trainer</a:t>
            </a:r>
            <a:endParaRPr b="0" lang="de-DE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444000" y="1008000"/>
            <a:ext cx="2015640" cy="323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6444000" y="1008000"/>
            <a:ext cx="2015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</a:rPr>
              <a:t>Verein</a:t>
            </a:r>
            <a:endParaRPr b="0" lang="de-DE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640000" y="1008000"/>
            <a:ext cx="2195640" cy="323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640000" y="1008000"/>
            <a:ext cx="2195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</a:rPr>
              <a:t>Admin</a:t>
            </a:r>
            <a:endParaRPr b="0" lang="de-DE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396000" y="1404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396000" y="1404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Profil &amp; Sport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2556000" y="1404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2556000" y="1404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4500000" y="1404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4500000" y="1404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6444000" y="1404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6444000" y="1404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sieht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8640000" y="1404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8640000" y="1404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396000" y="1962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396000" y="1962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Training &amp; Events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556000" y="1962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2556000" y="1962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nimmt teil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4500000" y="1962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4500000" y="1962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plant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6444000" y="1962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444000" y="1962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koordiniert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8640000" y="1962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8640000" y="1962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kontrolliert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396000" y="2520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396000" y="2520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Mitglieder &amp; Finanzen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2556000" y="2520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2556000" y="2520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eigene Daten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4500000" y="2520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4500000" y="2520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Teambezug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6444000" y="2520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6444000" y="2520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8640000" y="2520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8640000" y="2520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auditieren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96000" y="3078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396000" y="3078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Feed, Chat &amp; Dateien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556000" y="3078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2556000" y="3078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500000" y="3078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4500000" y="3078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moderiert Team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6444000" y="3078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6444000" y="3078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teilt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8640000" y="3078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8640000" y="3078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moderiert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396000" y="3636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396000" y="3636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Kurse &amp; Marketplace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2556000" y="3636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2556000" y="3636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lernt/kauft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00000" y="3636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4500000" y="3636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6444000" y="3636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6444000" y="3636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verkauft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8640000" y="3636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8640000" y="3636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396000" y="4194000"/>
            <a:ext cx="2015640" cy="43164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396000" y="4194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 &amp; Rechte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2556000" y="4194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2556000" y="4194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privat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500000" y="4194000"/>
            <a:ext cx="1799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500000" y="4194000"/>
            <a:ext cx="1799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Teamrechte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444000" y="4194000"/>
            <a:ext cx="201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444000" y="4194000"/>
            <a:ext cx="201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Vereinsrechte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8640000" y="4194000"/>
            <a:ext cx="2195640" cy="431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8640000" y="4194000"/>
            <a:ext cx="219564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Plattformrechte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96000" y="5076000"/>
            <a:ext cx="935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</a:rPr>
              <a:t>Für jeden Use Case steht das Testkonto in der Überschrift bzw. in den Voraussetzungen.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Zugang, Profil und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Registrierung, Login, Passwort, 2FA, Profil, Datenschutz, Push, Deep Links, Entwicklungsmodus und die Vier-Geräte-Abnahme.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UC-01–04 · UC-63–66 · UC-83–85 · UC-91 · UC-93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15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396000" y="450000"/>
            <a:ext cx="647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Sportler, soziale Funktionen und Gesundheit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396000" y="121968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Sportprofil, Vereinssuche, Matching, Freunde, Feed, Stories, Ernährung, Sportkarte, Sport-Apps und Reifegrad.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96000" y="1872000"/>
            <a:ext cx="46796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UC-05 · UC-11 · UC-14–17 · UC-28–30 · UC-36–40 · UC-52–53 · UC-68 · UC-73 · UC-78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16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Trainer, Teams, Training und Events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Teams, Einladungen, Kader, Trainingsplanung, Logs, Übungen, Feedback, Anwesenheit, Events und Eventchat.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UC-07–10 · UC-31 · UC-50–51 · UC-71–72 · UC-89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17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Verein, Mitglieder und Finanzen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Vereinsprofil, Mitgliedsanträge, Formulare, Anforderungen, Rollen, Kommunikation, Mitgliedskarte, Beiträge, Rechnungen und Bankabgleich.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ea58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UC-06 · UC-20–27 · UC-31 · UC-49 · UC-74–77 · UC-80 · UC-88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Feed, Posts, Chat, Dateien und Moderation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Posts, Kommentare, Stories, Nachrichten, Gruppen, Dateien, Meldungen, Einsprüche, Richtlinien und Support.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db277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396000" y="1872000"/>
            <a:ext cx="46796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UC-11–13 · UC-28 · UC-37–39 · UC-58 · UC-62 · UC-67 · UC-69–70 · UC-79 · UC-81 · UC-91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db2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0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Kurse, Lernstudio und Zertifikate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Kurse, Einschreibung, Lektionen, Fortschritt, Notizen, Quiz, Aufgaben, Bewertungen, Zertifikate und Studio-Reports.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UC-17 · UC-36–38 · UC-46–48 · UC-60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1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Marketplace, Commerce und Verkäufer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Suche, Filter, Wunschliste, Warenkorb, Checkout, Überweisung, Bestellung, Rückgabe, Erstattung, Produkte, Bestand, Steuern, Versand, Kampagnen und Payouts.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ca8a0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UC-19 · UC-41–45 · UC-86–87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Abos, Outfit und Sponsoren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Persönliche und Vereinsabos, Rechnungen, Outfit-Style, Lieferungen, Sponsorprofile, Kampagnen, Leads, Ads und Website-Anfragen.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9333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UC-18 · UC-32 · UC-54–57 · UC-61 · UC-80 · UC-92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3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09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Admin, Plattform und Governance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Nutzer, Rollen, Sportarten, Badges, Gamification, Moderation, Vereinsprüfung, Mail-Zentrale, Providerkosten, Systemstatus, Support und 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UC-33 · UC-55–63 · UC-78 · UC-82–84 · UC-90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4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396000" y="252000"/>
            <a:ext cx="287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Kapitel 10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396000" y="450000"/>
            <a:ext cx="647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Öffentliche Bereiche und End-to-End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396000" y="918000"/>
            <a:ext cx="50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Vereine, Events, Jobs, Blog, Marketplace, Kurse, Zertifikatsprüfung, Kontakt, vier Geräte und Abschlussbereinigung.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96000" y="1872000"/>
            <a:ext cx="467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</a:rPr>
              <a:t>UC-34–36 · UC-67 · UC-80 · UC-85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96000" y="2664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396000" y="3780000"/>
            <a:ext cx="5111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9640" cy="4391640"/>
          </a:xfrm>
          <a:prstGeom prst="rect">
            <a:avLst/>
          </a:prstGeom>
          <a:ln w="0">
            <a:noFill/>
          </a:ln>
        </p:spPr>
      </p:pic>
      <p:sp>
        <p:nvSpPr>
          <p:cNvPr id="26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UC-01: Neues Benutzerkonto registrieren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neuer Nutzer legt ein Konto an, erhält die Verifizierungsaufforderung und kann danach den Einrichtungsprozess starten.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Eine noch nicht verwendete Test-E-Mail-Adresse liegt vor. 2. Das Postfach kann geöffnet werden. 3. Kein aktives Konto mit dieser E-Mail ist bereits angemeldet.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öffnen und die öffentliche Airmius-Seite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Vorname und Nachname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Test-E-Mail-Adresse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Sicheres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Geburtsdatum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Pflichtfelder, Datenschutz und erforderliche Einwilligungen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Prüfen, ob eine erfolgreiche Registrierung oder ein verständlicher Validierungsfehler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Verifizierungs-E-Mail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992000" y="4212000"/>
            <a:ext cx="3455640" cy="828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UC-01: Neues Benutzerkonto registrieren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360000" y="558000"/>
            <a:ext cx="234000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Auf den Bestätigungslink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Zurück zur Web-App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Mit dem neuen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Handy 1 öffnen und die Airmius-App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Auf „Registrieren“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Die Pflichtfelder genauso ausfüllen wie im Web.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Ein absichtlich leeres Pflichtfeld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Prüfen, ob die App den Fehler am richtigen Feld anzeigt.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Formular mit korrekten Testdaten erneut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E-Mail verifizieren.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7992000" y="3276000"/>
            <a:ext cx="3455640" cy="86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UC-01: Neues Benutzerkonto registrieren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360000" y="558000"/>
            <a:ext cx="234000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UC-02: Benutzer meldet sich an und ab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vorhandener Nutzer kann sich sicher anmelden, landet in seiner richtigen Rollenansicht und kann sich wieder abmelden.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Konto ist angelegt und E-Mail ist bestätigt. 2. Konto ist aktiv und nicht gesperrt. 3. Testpasswort ist bekannt.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Airmius-Webseite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E-Mail des Sportlerkontos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Prüfen, ob „Mein Sport“ oder „Feed“ als Sportlerstartseite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Oben rechts das Benutzerprofil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„Abmelden“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Prüfen, dass wieder die öffentliche Seite oder Login-Seite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7992000" y="4212000"/>
            <a:ext cx="3455640" cy="828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UC-02: Benutzer meldet sich an und ab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60000" y="558000"/>
            <a:ext cx="216000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E-Mail und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Auf „Anmelden“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Prüfen, ob unten „Training“, „Vereine &amp; Teams“, „Feed“, „Ernährung“ und „Profil“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Auf das Profil-Symbol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„Abmelden“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Abmeldung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7992000" y="3276000"/>
            <a:ext cx="3455640" cy="86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UC-03: Passwort wiederherstellen und Sicherheit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kann ein vergessenes Passwort zurücksetzen und seine Kontosicherheit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Zugriff auf die Test-E-Mail. 2. Ein aktives Testkonto.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„Passwort vergessen“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„Link senden“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E-Mail öffnen und den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Neues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Zur Login-Seite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dem neuen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7992000" y="4212000"/>
            <a:ext cx="3455640" cy="1008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UC-03: Passwort wiederherstellen und Sicherheit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360000" y="558000"/>
            <a:ext cx="252000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Passwortänderung erneut mit einem zweiten Testpasswort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Zwei-Faktor-Authentifizierung prüfen, wenn sie für die Umgebung aktiviert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Andere Browser-Sitzungen anzeigen und gegebenenfalls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Login-Bildschirm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„Passwort vergessen“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E-Mail senden und den Link aus dem Postfach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Neues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vervollständigt persönliche Daten, Sportarten, Skills, Ziele und Sichtbarkeit.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Sportler ist angemeldet. 2. Mindestens eine Test-Sportart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Oben rechts das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„Einstellungen“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Tab „Profil“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Name, Profilbild und Beschreibung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„Speichern“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Tab „Adresse“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Nur Testadresse eintragen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Tab „Sportprofil“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„Sportart hinzufügen“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Sportart und Disziplin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7992000" y="4212000"/>
            <a:ext cx="3455640" cy="828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7992000" y="4212000"/>
            <a:ext cx="3455640" cy="10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Erfahrungslevel, Status und Ziel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Eine Leistungskennzahl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Sichtbarkeit der Kennzahl auf „privat“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Sportprofil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Öffentliche Profilansicht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die private Kennzahl nicht öffentlich sichtbar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Unten „Profil“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„Sportprofil“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Sportart, Disziplin, Level und Ziel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Sichtbarkeit auf privat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Profil neu laden und die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findet einen Verein, prüft dessen Profil und stellt eine Mitgliedschaftsanfrage.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Sportlerkonto ist angemeldet. 2. Testverein ist öffentlich sichtbar oder über die Suche erreichbar. 3. Sportler ist noch nicht Mitglied oder hat eine offene Testanfrage.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mit dem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Oben rechts in das Suchfeld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Warten, bis Suchergebnisse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Das Ergebnis mit dem Typ „Verein“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Vereinsname, Beschreibung, Sportarten, Standort und öffentliche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Zum Bereich „Mitglied werden“ oder „Beitreten“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„Mitgliedschaft anfragen“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Falls vorhanden, Team und Nachricht auswählen/eingeben.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Erfolgsnachricht und Status „In Prüfung“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Prüfen, ob der Testverein unter eigenen Anfragen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„Anfrage zurückziehen“ nur als separaten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Handy 1 öffnen und als Sportler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Unten „Vereine &amp; 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Im Suchfeld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Testverein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Profil und Teams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„Mitgliedschaft anfragen“ oder „Beitreten“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Team auswählen, wenn eine Auswahl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Nachricht eingeben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Status der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entscheidet über den Antrag und der Sportler erhält den neuen Mitgliedsstatus.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UC-05 ist erfolgreich abgeschlossen. 2. Verein-Admin besitzt Berechtigung für Mitglieder.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1 öffnen und mit dem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„Vereinsverwaltung“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„Mitglieder &amp; Finanzen“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Tab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Offenen Antrag des Sportlers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Profil und 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„Annehmen“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Vereinsrolle „Mitglied“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Falls angeboten,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Entscheidung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Sportler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Status „Vereinsmitglied“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Handy 2 oder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„Anfragen“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Sportlerantrag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Rolle und Team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Trainer erstellt ein Team, weist Rollen zu und lädt einen Sportler 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Trainer ist dem Testverein zugeordnet. 2. Trainer besitzt Team-Berechtigung. 3. Sportlerkonto und Testverein existieren.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„Trainer &amp; Team“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„Team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Teamname „Airmius Testteam“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Saison oder Zeitraum eintragen,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Testlogo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„Team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Teamprofil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„Mitglieder einladen“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Sportlerkonto oder Sportler-E-Mail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Rolle „Player“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„Einladung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Unten „Vereine &amp; Teams“ oder Menü &gt; „Teams“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„Team erstellen“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Verein, Teamname,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„Einladen“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Rolle „Player“ wählen und 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UC-08: Teammitglied nimmt Einladung an und Rolle wird geändert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eingeladener Sportler tritt dem Team bei; der Trainer kann die Teamrolle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UC-07 hat eine offene Einladung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Team-Einladung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Verein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Teamprofil und Rolle „Player“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„Trainer &amp; Team“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UC-08: Teammitglied nimmt Einladung an und Rolle wird geändert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„Airmius Testteam“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Sportler und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Rolle auf „Captain“ ändern, wenn die Rolle für den Test freigegeben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Sportlergerät aktualisieren und neue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Rolle wieder auf „Player“ zurückstellen.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Trainer plant eine Einheit. Der Sportler sieht sie, dokumentiert die Durchführung und der Trainer gibt Feedback.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Trainer und Sportler sind im selben Team. 2. Testteam ist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„Trainer &amp; Team“ &gt; „Trainingsplanung“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„Trainingsplan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Titel und Ziel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Zeitraum und Hinweise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„Plan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„Einheit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Datum, Dauer und Intensität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 Testübung aus der Übungsbibliothek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Einheit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Plan dem Sportler oder Team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Unten „Training“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Geplante Testeinheit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Übungen, Dauer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„Training dokumentieren“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Dauer und Belastung/RPE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Notiz „Test durchgeführt“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Training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Trainingslog öffnen und gespeicherte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„Trainer-Cockpit“ &gt; „Feedback“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Den neuen Trainingslog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Feedback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Trainer erstellt einen Termin. Sportler antworten darauf und der Trainer sieht die Anwesenheit.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Trainer besitzt Event-Berechtigung. 2. Ein Team oder Verein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„Events &amp; Anwesenheit“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Schritt „Grunddaten“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Titel, Sportart, Verein und Testteam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Schritt „Zeit“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Start, Ende und Zeitzone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Schritt „Details“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Ort, Beschreibung und Teilnahmeoptionen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Schritt „Review“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Angaben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Event speichern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Menü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Datum, Uhrzeit, Ort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„Zusage“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Optional Kommentar oder Rückfrage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Event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Zusagestatus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Sportler mit „Zusage“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Bei einem Testtermin Anwesenheit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veröffentlicht einen Beitrag, kommentiert, liked, markiert hilfreich und meldet einen Testinhalt.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Sportler ist angemeldet. 2. Feed-Berechtigung ist vorhanden.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„Mein Sport“ &gt; „Feed“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Im Composer den Testtext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Testbild oder ungefährliche Datei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„Veröffentlichen“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Eigenen Beitrag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„Bearbeiten“ anklicken, Text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Beitrag liken.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„Hilfreich“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Kommentar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Kommentar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Kommentar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Beitrag über das Drei-Punkte-Menü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Löschbestätigung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Unten „Feed“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Testbeitrag schreiben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Like, hilfreich und Kommentar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Über das Beitragsmenü einen Testbeitrag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Testgrund auswählen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UC-12: Trainer und Sportler schreiben im Chat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Zwei Nutzer tauschen eine Nachricht aus und sehen den Lesestatus sowie den Ungelesen-Zähler.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Sportler und Trainer sind aktiv. 2. Beide Konten dürfen Nachrichten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Oben auf „Nachrichten“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Vorhandenen Trainerchat öffnen oder neue Unterhaltung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Nachricht „Testnachricht Sportler“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Senden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Prüfen, ob die Nachricht im Chat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Oben das Nachrichten-Symbol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Den 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Nachricht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UC-12: Trainer und Sportler schreiben im Chat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„Testantwort Trainer“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lädt ein Dokument hoch, teilt es mit einem Team und Sportler/Trainer können es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Verein und Team existieren. 2. Test-PDF oder Testbild liegt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1 öffnen und als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„Dateien“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Bereich „Verein“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„Ordner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Ordnername „Testdokumente“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Ordner speichern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„Datei hochladen“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Testdatei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Upload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Datei öffnen oder Vorschau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„Teilen“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Zieltyp „Team“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Freigabe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Menü &gt; „Dateien“ oder „Teamdateien“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Ordner „Testdokumente“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Datei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Inhalt oder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„Vereine &amp; Teams“ &gt;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Teamdateien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Datei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Datei herunterladen,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UC-14: Sportler findet Sportpartner und verwaltet Freunde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sucht einen passenden Sportpartner, sendet eine Anfrage und nimmt eine Freundschaftsanfrage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Zwei Sportler-Testkonten existieren. 2. Sportart, Ort und Testprofile sind angelegt.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Menü &gt; „Sport-Matching“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Modus „Sportpartner“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Sportart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Radius und Niveau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„Suchen“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Ergebnis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Anfrage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Zweites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Anfrage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UC-14: Sportler findet Sportpartner und verwaltet Freunde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Web oder App &gt; „Freunde“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E-Mail des zweiten Testkontos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„Einladen“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Zweites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Freundschaftsanfrage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Freundesliste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Freundschaft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Menü der Freundschaft öffnen und Meldung/Entfernen nur mit Testdaten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UC-15: Sportler erfasst Ernährung und Wasser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erfasst Mahlzeit, Wasser und ein Ernährungsziel; die Tagesübersicht wird aktualisiert.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„Mein Sport“ &gt; „Ernährung“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„Schnell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Titel „Testmahlzeit“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Menge und Kalorien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Makronährstoffe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Mahlzeit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„Wasser“ oder „Trinken“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Testmenge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Wasserziel öffnen und Testziel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UC-15: Sportler erfasst Ernährung und Wasser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„Lebensmittel finden“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Testlebensmittel suchen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Mahlzeit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Mahlzeit wieder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Unten „Ernährung“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Mahlzeit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Wasser über „Trinken“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Tageszusammenfassung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UC-16: Sportler plant eine Route und prüft Live-Tracking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plant eine Teststrecke, speichert sie und prüft Standort-/Tracking-Funktionen.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Handy hat Standortfreigabe nur für die App-Testdauer. 2. Eine sichere Testumgebung ohne Veröffentlichung privater Orte.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„Mein Sport“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„Route planen“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Zwei oder mehr Testpunkte auf der Karte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Einen Punkt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Namen „Teststrecke“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Gespeicherte Route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Route bearbeiten oder löschen,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Menü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UC-16: Sportler plant eine Route und prüft Live-Tracking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„Live-Tracking“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Standortberechtigung nur während der Nutzung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Tracking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Position, Zeit und Distanz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Tracking stoppen.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Ergebnis speichern oder verwerfen.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Route oder Track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UC-17: Sportler nimmt an Kurs teil und erhält Badge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startet einen Kurs, speichert Fortschritt und sieht Badges/Zertifikate.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Web oder App &gt; „Meine Kurse“ beziehungsweise Menü &gt;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Kursdetails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„Kurs starten“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Erste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Inhalt bis zum Ende lesen beziehungsweise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Zur Kursübersicht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Fortschrittsbalken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UC-17: Sportler nimmt an Kurs teil und erhält Badge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Badge und 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Bei abgeschlossenem Kurs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UC-18: Sportler verwaltet ein Outfit-Abo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pflegt das Style-Profil und prüft Pause, Fortsetzen und Kündigung eines Test-Abos.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Seitenleiste oder App-Menü „Outfit-Abo“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Style-Profil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Größen, Farben und Präferenzen mit Testwerten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Style-Profil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Lieferübersicht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Testlieferung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Abo-Details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„Pausieren“ auswählen und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Status „Pausiert“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„Fortsetzen“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UC-18: Sportler verwaltet ein Outfit-Abo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Status „Aktiv“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Kündigung nur bei einem Test-Abo öffnen und 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UC-19: Käufer legt ein Marketplace-Produkt in den Warenkorb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Käufer findet ein Angebot, legt es in den Warenkorb und prüft den Bestellstatus mit einer Testzahlung.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Web oder App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Testprodukt oder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Produktbild, Beschreibung, Preis, Anbieter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„In den Warenkorb“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Menge prüfen und gegebenenfalls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Test-Zahlungsart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Zahlungs- und Bestellübersicht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Bestellung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UC-19: Käufer legt ein Marketplace-Produkt in den Warenkorb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Erfolgsseite oder Überweisungsanweisung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Bestellstatus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Bestellung und E-Mail-Bestätigung prüfen, falls eingerichtet.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UC-20: Verein erstellt und veröffentlicht sein Profil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legt Basisdaten, Bilder, Sichtbarkeit und öffentliche Vorschau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Verein-Admin darf Vereine erstellen. 2. Testlogo und Testtitelbild liegen vor.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„Vereine &amp; 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„Verein registrieren“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Vereinsname und Kurzname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Kontakt- und Standortdaten als Testdaten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Sportarten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Sichtbarkeit auf öffentlich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Vereinslogo und Titelbild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Vereinsnummer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UC-20: Verein erstellt und veröffentlicht sein Profil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„Verein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Änderungen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Öffentliche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Prüfen, ob nur freigegebene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„Profil bearbeiten“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Basisdaten und Testbild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Profilvorschau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UC-21: Verein fügt ein Mitglied per E-Mail hinzu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erfasst ein externes Mitglied und versendet eine Einladung zur Verknüpfung.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Verein-Admin öffnet „Mitglieder &amp; Finanzen“. 2. Test-E-Mail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1 mit dem Vereins-Admin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„Vereinsverwaltung“ &gt;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„Mitglied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Name und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Vereinsrolle „Mitglied“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Status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Mitgliedsnummer und Beitrag als Testwerte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„Einladung senden“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UC-21: Verein fügt ein Mitglied per E-Mail hinzu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Mitglied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Externe-Mitglieder-Liste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Testpostfach öffnen und Einladungslink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Mit dem Testkonto anmelden oder Konto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Zur Vereinsverwaltung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Verknüpfung und Mitgliedsstatus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UC-22: Verein importiert mehrere Mitglieder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lädt eine Vorlage herunter, importiert Testmitglieder und prüft die Validierung.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„Excel-Vorlage“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Zwei oder drei Testzeilen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Eine absichtlich fehlerhafte Zeile ergänzen.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Datei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„Importieren“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Vorschau und Warnungen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Fehlerhafte Zeile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UC-22: Verein importiert mehrere Mitglieder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Import erneut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„Einladungen senden“ nur mit Test-E-Mail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Import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Alle importierten Personen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Status, Rolle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UC-23: Verein bearbeitet Beitrittsanfrage und Mitgliedsdaten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entscheidet über eine Anfrage und pflegt Status, Mitgliedsnummer, Lizenznummer und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Sportler mit Handy 1 eine Vereinsanfrage senden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„Mitglieder &amp; Finanzen“ &gt;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„Annehmen“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Sportlerzeile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Bearbeiten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Mitgliedsnummer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Lizenznummer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UC-23: Verein bearbeitet Beitrittsanfrage und Mitgliedsdaten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Beitrag und Intervall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Nächstes Rechnungsdatum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Eintrittsdatum und interne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Status „Vereinsmitglied“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Zeile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Alle Werte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UC-24: Verein legt Mitgliedschaftstyp und Beitragsregel an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definiert einen Mitgliedschaftstyp und einen wiederkehrenden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Tab „Beitragsregeln“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„Mitgliedschaftstyp hinzufügen“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Name „Test Standardmitgliedschaft“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„Typ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„Neue Beitragsregel“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Mitgliedschaftstyp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Gültigkeitsbeginn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Intervall „monatlich“ oder „jährlich“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UC-24: Verein legt Mitgliedschaftstyp und Beitragsregel an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Testbetrag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Altersbereich nur mit Testwerten 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Aktive und historische Regeln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Testmitglied dem neuen Typ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UC-25: Verein erstellt Rechnung, erfasst Zahlung und sendet Erinnerung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erstellt eine Testrechnung, erfasst eine Zahlung, prüft Status und versendet eine Erinnerung.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„Mitglieder &amp; Finanzen“ &gt;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Testmitglied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„Rechnung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Titel, Betrag, Zeitraum und Fälligkeit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Rechnung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Tab „Rechnungen“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Neue Rechnung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Status „Offen“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„Zahlung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UC-25: Verein erstellt Rechnung, erfasst Zahlung und sendet Erinnerung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Testbetrag, Datum und Zahlungsmethode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Zahlung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Status „Bezahlt“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Für eine zweite Testrechnung Status „Überfällig“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„Erinnerung/Mahnung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Bestätigungsnachricht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Sportlerkonto öffnen und Rechnungsinformation prüfen, falls freigegeben.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UC-26: Verein prüft Finanzen, Bankabgleich, SEPA und DATEV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kontrolliert Kassenbuch, Bankimport und planabhängige Exporte mit anonymisierten Testdaten.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Keine echten Bankdaten verwenden. 2. Abo-Plan und verfügbare Berechtigungen vorher notieren.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Buchungen werden korrekt gespeichert. Planabhängige Funktionen zeigen bei fehlender Freischaltung einen verständlichen Hinweis und führen keinen unvollständigen Export aus.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UC-27: Verein prüft Audit-Log und Planlimits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Vereinsaktionen sind nachvollziehbar und Limit-/Premium-Hinweise sind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Eine Teständerung an einem Mitglied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Eine Testrechnung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„Mitglieder &amp; Finanzen“ &gt; „Audit“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Alle drei Aktionen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Zeitpunkt und handelndes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Mitgliederlimit, Teamlimit und Speicherverbrauch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 planabhängige Funktion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Prüfen, ob ein Upgrade-Hinweis statt eines unklaren Fehlers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Änderungen sind mit Zeit und Konto nachvollziehbar. Limits und gesperrte Funktionen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UC-28: Benachrichtigung führt zum richtigen Ziel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erhält eine Benachrichtigung zu Einladung, Antrag, Chat, Event oder Rechnung und gelangt über den Link zum richtigen 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Testevent oder Testnachricht mit dem Trainerkonto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Sportlergerät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Neue Benachrichtigung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Zurück zur Benachrichtigungsliste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Einzelne Meldung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 zweite Meldung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„Alle als gelesen markieren“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Zähler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UC-28: Benachrichtigung führt zum richtigen Ziel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Web-Topbar öffnen und denselben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UC-29: Sportler verwaltet Einstellungen, Sprache, Datenschutz und Integrationen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Persönliche Einstellungen werden gespeichert und sensible Daten bleiben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Tab „Sprache“ öffnen und Deutsch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Optional Englisch auswählen und prüfen, ob sichtbare Navigation übersetzt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Tab „Design“ öffnen und hell/dunkel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Tab „Datenschutz“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Profil- und Sportdaten-Sichtbarkeit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Privatsphäre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Tab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Testprovider verbinden oder vorhandene Verbindung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Synchronisation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UC-29: Sportler verwaltet Einstellungen, Sprache, Datenschutz und Integrationen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Verbindung trennen, falls ein Testprovider verwendet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Tab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Importierte Aktivität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Aktivität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UC-30: Minderjähriger Nutzer und Elternzustimmung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minderjähriger Nutzer wird geschützt, bis ein Elternteil die Einwilligung erteilt oder ablehnt.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Minderjährigen-Testkonto mit Test-Geburtsdatum. 2. Eltern-Test-E-Mail. 3. Keine echten Familien- oder Gesundheitsdaten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Registrierung mit Test-Geburtsdatum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Eltern-E-Mail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Registrierung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Warteseite „Elternzustimmung“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Versuchen, eine soziale Funktion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Prüfen, ob sie bis zur Zustimmung geschützt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Elternzustimmungs-E-Mail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Kind, Einwilligungstext und Version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„Zustimmen“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UC-30: Minderjähriger Nutzer und Elternzustimmung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Optional Elternlogin per Zugangscode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Verknüpftes Kind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Benachrichtigungen und Zustimmungsstatus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UC-31: Verein veröffentlicht Beitrag, Event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kommuniziert eine Nachricht über Feed, Event und Dokumente an die richtigen Personen.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Vereinsbeitrag „Test Vereinsnews“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Beitrag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„Events &amp; Anwesenheit“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Vereins- oder Teamevent mit Testdaten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Event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Testdokument in Vereinsbereich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Dokument mit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UC-31: Verein veröffentlicht Beitrag, Event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Feedbeitrag, Event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Trainergerät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Teamzugriff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UC-32: Sponsoring- oder Commerce-Angebot als Entwurf anlegen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oder Anbieter erstellt ein Testangebot beziehungsweise eine Kampagne, ohne es versehentlich live zu schalten.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„Sponsoren“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„Kampagne/Angebot erstellen“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Titel, Beschreibung und Test-Ziel-URL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Budget oder Preis nur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Status „Entwurf“ oder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Keine Live-Aktivierung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Testentwurf wieder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Entwurf bleibt unsichtbar für die Öffentlichkeit, bis eine ausdrücklich erforderliche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UC-33: Plattform-Admin prüft Nutzer, Rollen und Moderation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Plattform-Admin kann Verwaltung und Moderation öffnen; normale Nutzer können diese Bereiche nicht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Plattform-Admin-Testkonto ist vorhanden. 2. Moderations-Testmeldung existiert.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Mit Plattform-Admin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„Users“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Sportlerkonto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Profil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Testrolle und Berechtigung nur anzeigen oder mit Testwert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Status und Entscheidung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UC-33: Plattform-Admin prüft Nutzer, Rollen und Moderation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„Vereinsprüfung“, „Sportarten“, „Badges“ und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Nur Testobjekte anlegen oder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App mit Plattform-Admin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Menü-Symbol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„Admin“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„Nutzer“, „Rollen &amp; Rechte“ oder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UC-34: Vollständiger Paralleltest über vier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Ende-zu-Ende-Ablauf verbindet Sportler-App, Trainer-App, Vereins-Web und Gegenkonto-Web.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Aktionen werden zwischen Web und App korrekt synchronisiert. Keine Aktion erscheint beim falschen Verein, Team oder Benutzer.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UC-35: Fehler sauber aufnehmen und Nachtest durchführen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Jeder Fehler wird so dokumentiert, dass er reproduziert und erneut geprüft werden kann.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Use-Case-Nummer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Rolle und E-Mail-Testkonto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Gerät und Betriebssystem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Browsername oder App-Version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Internet/WLAN und API-Umgebung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Exakten Klickweg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Erwartetes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Tatsächliches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Fehlertext wörtlich kopieren.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Screenshot oder Bildschirmaufnahme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UC-35: Fehler sauber aufnehmen und Nachtest durchführen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Uhrzeit und Zeitpunkt des letzten erfolgreichen Versuchs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Fehler einmal mit einem zweiten Konto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Fehler einmal in Web und einmal in App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Fehlerstatus auf „Fehler“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Nach der Korrektur denselben Klickweg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Ergebnis auf „Bestanden“ oder „Nachtest“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UC-36: Gast besucht die öffentlichen Bereiche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nicht angemeldeter Besucher kann die öffentlichen Funktionen ansehen und findet den Weg zu Registrierung, Login oder Kontakt.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Browser im privaten 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Startseite öffnen und Logo, Hauptversprechen und Einstiegsschaltflächen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„Preise“ oder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Zielgruppen Sportler und Verein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„Veranstaltungen“ öffnen und öffentliche Events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„Marketplace“ öffnen und Produktliste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 Marketplace-Produkt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„Blog“ öffnen und Artikelliste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UC-36: Gast besucht die öffentlichen Bereiche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Blogartikel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„Jobs“ öffnen und Stellenliste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„E-Learning“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„Gamification“ und „Top-Inhalte“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Kontakt-/Meldeformular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Sprache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Impressum, Datenschutz, AGB, Community-Richtlinien, Jugendschutz, Cookies und Widerruf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Von jeder Seite „Registrieren“ oder „Anmelden“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UC-37: Besucher liest Blogartikel und verwendet öffentliche Inhalte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Besucher findet, filtert und öffnet Blogartikel und kann einen Artikel über eine direkte URL wieder aufrufen.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Öffentliche Seite „Blog“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Kategorien oder Filter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Suchfeld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Artikelkarte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Titel, Autor, Datum, Kategorie, Vorschaubild und Inhalt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Bilder im Artikel öffnen oder vergrößern.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Externe Links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Zurück zur Blogliste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Einen Artikel über seine direkte URL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Nicht vorhandenen Slug öffnen und Fehlerseite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UC-37: Besucher liest Blogartikel und verwendet öffentliche Inhalte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Artikel auf Handy-Browser oder App-Gastbereich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Redaktion kann Kategorien und Blogartikel als Entwurf anlegen, Vorschau prüfen, bearbeiten und löschen.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Plattformkonto mit Blog-Berechtigung. 2. Testbild und Testtext.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Als 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„Blog-Kategorien“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„Kategorie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Name, Slug, Beschreibung und Aktivstatus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Kategorie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Kategorie bearbeiten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„Blogs“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„Neuen Blogbeitrag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Titel, Slug, Teaser und Hauptinhalt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Beitragsbild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Über „Content-Bild hochladen“ ein Testbild in den Inhalt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Status als Entwurf oder geplant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Vorschau auf Desktop und Mobilbreite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Beitrag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Beitrag veröffentlichen, wenn die Oberfläche den Status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Öffentliche Blogseite öffnen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Testbeitrag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Testkategorie löschen, sofern sie nicht mehr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UC-39: Feed-Story erstellen, ansehen, reagieren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erstellt eine Story, ein anderer Nutzer sieht sie, reagiert darauf und die Story kann ablaufen oder gelöscht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Sportler-App oder Web-Feed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Story-Composer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Testbild oder kurzen Testtext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Story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Story-Leiste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Eigene Story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Zur nächsten Story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Story als angesehen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Reaktion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Mit dem zweiten Konto den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UC-39: Feed-Story erstellen, ansehen, reagieren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Story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Reaktion und Aufrufstatus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Eigene Teststory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Prüfen, dass sie nicht mehr in der Story-Leiste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UC-40: Profile folgen, blockieren und empfehlen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kann ein anderes Profil ansehen, folgen, entfolgen, blockieren und eine Empfehlung oder Skill-Bestätigung abgeben.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Mit dem Sportlerkonto die globale Suche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Testprofil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Profilseite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Sichtbare Sportarten und Skills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Feed oder Profil aktualisieren und Followstatus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„Entfolgen“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Einen Skill auswählen und „Bestätigen“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Empfehlung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Mit dem Empfängerkonto Empfehlung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UC-40: Profile folgen, blockieren und empfehlen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Mit einem dritten Testprofil das ursprüngliche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Prüfen, ob Profil und soziale Aktionen gemäß Schutzregeln verborgen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UC-41: Marketplace durchsuchen, Wunschliste und Anbieterprofil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Besucher oder Käufer findet Produkte, filtert sie, speichert einen Wunsch und öffnet das Anbieterprofil.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Öffentliche Seite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Produktarten wie Produkt, Kurs und Camp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Suchfeld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Kategorie- und Preisfilter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Sortierung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Produktdetail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Bilder, Beschreibung, Preis, Liefer-/Teilnahmeinformationen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Herz-/Wunschlisten-Schaltfläche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„Wunschliste“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Produkt aus der Wunschliste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UC-41: Marketplace durchsuchen, Wunschliste und Anbieterprofil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Anbieterprofil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Anbieterbeschreibung und weitere Angebote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Menü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Produkt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Produkt speichern oder zur Wunschliste hinzufügen,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Zur Produktliste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UC-42: Marketplace-Kauf, Gast-Checkout, Überweisung und Bestellstatus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Käufer führt einen Testkauf durch, prüft Erfolg, Abbruch, Überweisung und den öffentlichen Bestellstatus.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„Kaufen“ oder „Checkout“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Käuferdaten und Test-Liefer-/Kontaktadresse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Preis, Steuer, Versand und Gesamtbetrag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Testzahlung auswählen oder Überweisung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Kauf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Erfolgsseite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Bestellnummer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Überweisungsseite öffnen, falls diese Zahlungsart gewählt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Bankdaten und Verwendungszweck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UC-42: Marketplace-Kauf, Gast-Checkout, Überweisung und Bestellstatus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Bestellstatus über den erhaltenen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Status „offen“, „bezahlt“ oder „in Bearbeitung“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Einen zweiten Testcheckout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Checkout abbrechen.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Prüfen, dass der abgebrochene Auftrag nicht als bezahlt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Als Gast den Retouren-/Rückgabeweg öffnen, wenn das Produkt ihn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Rückgabegrund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Rückgabe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UC-43: Marketplace-Verkäufer bewirbt sich und reicht ein Produkt ein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Anbieter beantragt Verkäuferzugang, reicht ein Produkt ein und verfolgt den Prüfstatus.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Konto mit Anbieterfunktion oder Testkonto. 2. Testproduktdaten und Testbilder.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„Marketplace“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„Verkäufer werden“ oder Verkäuferbereich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Anbietername, Beschreibung, Kontakt und Auszahlungsdaten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Verkäuferantrag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Status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Als 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Verkäuferantrag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Antrag öffnen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Als Anbieter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„Eigenes Produkt einreichen“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UC-43: Marketplace-Verkäufer bewirbt sich und reicht ein Produkt ein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Titel, Kategorie, Beschreibung, Preis, Steuer, Bestand und Versand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Produktbilder und Testdokumente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Produkt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Zur Prüfung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Admin-Ansicht aktualisieren und Produktstatus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Admin konfiguriert Marketplace-Betrieb und überprüft die Auswirkungen im Checkout.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Als Plattform-Admin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Marketplace-Visuals prüfen und Teständerung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Marketplace-Provisionen prüfen und Testwert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„Produkt anlegen“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Titel, Typ, Preis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Bestand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Produkt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Bestand erhöhen.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Bestand verringern.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Produkt deaktivieren oder löschen, wenn es ein Testprodukt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Versandrate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Versandrate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Steuerrate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Steuerrate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Coupon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Couponwert, Gültigkeit und Bedingungen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Coupon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Commerce-Einstellungen öffnen und Testeinstellung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CSV-Export öffnen und Download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Öffentlichen Checkout mit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Versand, Steuer und Coupon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UC-45: Admin-Commerce bearbeitet Bestellung, Rückgabe und Auszahlung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Eine Bestellung wird verwaltet, bezahlt, versendet, bei Problemen bearbeitet, erstattet und als Auszahlung vorbereitet.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Testbestellung aus UC-42 existiert. 2. Keine echten Zahlungen oder Auszahlungen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Bestellung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Bestellansicht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Gutschrift-Testdokument öffnen, falls eine Gutschrift vorliegt.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Überweisung als bezahlt markieren, falls zutreffend.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Versandstatus und Tracking-Testwert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Bestellung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 Testproblemmeldung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Issue-Status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UC-45: Admin-Commerce bearbeitet Bestellung, Rückgabe und Auszahlung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Antwort an den Käufer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Rückgabeantrag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Rückgabestatus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Erstattung nur als Testaktion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Auszahlungsempfänger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Payout-Profil als Testprofil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Auszahlung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Admin-Commerce erneut laden und Audit-/Statuswerte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Lernender nimmt an einem Kurs teil und nutzt alle Teilnehmerfunktionen.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Öffentlicher oder geschützter Testkurs existiert. 2. Kurs enthält Lektion, Quiz und Aufgabe.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„Meine Kurse“ oder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Testkurs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Kursdetails, Preis und Voraussetzungen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„Einschreiben“ oder „Kurs starten“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Fortschritt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Notiz zur Lektion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Lernkommentar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Quiz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Antworten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Quiz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Ergebnis und Wiederholungsstatus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Testantwort oder Testdatei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Abgabe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Eine Bewertung mit Teststernen und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Kursübersicht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Fortschrittsanzeige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Zertifikat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Öffentliche Zertifikatsprüfung mit Code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UC-47: Trainer oder Redaktion erstellt Kurs im Lernstudio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berechtigter Nutzer baut einen Kurs mit Abschnitten, Lektionen, Medien und Reihenfolge auf.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Berechtigung für „Sportschule“, „Lernstudio“ oder Content-Management. 2. Testbilder, Testvideo oder Test-PDF.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„Sportschule“ oder „Lernstudio“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„Kurs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Titel, Beschreibung, Zielgruppe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Kurs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Abschnitt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Abschnittstitel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Lektionstyp, Titel und 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Testasset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Lektion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UC-47: Trainer oder Redaktion erstellt Kurs im Lernstudio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Zweite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Lektionen per Drag-and-drop oder „Reihenfolge“ umsortieren.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 Lektion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 Testlektion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Kursvorschau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Kursstatus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Testeinschreibung vergeben.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Einschreibung wieder entziehen.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Kursreport als CSV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Kursautor erstellt Bewertungs- und Kommunikationsfunktionen sowie einen Kurscoupon.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Testkurs im Lernstudio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Quiz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Frage und Antwortoptionen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Richtige Antwort und Punkte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Quizvorschau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Testquiz als Teilnehmer absolvieren.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Aufgabe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Aufgabe, Abgabefrist und Bewertungslogik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Testeinreichung als Teilnehmer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Im Lernstudio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Abgabe bewerten.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Punktzahl und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Teilnehmerkommentar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Kommentar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Kommentar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Kurscoupon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Code, Rabatt und Gültigkeit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Coupon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Coupon im Checkout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Kursqualität oder Review-Status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Admin-Qualitätsstatus ändern, falls die Berechtigung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UC-49: Verein veröffentlicht Ankündigung, Umfrage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informiert Mitglieder, lässt abstimmen und stellt Richtlinien-/Zustimmungsdokumente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„Kommunikation“ oder „Ankündigungen“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Testankündigung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Zielgruppe Verein oder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Titel, Text und optional Testbild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Ankündigung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„Umfrage“ oder „Survey“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Frage und Antwortoptionen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Ablaufdatum als Testdatum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Umfrage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UC-49: Verein veröffentlicht Ankündigung, Umfrage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Ankündigung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Umfrage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Ergebnis oder eigene Stimme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Vereinsverwaltung &gt; „Dokumente/Policy“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Testrichtlinie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Dokument als sichtbar oder erforderlich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Mitgliedskonto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Dokument öffnen und Zustimmung abgeben, falls erforderlich.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UC-50: Team verwaltet Anwesenheit, Verfügbarkeit und Straf-/Gebührenregeln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Trainer oder Teammanager prüfen Anwesenheit, Abwesenheit und Testgebühren eines Teams.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Trainerkonto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Zeitraum oder 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Anwesenheitswerte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„Verfügbarkeit/Abwesenheit“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Testabwesenheit für einen Sportler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Zeitraum und Grund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Teamregeln oder „Strafen“ öffnen, falls die Funktion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UC-50: Team verwaltet Anwesenheit, Verfügbarkeit und Straf-/Gebührenregeln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Testregel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Regeltyp, Betrag und Auslöser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Testgebühr für ein Mitglied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Gebühr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Zweite Gebühr stornieren.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Teamübersicht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UC-51: Eventchat und Fahrgemeinschaft vollständig testen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Teilnehmer kommunizieren im Eventchat und organisieren eine Fahrt.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Testevent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„Eventchat“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Trainer antwortet.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Nachricht als gelesen und optional Reaktion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„Fahrgemeinschaften“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„Fahrt anbieten“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Start, Ziel, Zeit, Plätze und Treffpunkt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Fahrt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UC-51: Eventchat und Fahrgemeinschaft vollständig testen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Fahrt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„Mitfahren“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Fahrer/Teammanager öffnet Anfrage.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Teilnehmerliste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Mitglied entfernen oder Fahrt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Fahrt bearbeiten oder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UC-52: Sport-App-Integration synchronisiert und importiert Aktivität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verbindet einen Testprovider, synchronisiert Aktivitäten, importiert eine Aktivität und trennt die Verbindung.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„Einstellungen“ &gt;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Verfügbare Provider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Einen Testprovider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„Verbinden“ oder „Anfrage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Providerfreigabe mit Testkonto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Zurück zu Airmius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Verbundenes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„Synchronisieren“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Synchronisationsstatus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UC-52: Sport-App-Integration synchronisiert und importiert Aktivität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Titel, Typ, Dauer, Distanz und Kalorien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Aktivität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Aktivität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Integration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Konto und Importstatus entfernt oder inaktiv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UC-53: Sportkarte verwaltet Orte, Routen und Tracks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speichert Sportorte, bearbeitet Routen und verwaltet Tracks vollständig.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Testort auf der Karte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„Ort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Titel, Kategorie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Ort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Ort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„Route planen“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Punkte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Routen-Generator/Vorschlag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UC-53: Sportkarte verwaltet Orte, Routen und Tracks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Route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Route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„Tracks“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Trackpunkte setzen oder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Track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Track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Track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UC-54: Persönliches Abo, Checkout, Rechnung und Kündigung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oder Verein wählt einen Plan, startet Checkout, prüft Rechnung und kündigt oder verlängert das Test-Abo.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Öffentliche Seite „Preise/Abos“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Zielgruppe Sportler oder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Planvergleich und Feature-Limits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Test-Zahlungsart wählen: Testzahlung oder Überweisung.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Rechnungsdaten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Checkout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Erfolgs- oder Überweisungsseite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„Abos &amp; 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UC-54: Persönliches Abo, Checkout, Rechnung und Kündigung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Aktiven Plan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Abo-Rechnung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Provider-Portal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Abo kündigen oder zum Periodenende beenden.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Abo als Admin oder über Testdaten erneuern.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Offene Testzahlung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UC-55: Admin verwaltet Abo-Pläne und Abo-Rechnungen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Plattform-Admin pflegt Pläne, weist sie Nutzern/Vereinen zu und bearbeitet Rechnungsstatus.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Zielgruppe, Preis, Limits, Badge, CTA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Einen Testwert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Verein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Testnutzer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Vereinsabo zum Periodenende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Vereinsabo manuell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Nutzerabo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Nutzerabo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UC-55: Admin verwaltet Abo-Pläne und Abo-Rechnungen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„Abo-Rechnungen“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Überweisung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Status und Aktivierung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UC-56: Admin verwaltet Outfit-Pläne, Lieferungen und Zahlungsstatus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Admin verwaltet Outfit-Pläne und bearbeitet Lieferung, Probleme und Zahlungen.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„Outfit-Abos“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Outfit-Plan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Name, Preis,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Plan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Plan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Outfit-Visuals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Testkunde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Zahlungsstatus auf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Zahlungsstatus auf offen/nicht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Zahlungserinnerung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UC-56: Admin verwaltet Outfit-Pläne, Lieferungen und Zahlungsstatus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Lieferadresse als Testadresse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Lieferung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Status „Versendet“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Status „Geliefert“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Testproblem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Problem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Lieferung löschen, sofern es ein Testobjekt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UC-57: Sponsorprofil, Kampagne und Werbeagentur-Anfrage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Sponsor pflegt sein Profil, erstellt eine Kampagne und ein Verein stellt eine Website-/Werbeagentur-Anfrage.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Sponsor-Cockpit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Sponsorprofil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Name, Logo, Beschreibung und Kontakt mit Testdaten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„Kampagnen &amp; 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Testkampagne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Ziel-URL, Zielgruppe, Budget und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Kampagne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Kampagne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Öffentliche Sponsorenseite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Sichtbarkeit und Paket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UC-57: Sponsorprofil, Kampagne und Werbeagentur-Anfrage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Vereinsdaten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Website-/Werbeanfrage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Admin &gt; Commerce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Website-Anfrage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Status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UC-58: Admin verwaltet Moderation, Meldung und Einspruch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Eine Meldung wird erstellt, geprüft, entschieden und ein möglicher Einspruch bearbeitet.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Sportler erstellt eine Testmeldung zu Beitrag, Profil, Kommentar oder Freund.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Admin &gt;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Meldung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Inhalt und Meldegrund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Meldungsstatus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Maßnahme oder Entscheidung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Bei Testmeldung einen Einspruch erzeugen, falls der Flow dies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Einspruch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Einspruch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UC-58: Admin verwaltet Moderation, Meldung und Einspruch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Moderationslog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Prüfen, dass Zeit, Fall und Entscheidung protokolliert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UC-59: Admin verwaltet Nutzer, Rollen, Sportarten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Admin legt einen Testnutzer, eine Testrolle, eine Sportart und ein Badge an und prüft deren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„Users/Nutzer“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„Nutzer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Testname, Test-E-Mail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Nutzer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Nutzer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Rolle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Admin &gt;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Testrolle oder Testberechtigung anzeigen/erstellen.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Berechtigung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Als Testnutzer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UC-59: Admin verwaltet Nutzer, Rollen, Sportarten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Sichtbare Menüs und gesperrte Aktionen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Admin &gt; „Sportarten“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Test-Sportart oder Disziplin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Sportart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Sportlerprofil öffnen und Sportart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Testbadge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Badge bearbeiten und Fortschrittsregel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Testbadge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UC-60: Admin verwaltet Gamification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XP-Regeln, Badge-Regeln und Fortschritt werden angezeigt und als Testwerte geändert.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Regelübersicht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Testregel oder vorhandene Testregel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Kategorie, Auslöser, XP und Tageslimit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Mit einem Testkonto die Aktion ausführen, die XP auslöst.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XP- und Badge-Fortschritt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Testbadge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UC-60: Admin verwaltet Gamification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Testregel zurücksetzen oder Testbadge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UC-61: Admin verwaltet Rechnungen, Zahlungen und Betriebskosten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Plattform-Admin kontrolliert interne Rechnungen, Zahlungen und laufende Betriebskosten.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„Invoices“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Testrechnung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Status auf offen, bezahlt, überfällig oder storniert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Rechnung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Admin &gt; „Payments“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Zahlung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Zahlung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Admin &gt; „Betriebskosten“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9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UC-61: Admin verwaltet Rechnungen, Zahlungen und Betriebskosten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Testvertrag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Kosten, Anbieter, Zeitraum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Vertrag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Vertrag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Provider-Kosten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Kostenübersicht und Zeitraum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UC-62: Admin verwaltet Mail-Zentrale und Zustellstatus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Admin prüft Mailpräferenzen, Absender, Testversand, fehlgeschlagene Zustellungen und erneuten Versand.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„Mail-Zentrale“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Mailpräferenzen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Testsender-Kategorie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Test-Absender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„Test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Testpostfach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Mailzustellung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Status erfolgreich/fehlgeschlagen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Fehlgeschlagene Testmail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„Erneut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UC-62: Admin verwaltet Mail-Zentrale und Zustellstatus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Lieferung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Versand- und Fehlerdetails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UC-63: Datenschutz, Export, Korrektur, Einwilligungen und Konto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kann seine Datenschutzrechte und sichere Kontolöschung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Datenschutzbereich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Datenexport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Export herunterladen oder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Korrekturanfrage für Testdaten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Einwilligungen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Einwilligung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Prüfen, welche Funktion dadurch eingeschränkt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Kontolöschung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Löschcode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UC-63: Datenschutz, Export, Korrektur, Einwilligungen und Konto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Code aus Test-E-Mail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Löschung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Erneut anmelden und prüfen, dass das Konto gelöscht, anonymisiert oder gesperrt ist, wie es die Umgebung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UC-64: Mobile App prüft Push, Deep Link, Sync und Offline-Status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mobile App synchronisiert Rollen-/Featuredaten, registriert Push, öffnet Deep Links und zeigt Offline-Zustände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"/>
          <p:cNvSpPr/>
          <p:nvPr/>
        </p:nvSpPr>
        <p:spPr>
          <a:xfrm>
            <a:off x="6012000" y="720000"/>
            <a:ext cx="5435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Android-Testgerät oder iOS-Testgerät. 2. Push-Berechtigung darf für den Test erteilt werden. 3. Für lokale API keine localhost-Adresse auf einem echten Handy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App installieren oder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App öffnen und Berechtigungs-Onboarding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Benachrichtigungen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Standort, Kamera und Dateien nur bei Bedarf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Rolle und freigeschaltete Module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Push-Gerät registrieren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Mit dem zweiten Konto eine Testnachricht oder Einladung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Push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Prüfen, ob die App direkt das richtige Ziel öffnet.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UC-64: Mobile App prüft Push, Deep Link, Sync und Offline-Status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App schließen und erneut über den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App-Sync ausführen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Datenstand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Netzwerk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Eine unterstützte Offline-Aktion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Netzwerk wiederherstellen.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Synchronisation und mögliche Warteschlange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Prüfen, dass private Daten nach dem Logout nicht im falschen Konto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UC-65: Mobile Navigation und Web-Parität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wichtigsten Funktionen sind in Web und App erreichbar und die rollenabhängigen Menüs stimmen.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Sportler-Web und Sportler-App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Startseite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Feed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Vereine &amp; Teams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Training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Ernährung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Profil und Einstellungen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Trainer-Web und Trainer-App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Trainer-Cockpit, Teams, Training, Events, Dateien und Nachrichten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Verein-Web und Vereins-App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5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UC-65: Mobile Navigation und Web-Parität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Vereins-Cockpit, Teams, Events, Dateien, Mitglieder und Finanzen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Admin-Web und Admin-App vergleichen, sofern die Module freigegeben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Fehlende Funktion notieren und prüfen, ob sie nur Web-only oder App-only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Falsche Rollenfreigabe als Sicherheitsfehler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vorgesehenen Anmeldewege funktionieren und ein Konto bleibt auch bei falschem oder fehlendem Sicherheitscode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"/>
          <p:cNvSpPr/>
          <p:nvPr/>
        </p:nvSpPr>
        <p:spPr>
          <a:xfrm>
            <a:off x="6012000" y="720000"/>
            <a:ext cx="5435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Ein Testkonto mit bestätigter E-Mail-Adresse verwenden. 2. Zugriff auf das Testpostfach und auf die hinterlegte Authenticator-App oder Test-2FA-Konfiguration sicherstellen. 3. Google-/Microsoft-Testkonto nur verwende…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Abmelden und die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„Mit Google anmelden“ oder „Mit Microsoft anmelden“ anklicken, sofern der Button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Das Testkonto des Providers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Die Einwilligung prüfen und den Rücksprung zu Airmius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Prüfen, dass kein zweites Airmius-Konto versehentlich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Abmelden und erneut mit E-Mail und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2FA in „Profil“ &gt;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Zwei-Faktor-Authentifizierung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QR-Code oder Einrichtungsschlüssel mit der Test-Authenticator-App hinterlegen.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Den Bestätigungscode eingeben und Recovery-Codes sicher als Testnachweis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Abmelden und erneut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Einen falschen 2FA-Code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Prüfen, dass eine verständliche Fehlermeldung erscheint und kein Login erfolgt.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Den richtigen 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Einen Recovery-Code einmal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ein verbrauchter Recovery-Code kein zweites Mal funktioniert.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Einen neuen Satz Recovery-Codes erzeugen, falls die Funktion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2FA wieder deaktivieren und die Sicherheitsbestätigung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Die App auf dem Handy öffnen und „Anmelden“ oder „Registrieren“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Den alternativen Provider-Button testen, falls er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Nach erfolgreicher Rückkehr prüfen, ob der richtige Nutzername und die richtige Rolle geladen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Unter „Profil“ &gt; „Einstellungen“ &gt; „Sicherheit“ den 2FA-Status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Einrichtung, falschen Code, richtigen Code und Recovery-Code wie im Web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Die App vollständig beenden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Prüfen, dass die Sitzung und der Sicherheitsstatus korrekt wiederhergestellt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"/>
          <p:cNvSpPr/>
          <p:nvPr/>
        </p:nvSpPr>
        <p:spPr>
          <a:xfrm>
            <a:off x="360000" y="720000"/>
            <a:ext cx="5435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nicht angemeldeter Besucher kann alle öffentlichen Einstiege öffnen, Informationen lesen, eine Kontaktanfrage senden und ein öffentlich prüfbares Zertifikat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Ein privates Browserfenster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Die Startseite ohne Login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Das öffentliche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„Veranstaltungen“ öffnen und Liste, Filter und Detailseite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„Jobs“ öffnen und eine Stellenbeschreibung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Interesse an der Teststelle anklicken und die vorgesehenen Kontaktdaten ausfüllen.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„Blog“ öffnen und eine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Einen Artikel öffnen und RSS-/öffentliche Linkdarstellung prüfen,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„Kurse“ oder „E-Learning“ öffnen und einen öffentlichen Kurs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„Marketplace“ öffnen und ein Produktdetail sowie einen Anbieter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„Sponsoren“ oder „Werbeagentur“ öffnen und öffentliche Inhalte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 Pflichtfeld leer lassen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der Fehler am richtigen Feld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Die Kontaktanfrage mit Testdaten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Einen Test-Zertifikatscode in „Zertifikat prüfen“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Einen gültigen und anschließend einen ungültigen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Zurück zur öffentlichen Startseite gehen und sicherstellen, dass keine privaten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Die App ohne Login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„Blog &amp; Medien“, „Marketplace“, „Kurse“ oder „öffentliche Inhalte“ auswählen, sofern diese Bereiche im Gastmodus angeboten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Einen öffentlichen Eintrag öffnen und den Zurückweg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„Support kontaktieren“ oder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Pflichtfeld- und Erfolgsfall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Die Zertifikatsprüfung öffnen und gültigen/ungültigen Code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27. Prüfen, dass ein Gast keinen geschützten Vereins-, Chat- oder Mitgliederbereich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UC-68: Nutzerstatus, Profilverbindungen und Empfehlungen verwalten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kann seinen Status, Beziehungen zu anderen Profilen und Empfehlungen nachvollziehbar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Zwei Testkonten auf Laptop 1 und Laptop 2 oder auf zwei Handys anmelden. 2. Die Profile der beiden Konten dürfen sich gegenseitig 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Profilmenü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Den Nutzerstatus auf „online“, „offline“, „im Training“ oder „abwesend“ setzen,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Speichern und das Profil mit dem zweiten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Prüfen, ob nur die freigegebene Statusinformation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Im Profil des zweiten Kontos „Folgen“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Mit dem ersten Konto die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„Folgen“ wieder aufheben und den Unterschied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Das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dem zweiten Konto prüfen, dass geschützte Interaktionen und Kontaktaufnahme entsprechend eingeschränkt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UC-68: Nutzerstatus, Profilverbindungen und Empfehlungen verwalten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Eine Profil-Empfehlung oder Skill-Empfehlung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Mit dem zweiten Konto die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 zweite Empfehlung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Einen Skill bestätigen oder „Endorsement“ ausführen,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Die öffentliche Profilansicht, Sichtbarkeit und Aktivitätsstatus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der Nutzer nicht doppelt in Listen oder Empfehlungen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UC-69: Chat vollständig verwalten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erstellt Einzel- und Gruppenchats, verwaltet Teilnehmer, Lesestatus, Stummschaltung, Reaktionen und Nachrichtenlebenszyklus.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Drei Testkonten bereithalten: Sportler, Trainer und Verein. 2. Die Konten dürfen miteinander chatten.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„Nachrichten“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„Neue Unterhaltung“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 Einzelgespräch mit dem Trainerkonto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 Testnachricht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Mit dem Trainerkonto die Nachricht öffnen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Mit dem Sportlerkonto den Lesestatus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Auf die Nachricht reagieren.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 weitere Nachricht verbergen und eine eigene Testnachricht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 Unterhaltung als stummgeschaltet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Einen Gruppenchats mit Verein, Trainer und Sportler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UC-69: Chat vollständig verwalten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Gruppennamen und Beschreibung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Einen Teilnehmer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Einen Teilnehmer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Den Eigentümer auf ein anderes berechtigtes Konto übertragen.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Mit dem neuen Eigentümer prüfen, ob die Verwaltungsaktionen verfügbar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Eine Chat-Einladung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Eine zweite Chat-Einladung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„Tippt gerade“ oder Präsenzstatus prüfen, falls im UI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Den Chat mit einem Konto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Prüfen, dass nur berechtigte Konten die Nachrichten weiter sehen können.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UC-69: Chat vollständig verwalten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Oben auf das Nachrichten-Symbol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Einzelchat und Gruppenchat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Nachricht senden, lesen, reagieren, verbergen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Über das Drei-Punkte-Menü Chat stummschalten.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Teilnehmer hinzufügen, entfernen und Chat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Chat-Einladung im Benachrichtigungsbereich annehmen und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27. App schließen, neu öffnen und prüfen, dass der ungelesene Zähler korrekt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lädt Dateien hoch, organisiert sie in Ordnern, teilt sie gezielt und prüft Vorschau, Download und Löschung.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8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Eine harmlose Testdatei, ein Testbild und ein Test-PDF bereithalten. 2. Einen Empfänger mit eingeschränkter Berechtigung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Einen neuen Ordner „Test 2026“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Den Ordner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 Testdatei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Das Testbild in den Ordner verschieben, falls Verschieben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Dateiname und Beschreibung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Bild und PDF über „Vorschau“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Jede Datei herunterladen und die Datei im Downloadordner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 Datei für ein anderes Konto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Den Freigabebereich auf Nutzer, Team, Verein oder Event einschränken, sofern auswählbar.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6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Mit dem Empfängerkonto die Datei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Prüfen, dass eine nicht freigegebene Datei nicht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Freigabe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Einen Ordner teilen und danach die Ordnerfreigabe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Einen Ordner mit Testinhalt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Eine Datei löschen und den Papierkorb-/Bestätigungsdialog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Einen öffentlichen oder tokenbasierten Download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Einen abgelaufenen oder falschen Download-Link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Drawer &gt;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Ordner anlegen, umbenennen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9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Datei über Kamera, Galerie oder Dateiauswahl hochladen, falls die App die Quelle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Datei öffnen, Vorschau und Download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Teilen auswählen und Empfänger sowie Sichtbarkeit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Mit dem zweiten Konto die Freigabe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Freigabe entziehen und Datei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Netzwerkfehler während Upload simulieren und prüfen, ob ein erneuter Upload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oder Trainer erstellt ein Event, veröffentlicht es, sammelt Teilnahme- und Entscheidungsdaten und schließt es sauber ab.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„Events“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Persönliche Eventfilter oder Standardfilter öffnen und einen Testfilter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Titel, Beschreibung, Sportart, Ort, Start, Ende und Sichtbarkeit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Team auswählen und Wiederholung testen,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Event speichern und Detailseite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Mit dem Sportlerkonto „Teilnehmen“, „Vielleicht“ oder „Absagen“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Teilnahme wieder verlassen und erneut beitreten.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dem Veranstalterkonto Eventdaten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Einen Kommentar schreiben und mit dem anderen Konto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3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Eine Entscheidung/Abstimmung für das 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Mit den Teilnehmerkonten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Abstimmung schließen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Für Testteilnehmer anwesend, abwesend oder entschuldigt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Eventchat öffnen und eine 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Event absagen und die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 reines Testevent löschen und die Sicherheitsabfrage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Bottom-Navigation oder Drawer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Eventliste, Filter und Detailansicht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Testevent erstellen oder ein vorhandenes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Teilnahme ändern, Kommentar schreiben, Abstimmung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Eventchat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Als Trainer/Verein Anwesenheit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Event absagen und prüfen, ob Status und Push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Sportler und Trainer testen den vollständigen Trainingszyklus von Übung und Planung bis Log, Feedback, Verfügbarkeit und Analyse.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Sportler- und Trainerkonto sind demselben Testteam zugeordnet. 2. Eine kurze Testwoche verwenden, damit keine echten Trainingsdaten entstehen.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„Trainer-Cockpit“ oder „Trainingsplanung“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Übungsbibliothek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Testübung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Übung bearbeiten und anschließend nur das Testobjekt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Einen Trainingsplan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Die Testübung als Planposition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Dauer, Intensität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 Planposition duplizieren, ändern und eine Position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Plan als Vorlage speichern oder aus einer Vorlage erzeugen, sofern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Plan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Plan an das Testteam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AI-Planer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 Vorschau mit Testziel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Die Vorschau prüfen und nur bei Bedarf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Einen Trainingsfeedback-Eintrag an den Sportler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Den veröffentlichten Plan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Verfügbarkeit oder Abwesenheit für einen Testtag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Eine Einheit starten und Aktivität, Dauer, Belastung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Entwurf bearbeiten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Feedback vom Trainer öffnen und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Eine Einheit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Trainingsanalyse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Prüfen, dass Wochenwerte, Fortschritt und Belastungsdaten plausibel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Bottom-Navigation &gt;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27. Plan, Übung, Log-Entwurf, Feedback und Analytics nacheinander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28. Den Trainingsstatus ändern und App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29. Prüfen, dass der veröffentlichte Plan und der Log auf allen Geräten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0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UC-73: Ernährung mit Suche, Barcode und Bildanalyse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Sportler erfasst Ernährung und Wasser sowohl manuell als auch mit den vorhandenen Such- und Analysefunktionen.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„Ernährung“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Tagesziel für Kalorien oder Makros als Testwert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Mahlzeit manuell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Einen Lebensmittelbegriff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Suchergebnis auswählen und Menge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 Mahlzeit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Wasseraufnahme in mehreren kleinen Einträgen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Tagesübersicht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Barcode-Scanner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Einen Testbarcode scannen oder eine Testnummer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UC-73: Ernährung mit Suche, Barcode und Bildanalyse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Treffer, kein Treffer und ungültigen Barcode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Fotoanalyse für eine Testmahlzeit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Nur ein nicht sensibles Testbild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Erkanntes Ergebnis prüfen und vor dem Speichern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Analyse abbrechen und prüfen, dass kein falscher Eintrag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Ziel ändern und prüfen, dass die Auswertung neu berechnet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7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konfiguriert seinen Vereinsbereich, Mitgliedsarten, Aufnahmeformulare, Anforderungen und Rollenrechte.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Verein-Admin oder Vereinsbesitzer verwenden. 2. Nur Testfelder und Testdokumente anlegen.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Vereinsprofil, Logo, Bilder, Beschreibung und Kontaktdaten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Sichtbarkeitseinstellungen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Öffentliche Darstellung und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 Mitgliedsart „Test Jugend“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Beitrag, Zahlungsintervall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Beitragsregel mit Start-/Enddatum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Mitgliedschaftsformular-Builder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 Pflichtfeld, ein Auswahlfeld und ein Einwilligungsfeld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Feldreihenfolge ändern und Formular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Anforderungs-Builder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Testdokument oder Zustimmung als Anforderung definieren.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Onboarding mit einem neuen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Formular unvollständig absenden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Formular vollständig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Mit dem Verein die Anfrage öffnen und fehlende Anforderungen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Eine Testrolle anlegen oder bestehende Rechte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Ein Recht vorübergehend ändern und mit dem betroffenen Testkonto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Testrecht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UC-75: Vereinsankündigung, Umfrage, Richtliniendokument und Mitgliedskarte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informiert Mitglieder, lässt sie abstimmen, stellt Richtlinien bereit und prüft eine digitale Mitgliedskarte.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„Ankündigungen“ oder Vereinskommunikation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Testankündigung mit Titel, Text, Zielgruppe und optionalem Anhang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Eine Testumfrage mit mindestens zwei Antwortoptionen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Umfrage öffnen und Laufzeit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Richtliniendokument hochladen oder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Dokumentversion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Digitale Mitgliedskarte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Mitgliedsnummer und Kartendaten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UC-75: Vereinsankündigung, Umfrage, Richtliniendokument und Mitgliedskarte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QR-Code mit dem zweiten Gerät scannen oder den Prüfdialog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Karte rotieren, falls ein Sicherheitswechsel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Mit dem Sportlerkonto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Ankündigung lesen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Umfrage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Prüfen, dass eine zweite Stimme nicht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Richtliniendokument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Mitgliedskarte öffnen und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Einen falschen oder abgelaufenen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UC-76: Vereinsmitglieder, Import, externe Personen und Mitgliedslebenszyklus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verwaltet interne und externe Mitglieder inklusive Import, Einladung, Rollen, Nummern, Pause, Kündigung und Austritt.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 externes Testmitglied manuell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E-Mail-Einladung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Mit dem Empfängerkonto 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Einladung mit einem zweiten Testdatensatz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Eine anonymisierte Test-CSV mit gültiger und ungültiger 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Importvorschau öffnen und Fehlerzeile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Mitgliedsnummer vergeben und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UC-76: Vereinsmitglieder, Import, externe Personen und Mitgliedslebenszyklus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Mitgliedstyp und Rolle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Berechtigungen des Mitglieds öffnen und ein Testrecht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Status auf Pause setzen und Pauseanfrage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Kündigungs- oder Beendigungsanfrage als Testfall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Einspruch gegen eine Entfernung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Austritt durchführen oder den Testdatensatz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Prüfen, dass das ehemalige Mitglied keinen Vereinsbereich mehr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Keine echten Personen- oder Bankdaten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UC-77: Vereinsfinanzen mit Vorauszahlung, Spende, Kassenbuch und Bankabgleich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testet alle finanziellen Erfassungen ohne echte Zahlungsdaten.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Eine Test-Mitgliedsrechnung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Zahlung als offen, bezahlt und überfällig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Mahnung versenden und Versandstatus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Eine Testzahlung erfassen und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 Vorauszahlung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Eine Testspende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Kassenbuch-/Finance-Eintrag anlegen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Einen anonymisierten Bank-CSV-Import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Importvorschau und fehlerhafte 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UC-77: Vereinsfinanzen mit Vorauszahlung, Spende, Kassenbuch und Bankabgleich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Eine Testtransaktion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SEPA-Einstellungen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DATEV-Einstellungen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Einen offenen Eintrag stornieren oder den Status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Prüfen, dass nur Verein-Admins Finanzdaten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Testdateien und Testbuchungen nach dem Test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UC-78: Altersfreigabe, Reifegrad, Sicherheit und Guardian-Gates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Alters- und Sicherheitsregeln verhindern ungeeignete Inhalte und ermöglichen korrekte Elternzustimmung.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Ein erwachsenes Sportlerkonto, ein Minderjährigen-Testkonto und ein Elternkonto bereitstellen. 2. Testinhalte mit unterschiedlichen Altersfreigaben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Minderjährigenkonto anmelden und Onboarding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Altersgruppe und Content-Gate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„Eltern &amp; Jugendschutz“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Elternkontakt eintragen oder Einladung versenden.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Elternkonto öffnen und Zustimmung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Mit dem Kind prüfen, welche Funktionen nun freigeschaltet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Elternzustimmung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Prüfen, dass eingeschränkte Bereiche wieder blockiert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Elternkonto öffnen und Kinderübersicht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Kinderdaten und Freigabestatus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"/>
          <p:cNvSpPr/>
          <p:nvPr/>
        </p:nvSpPr>
        <p:spPr>
          <a:xfrm>
            <a:off x="7992000" y="4212000"/>
            <a:ext cx="345564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UC-78: Altersfreigabe, Reifegrad, Sicherheit und Guardian-Gates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Zustimmung erneut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Mit einem nicht berechtigten Konto versuchen, Kinderinformationen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„Altersfreigaben“ oder „Reifegrad“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Übersicht, Motivation, Challenges, Trending/Discovery, Coach-Woche und Sicherheitsbereich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Route-Analytics oder personalisierte Empfehlungen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Ungeeigneten Inhalt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"/>
          <p:cNvSpPr/>
          <p:nvPr/>
        </p:nvSpPr>
        <p:spPr>
          <a:xfrm>
            <a:off x="7992000" y="3276000"/>
            <a:ext cx="3455640" cy="10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2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kann aus Web und App Hilfe anfordern; Support oder Admin kann das Ticket bearbeiten und der Nutzer sieht den 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Profilmenü oder Hilfe-Schaltfläche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„Support kontaktieren“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Kategorie, Betreff und Testbeschreibung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 optionales Testbild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Pflichtfeld leer lassen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Ticket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Ticketnummer und Status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„Meine Tickets“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Ticketdetail und Verlauf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Eine Rückfrage ergänzen,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4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Support- oder Adminbereich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Offene Tickets filtern.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Das Testticket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Priorität, Kategorie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Eine interne Notiz und eine Antwort hinterlegen, falls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Ticket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Mit dem Nutzerkonto Benachrichtigung und neuen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 geschlossenes Testticket erneut öffnen, falls das Produkt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Topbar oder Drawer &gt; „Support“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Ticket erstellen, Status ansehen und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5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App neu starten und prüfen, dass die Ticketnummer erhalten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UC-80: Verein erstellt Jobs und Admin prüft Vereine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Verein kann eine Teststelle veröffentlichen und verwalten; der Plattform-Admin kann eine Vereinsprüfung freigeben oder ablehnen.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Bereich „Jobs“ oder „Stellenangebote“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Teststelle mit Titel, Beschreibung, Ort, Kontakt und Bewerbungsfrist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Stelle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Öffentliche Stellenansicht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Stelle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Stelle schließen oder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Eingegangene Interessen prüfen, sofern eine Testanfrage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Admin-Konto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„Vereinsprüfung“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UC-80: Verein erstellt Jobs und Admin prüft Vereine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Unterlagen, Profil und Prüfstatus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Einen Testverein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Einen zweiten Testverein ablehnen und Begründung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Mit dem Vereinskonto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5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ein abgelehnter Verein keine nicht freigegebenen Funktionen erhält.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7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8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0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UC-81: Medienrichtlinien, Bildrechte und Inhaltsmeldung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4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Uploads und veröffentlichte Inhalte prüfen Richtlinien, Einwilligungen, Altersfreigabe und Meldewege.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6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7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0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„Medienrichtlinien“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Uploadregeln, Bildrechte, Einwilligungsregel und Altersfreigabe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Datei ohne erforderliche Einwilligung als Testfall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Upload in Feed, Dateiablage oder Kurs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Prüfen, ob Warnung, Blockierung oder Zustimmungsschritt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Einen zulässigen Testupload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Sichtbarkeit und Zielgruppe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Post, Kommentar oder Bild über „Melden“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Kategorie und Begründung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Meldung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3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5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9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UC-81: Medienrichtlinien, Bildrechte und Inhaltsmeldung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Mit Moderationskonto den Fall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Inhalt freigeben, ausblenden oder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Einspruch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Testmedien und Testmeldungen nach dem Test löschen oder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UC-82: Arbeitsbereiche wechseln und Rechtegrenzen zwischen Rollen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mit mehreren Rollen kann den Arbeitsbereich wechseln; jede Rolle sieht nur die vorgesehenen Daten und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Ein Testkonto mit mindestens zwei Arbeitsbereichen oder Rollen verwenden. 2. Ein zweites Konto ohne Admin-/Vereinsrechte bereithalten.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Einloggen und „Arbeitsbereiche“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Arbeitsbereich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Feed, Training, Profil und private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Auf „Arbeitsbereiche“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Trainer-Arbeitsbereich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Trainer-Cockpit, Teamdaten und Feedback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Vereins-Arbeitsbereich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Mitglieder und Finanzen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Zu jedem Wechsel URL, Titel, Navigation und Datenstand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Admin-URL direkt in einem Nicht-Admin-Konto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UC-82: Arbeitsbereiche wechseln und Rechtegrenzen zwischen Rollen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Prüfen, dass Zugriff verweigert oder sinnvoll umgeleitet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Eine verbotene Schreibaktion versuchen.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Prüfen, dass weder UI noch API die Aktion akzeptiert.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Topbar- oder Drawer-Menü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„Arbeitsbereiche“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Jede freigegebene Rolle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Prüfen, dass Bottom-Navigation, Module und Startseite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Ein nicht freigegebenes Modul über Suche oder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Zugriffsschutz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UC-83: Sprache, Design, Benachrichtigungen und persönliche Einstellungen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1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Persönliche Einstellungen werden gespeichert, übersetzen sichtbare Texte und steuern Benachrichtigungen sowie Darstellung.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6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Sprache auf Deutsch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Sprache auf Englisch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Hauptnavigation, Fehlermeldung und Buttontexte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Design/Theme oder Dark Mode umstellen,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App/Web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 Kategorie deaktivieren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dem zweiten Konto eine passende Testaktion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Prüfen, dass die deaktivierte Benachrichtigung nicht erscheint, während andere Kategorien weiter funktionieren.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3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UC-83: Sprache, Design, Benachrichtigungen und persönliche Einstellungen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Datenschutzsichtbarkeit für Profil, Aktivität und Sportdaten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Zeitzone oder Region prüfen,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Sprache und Theme auf Teststandard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UC-84: Datenfehler, Ladezustand, Berechtigungsfehler und Wiederholungsaktion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Alle kritischen Bereiche behandeln leere Daten, langsame Verbindung, abgelaufene Sitzung und Serverfehler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Einen Bereich ohne Datensätze öffnen, z. B. leere Wunschliste, leeres Training oder neue Dateien.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Empty State und angebotene nächste 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Netzwerk während des Ladens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Ladeindikator und Fehlermeldung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„Erneut versuchen“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Netzwerk wiederherstellen und erneut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Sitzung in einem zweiten Browser abmelden oder ablaufen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Im ersten Browser eine geschützte 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Prüfen, dass Login oder Weiterleitung erscheint und die Aktion nicht doppelt gespeichert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Ein Formular mit ungültigen Werten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199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UC-84: Datenfehler, Ladezustand, Berechtigungsfehler und Wiederholungsaktion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Validierung am richtigen Feld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Zurück- und Vorwärtsnavigation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App vollständig beenden und wieder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Prüfen, dass kein Spinner dauerhaft hängen bleibt und kein privater Inhalt im falschen Konto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UC-85: Vier-Geräte-End-to-End-Abnahme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8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Die vom Nutzer vorgesehene parallele Prüfung auf zwei Handys und zwei Laptops wird als zusammenhängender Ablauf durchgeführt.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0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Handy 1: App Sportler.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Handy 2: App Trainer.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Laptop 1: Web Verein.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Laptop 2: Web Sportler oder Admin.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Alle vier Geräte mit dem vorgesehenen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Auf Handy 1 ein Sportprofil und einen Testbeitrag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Auf Laptop 2 den Beitrag öffnen, kommentieren und melden, falls der Meldetest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Auf Handy 1 Kommentar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Auf Laptop 1 ein Testevent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Auf Handy 1 teilnehmen.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7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9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0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1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2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UC-85: Vier-Geräte-End-to-End-Abnahme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5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Auf Handy 2 Anwesenheit oder Traineransicht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Auf Laptop 1 die Teilnahme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Auf Handy 1 eine Testnachricht im Eventchat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Auf Handy 2 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Auf Laptop 1 eine Datei im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8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Auf Handy 2 die Datei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Auf Laptop 2 eine Marketplace-Testbestellung oder Kursaktion ausführen, falls vorbereitet.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Auf dem zuständigen Gerät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Alle Geräte neu laden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Daten, Benachrichtigungen, Zähler, Rollen und Berechtigungen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2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6" name=""/>
          <p:cNvSpPr/>
          <p:nvPr/>
        </p:nvSpPr>
        <p:spPr>
          <a:xfrm>
            <a:off x="360000" y="198000"/>
            <a:ext cx="107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UC-85: Vier-Geräte-End-to-End-Abnahme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Alle Testobjekte löschen oder auf Teststatus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Auf allen Geräten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UC-86: Warenkorb, Produktbewertungen, Bestellung stornieren und Dokumente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Käufer testet den vollständigen Warenkorb- und Bestelllebenszyklus inklusive Menge, Entfernen, Bewertung, Rechnung, Gutschrift und Stornierung.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„Marketplace“ öffnen und ein Testprodukt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Produktmenge auf zwei ändern und den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Prüfen, ob Zwischensumme, Steuer, Versand und Gesamtbetrag neu berechnet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 zweites Produkt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Menge wieder auf eins reduzieren.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 Produkt aus dem Warenkorb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Warenkorb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„Zur Kasse“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Coupon aus UC-44 testen, falls für das Produkt gültig.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Checkout abbrechen und prüfen, dass der Warenkorb erhalten bleibt oder der vorgesehene Status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"/>
          <p:cNvSpPr/>
          <p:nvPr/>
        </p:nvSpPr>
        <p:spPr>
          <a:xfrm>
            <a:off x="360000" y="4212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UC-86: Warenkorb, Produktbewertungen, Bestellung stornieren und Dokumente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Checkout mit Testzahlung oder Überweisung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„Meine Bestellungen“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Bestellung öffnen und Status, Rechnung und Dokumente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Bestellung stornieren, sofern der Status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Stornierungsgrund als Testwert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Gutschrift oder Rückgabedokument öffnen, falls erzeugt.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Nach erfolgreichem Testkauf eine Produktbewertung mit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Bewertung mit dem Anbieter- oder Admin-Konto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Nicht berechtigte Änderung an fremder Bewertung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2" name=""/>
          <p:cNvSpPr/>
          <p:nvPr/>
        </p:nvSpPr>
        <p:spPr>
          <a:xfrm>
            <a:off x="360000" y="3276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Verkäufer nutzt alle operativen Funktionen außerhalb des einfachen Produkts: Import, Anbieterprofil, Standorte, Kampagnen, Website-Anfrage und Auszahlung.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1. Verkäuferkonto oder freigegebener Testanbieter. 2. Nur Testdaten und keine echten Kontoverbindungen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„Commerce“ &gt; „Meine Produkte“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Test-CSV mit einer gültigen und einer fehlerhaften Produktzeile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Importvorschau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Fehlerzeile prüfen und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Produktstatus Entwurf, Prüfung, aktiv und inaktiv nacheinander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Anbieterprofil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Anbieterbeschreibung, Kontakt und Testzahlungsinformationen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Anbieterstandort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Adresse, Öffnungszeiten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Standort bearbeiten und anschließend löschen, wenn es ein Teststandort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Kampagne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Zielgruppe, Zeitraum, Budget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Kampagnengruppe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Test-Creative oder Bild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Kampagne bearbeiten, pausieren und wieder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Website-/Partneranfrage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Anfrage im Admin-Commerce öffnen und Status sowie Antwort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Auszahlungsprofil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Auszahlung als Testanfrage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Auszahlung nicht als echt bezahlt markieren, sondern nur den Workflow-Status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5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UC-88: Vereinsinventar und Ausleihe mit QR, Rückgabe und Wartung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Verein verwaltet Material, Ausleihe, Rückgabe, Schäden, QR-Code, Wartung und Audit.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Vereins-Cockpit &gt; „Inventar &amp; Ausleihe“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 Testobjekt mit Name, Kategorie, Standort, Seriennummer und Zustand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QR-Code anzeigen oder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Objekt einem Team oder Standort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Ausleihe an ein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Zeitraum, Zustand, Kaution und Rückgabehinweis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Ausleihe speichern und im Mitgliedskonto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QR-Code mit dem zweiten Handy scannen.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Objektstatus und Ausleihhistorie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Rückgabe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UC-88: Vereinsinventar und Ausleihe mit QR, Rückgabe und Wartung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Zustand, Rückgabefoto und Kommentar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Testschaden oder Gebühr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Rückgabe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Wartung mit Prüffrist oder Reparaturauftrag planen.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Admin-Benachrichtigung und Eskalation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Auditverlauf mit Benutzer und Statuswechsel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Objekt als verfügbar, ausgeliehen, reserviert oder kritisch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Nur das Testobjekt löschen oder archivieren.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5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9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Trainer oder Verein verwaltet ein Team von der Erstellung bis zur Auflösung inklusive Kader und Teamkennzahlen.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4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Ein Testteam mit Name, Sportart, Saison und Beschreibung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Teamlogo oder Testbild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Teamprofil öffnen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Sportler direkt in den Kader aufnehmen.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Einen Sportler als Testeinladung einladen.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Einladung mit dem Sportlerkonto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 zweite 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Eine öffentliche Beitrittsanfrage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Mit dem Trainerkonto Beitrittsanfrage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1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5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6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7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Eine zweite Anfrage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Teamrolle oder Kaderstatus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Ein Mitglied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Daily-Life-, Wettbewerbs- oder Competitiveness-Insights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Prüfen, dass nur Trainer und Verein interne Insights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Team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Testteam löschen oder archivieren und alle Folgehinweise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Bottom-Navigation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Team erstellen oder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4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5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8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9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0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2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Einladung, Kader, Rollen, Beitrittsanfrage und Teamdetail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App neu starten und prüfen, dass Team und Status erhalten bleiben.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5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6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9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UC-90: Admin-Plattform, inaktive Nutzer, Systemstatus und Rechte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Der Plattform-Admin verwaltet Nutzerstatus, Plattformdaten, Systemeinstellungen und Rechte mit nachvollziehbarem Schutz.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Admin &gt; „Nutzer“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Testnutzer suchen und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Status aktiv, inaktiv, gesperrt oder wieder aktiv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Eine Admin-Notiz als Testwert speichern,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Inaktive-Nutzer-Liste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Eine Testbenachrichtigung zur Inaktivität auslösen,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Testrolle erstellen oder eine Testberechtigung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Mit einem Testkonto die Wirkung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Berechtigung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2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UC-90: Admin-Plattform, inaktive Nutzer, Systemstatus und Rechte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„Sportarten“ öffnen und eine Test-Sportart oder Disziplin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„Badges“ öffnen und Testbadge anlegen, bearbeiten und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„Gamification“ öffnen und eine Testregel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„System“ oder „Plattform-Einstellungen“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Nur ungefährliche Testeinstellung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1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Systemstatus, API-/Mail-/Pushstatus und Fehlerhinweise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Admin-Subscription einem Testnutzer zuweisen oder Planstatus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Planlimits mit dem betroffenen Testkonto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Direktzugriff als Nicht-Admin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Alle Teständerungen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9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UC-91: Benachrichtigungen, Präferenzen, Lesen, Zurücksetzen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1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Nutzer verwaltet jede Benachrichtigung einzeln und global; Zähler, Push und E-Mail-Präferenzen bleiben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3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4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5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6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7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Ungelesene und gelesene Einträge unterscheiden.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Eine einzelne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Eine gelesene Benachrichtigung wieder als ungelesen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8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9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„Alle als gelesen markieren“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Prüfen, dass der Zähler auf null oder den korrekten Restwert fällt.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Einen Eintrag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Push, E-Mail und In-App-Kategorie getrennt konfigurieren.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0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2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"/>
          <p:cNvSpPr/>
          <p:nvPr/>
        </p:nvSpPr>
        <p:spPr>
          <a:xfrm>
            <a:off x="7992000" y="4212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4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5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6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UC-91: Benachrichtigungen, Präferenzen, Lesen, Zurücksetzen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8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9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Mit dem zweiten Konto eine passende Aktion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Push- und In-App-Verhalten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Die App schließen und nach einer Testaktion neu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Prüfen, dass kein alter Zähler im App-Icon oder in der Topbar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4" name=""/>
          <p:cNvSpPr/>
          <p:nvPr/>
        </p:nvSpPr>
        <p:spPr>
          <a:xfrm>
            <a:off x="7992000" y="3276000"/>
            <a:ext cx="3455640" cy="7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UC-92: Öffentliche Interessen, Standortvorschlag, Sponsor-Ads und Leadstatus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Öffentliche Besucher können Interesse oder einen Standort vorschlagen; Sponsor-/Werbekampagnen zeigen korrekte Klick- und Conversion-Zustände.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Öffentliche Seite oder Appbereich „Interesse, Ads &amp; 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Filter „Leads“, „Ads“ und „Sponsors“ einzeln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„Interesse senden“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Testkontakt und Anliegen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Anfrage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„Standort vorschlagen“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Teststandort, Adresse, Sportart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Vorschlag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„Verein empfehlen“ öffnen und einen Testverein vorschlagen.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Werbeagentur-Landingpage öffnen und Leistungen, Zielgruppen und Formate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UC-92: Öffentliche Interessen, Standortvorschlag, Sponsor-Ads und Leadstatus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Test-Kampagne mit Zeitraum, Zielgruppe und Budget öffnen oder anlegen, sofern berechtigt.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Sponsor-Anzeige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Anzeige anklicken und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Eine Conversion-Testaktion ausführen, falls ein Testbutton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Mit Sponsor-/Admin-Konto Lead, Klick und Conversion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Status von neu, in Bearbeitung, freigegeben und abgeschlossen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Prüfen, dass eine als „UI bereit“ gekennzeichnete Aktion nicht fälschlich als echte Serveraktion gilt.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2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1/4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8" name=""/>
          <p:cNvSpPr/>
          <p:nvPr/>
        </p:nvSpPr>
        <p:spPr>
          <a:xfrm>
            <a:off x="360000" y="558000"/>
            <a:ext cx="1799640" cy="23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9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0" name=""/>
          <p:cNvSpPr/>
          <p:nvPr/>
        </p:nvSpPr>
        <p:spPr>
          <a:xfrm>
            <a:off x="360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Ein Testhandy wird sicher mit dem Laptop verbunden, die App wird mit der richtigen Testumgebung gestartet und die Verbindung wird nach dem Test wieder abgesichert.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1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"/>
          <p:cNvSpPr/>
          <p:nvPr/>
        </p:nvSpPr>
        <p:spPr>
          <a:xfrm>
            <a:off x="6012000" y="720000"/>
            <a:ext cx="5435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3" name=""/>
          <p:cNvSpPr/>
          <p:nvPr/>
        </p:nvSpPr>
        <p:spPr>
          <a:xfrm>
            <a:off x="360000" y="1620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5" name=""/>
          <p:cNvSpPr/>
          <p:nvPr/>
        </p:nvSpPr>
        <p:spPr>
          <a:xfrm>
            <a:off x="360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2. „Über das Telefon“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3. „Build-Nummer“ siebenmal antippen, bis „Sie sind jetzt Entwickler“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4. Zurück zu „System“ oder „Weitere Einstellungen“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5. „Entwickleroptionen“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6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7" name=""/>
          <p:cNvSpPr/>
          <p:nvPr/>
        </p:nvSpPr>
        <p:spPr>
          <a:xfrm>
            <a:off x="6012000" y="1818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6. „USB-Debugging“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7. „USB-Installation“ oder ähnliche Optionen nur aktivieren, wenn sie für den Test notwendig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8. Das Handy mit einem Datenkabel am Laptop anschließen.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9. Auf dem Handy den RSA-/Computer-Fingerprint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10. Nur auf dem eigenen Test-Laptop „Von diesem Computer immer zulassen“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8" name=""/>
          <p:cNvSpPr/>
          <p:nvPr/>
        </p:nvSpPr>
        <p:spPr>
          <a:xfrm>
            <a:off x="360000" y="4212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"/>
          <p:cNvSpPr/>
          <p:nvPr/>
        </p:nvSpPr>
        <p:spPr>
          <a:xfrm>
            <a:off x="360000" y="4212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0" name=""/>
          <p:cNvSpPr/>
          <p:nvPr/>
        </p:nvSpPr>
        <p:spPr>
          <a:xfrm>
            <a:off x="7992000" y="4212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"/>
          <p:cNvSpPr/>
          <p:nvPr/>
        </p:nvSpPr>
        <p:spPr>
          <a:xfrm>
            <a:off x="7992000" y="4212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2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3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4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2/4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5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6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8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11. Nicht benötigte Berechtigungen wie Standort, Kamera oder Dateien nur beim konkreten App-Test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12. Terminal oder PowerShell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13. adb devices -l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14. Prüfen, dass das eigene Handy mit Status „device“ und nicht „unauthorized“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15. Bei „unauthorized“ das Handy entsperren und den RSA-Dialog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9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16. Bei „offline“ USB-Kabel, USB-Modus und Debugging neu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17. App aus Android Studio, Flutter oder der vorgesehenen Testverteilung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18. Vor dem Login prüfen, welche API-Testadresse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19. Auf einem echten Handy nicht localhost oder 127.0.0.1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20. Für einen Android-Emulator die vorgesehene Host-Adresse wie 10.0.2.2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1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2" name=""/>
          <p:cNvSpPr/>
          <p:nvPr/>
        </p:nvSpPr>
        <p:spPr>
          <a:xfrm>
            <a:off x="360000" y="3276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3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4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7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3/4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8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21–30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9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21–30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1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21. Für ein echtes Handy die erreichbare LAN-IP des Entwicklungsrechners und denselben WLAN-Testzugang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22. Prüfen, dass Firewall, HTTPS oder Zertifikat die Verbindung nicht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23. Die App öffnen und Login, Feed, Nachrichten, Push, Upload und Logout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24. adb logcat nur mit Testdaten und ohne Passwörter oder Tokens als sichtbaren Nachweis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25. App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3" name=""/>
          <p:cNvSpPr/>
          <p:nvPr/>
        </p:nvSpPr>
        <p:spPr>
          <a:xfrm>
            <a:off x="6012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26. Testdaten und lokale Logs entfernen, soweit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27. USB-Debugging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28. Entwickleroptionen vollständig deaktivieren, wenn sie nicht mehr benötigt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29. Bei fremdem oder verlorenem Laptop die zugelassenen Debugging-Computer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30. USB-Kabel abziehen.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4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"/>
          <p:cNvSpPr/>
          <p:nvPr/>
        </p:nvSpPr>
        <p:spPr>
          <a:xfrm>
            <a:off x="360000" y="3276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6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8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9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0" name=""/>
          <p:cNvSpPr/>
          <p:nvPr/>
        </p:nvSpPr>
        <p:spPr>
          <a:xfrm>
            <a:off x="360000" y="198000"/>
            <a:ext cx="10799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4/4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"/>
          <p:cNvSpPr/>
          <p:nvPr/>
        </p:nvSpPr>
        <p:spPr>
          <a:xfrm>
            <a:off x="360000" y="558000"/>
            <a:ext cx="1799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</a:rPr>
              <a:t>Fortsetzung · Klickschritte 31–31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2" name=""/>
          <p:cNvSpPr/>
          <p:nvPr/>
        </p:nvSpPr>
        <p:spPr>
          <a:xfrm>
            <a:off x="360000" y="756000"/>
            <a:ext cx="46796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Klickschritte 31–31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3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4" name=""/>
          <p:cNvSpPr/>
          <p:nvPr/>
        </p:nvSpPr>
        <p:spPr>
          <a:xfrm>
            <a:off x="360000" y="954000"/>
            <a:ext cx="543564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</a:rPr>
              <a:t>31. Prüfen, dass die App ohne Entwicklungsserver nicht versehentlich auf eine falsche Test- oder lokale Adresse 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5" name=""/>
          <p:cNvSpPr/>
          <p:nvPr/>
        </p:nvSpPr>
        <p:spPr>
          <a:xfrm>
            <a:off x="360000" y="3276000"/>
            <a:ext cx="7487640" cy="593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6" name=""/>
          <p:cNvSpPr/>
          <p:nvPr/>
        </p:nvSpPr>
        <p:spPr>
          <a:xfrm>
            <a:off x="360000" y="3276000"/>
            <a:ext cx="748764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7" name=""/>
          <p:cNvSpPr/>
          <p:nvPr/>
        </p:nvSpPr>
        <p:spPr>
          <a:xfrm>
            <a:off x="7992000" y="3276000"/>
            <a:ext cx="3455640" cy="59364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8" name=""/>
          <p:cNvSpPr/>
          <p:nvPr/>
        </p:nvSpPr>
        <p:spPr>
          <a:xfrm>
            <a:off x="7992000" y="3276000"/>
            <a:ext cx="34556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9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0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1" name=""/>
          <p:cNvSpPr/>
          <p:nvPr/>
        </p:nvSpPr>
        <p:spPr>
          <a:xfrm>
            <a:off x="396000" y="252000"/>
            <a:ext cx="97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Funktionskatalog · Kern- und Kommunikationsbereiche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"/>
          <p:cNvSpPr/>
          <p:nvPr/>
        </p:nvSpPr>
        <p:spPr>
          <a:xfrm>
            <a:off x="396000" y="576000"/>
            <a:ext cx="899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3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Zugang: Registrierung, Login, Passwort, E-Mail, 2FA, Sessions, Profilfoto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5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Profile: Status, Sprache, Sportprofil, Skills, Follow, Block, Empfehlungen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7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8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Feed: Posts, Kommentare, Likes, hilfreich, Stories, Meldungen, Einsprüche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9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Chat: Gespräche, Gruppen, Einladungen, Teilnehmer, Mute, Read, Reaktionen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1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Dateien: Upload, Vorschau, Download, Ordner, Freigabe, Shared-Link, Löschen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3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4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Sport: Aktivitäten, Integrationen, Matching, Orte, Routen, Tracks,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6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Training: Übungen, Pläne, Vorlagen, AI, Logs, Drafts, Feedback, Analytics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"/>
          <p:cNvSpPr/>
          <p:nvPr/>
        </p:nvSpPr>
        <p:spPr>
          <a:xfrm>
            <a:off x="396000" y="252000"/>
            <a:ext cx="97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Funktionskatalog · Verein, Team und Lernen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0" name=""/>
          <p:cNvSpPr/>
          <p:nvPr/>
        </p:nvSpPr>
        <p:spPr>
          <a:xfrm>
            <a:off x="396000" y="576000"/>
            <a:ext cx="899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2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Verein: Profil, Bilder, Sichtbarkeit, öffentliche Vorschau, Sponsoren, Jobs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3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Mitglieder: Anträge, externe Mitglieder, Import, Einladung, Rollen, Nummern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5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6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Beiträge: Mitgliedstypen, Regeln, Rechnungen, Zahlungen, Mahnungen, Bankabgleich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8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Export: SEPA, DATEV, Kassenbuch, Spenden, Vorauszahlungen, Audit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9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Team: Erstellen, Bilder, Kader, Rollen, Einladungen, Beitrittsanfragen, Insights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1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2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Events: Filter, Erstellen, Bearbeiten, RSVP, Kommentare, Chat, Anwesenheit, Absage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3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4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Learning: Kurse, Lektionen, Fortschritt, Notizen, Quiz, Aufgaben, Reviews, Zertifikate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5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6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7" name=""/>
          <p:cNvSpPr/>
          <p:nvPr/>
        </p:nvSpPr>
        <p:spPr>
          <a:xfrm>
            <a:off x="396000" y="252000"/>
            <a:ext cx="971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Funktionskatalog · Commerce, Admin und Plattformbetrieb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8" name=""/>
          <p:cNvSpPr/>
          <p:nvPr/>
        </p:nvSpPr>
        <p:spPr>
          <a:xfrm>
            <a:off x="396000" y="576000"/>
            <a:ext cx="899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0" name=""/>
          <p:cNvSpPr/>
          <p:nvPr/>
        </p:nvSpPr>
        <p:spPr>
          <a:xfrm>
            <a:off x="396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Marketplace: Produkte, Anbieter, Suche, Filter, Wunschliste, Warenkorb, Checkout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1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2" name=""/>
          <p:cNvSpPr/>
          <p:nvPr/>
        </p:nvSpPr>
        <p:spPr>
          <a:xfrm>
            <a:off x="6084000" y="972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Orders: Rechnung, Gutschrift, Überweisung, Versand, Rückgabe, Erstattung,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4" name=""/>
          <p:cNvSpPr/>
          <p:nvPr/>
        </p:nvSpPr>
        <p:spPr>
          <a:xfrm>
            <a:off x="396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Seller: Antrag, Produkte, Import, Bestand, Steuern, Versand, Providerstandorte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6" name=""/>
          <p:cNvSpPr/>
          <p:nvPr/>
        </p:nvSpPr>
        <p:spPr>
          <a:xfrm>
            <a:off x="6084000" y="1836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Marketing: Coupons, Kampagnen, Gruppen, Creatives, Leads, Ads, Website-Anfragen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8" name=""/>
          <p:cNvSpPr/>
          <p:nvPr/>
        </p:nvSpPr>
        <p:spPr>
          <a:xfrm>
            <a:off x="396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Subscriptions: Pläne, Checkout, Banktransfer, Rechnung, Cancel, Renew, Limits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0" name=""/>
          <p:cNvSpPr/>
          <p:nvPr/>
        </p:nvSpPr>
        <p:spPr>
          <a:xfrm>
            <a:off x="6084000" y="2700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Outfit: Styleprofil, Abo, Pause, Resume, Lieferstatus, Issue, Admin-Pläne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1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2" name=""/>
          <p:cNvSpPr/>
          <p:nvPr/>
        </p:nvSpPr>
        <p:spPr>
          <a:xfrm>
            <a:off x="396000" y="3564000"/>
            <a:ext cx="532764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Admin: Nutzer, Rollen, Rechte, Badges, Gamification, Moderation, Mail, System, Kosten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3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5" name=""/>
          <p:cNvSpPr/>
          <p:nvPr/>
        </p:nvSpPr>
        <p:spPr>
          <a:xfrm>
            <a:off x="396000" y="288000"/>
            <a:ext cx="935964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</a:rPr>
              <a:t>Nachweis und Fehlerdokumentation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6" name=""/>
          <p:cNvSpPr/>
          <p:nvPr/>
        </p:nvSpPr>
        <p:spPr>
          <a:xfrm>
            <a:off x="396000" y="684000"/>
            <a:ext cx="86396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</a:rPr>
              <a:t>Damit aus „getestet“ ein verwertbarer Befund wird.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7" name=""/>
          <p:cNvSpPr/>
          <p:nvPr/>
        </p:nvSpPr>
        <p:spPr>
          <a:xfrm>
            <a:off x="396000" y="1152000"/>
            <a:ext cx="5327640" cy="791640"/>
          </a:xfrm>
          <a:prstGeom prst="rect">
            <a:avLst/>
          </a:prstGeom>
          <a:solidFill>
            <a:srgbClr val="0f2b52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8" name=""/>
          <p:cNvSpPr/>
          <p:nvPr/>
        </p:nvSpPr>
        <p:spPr>
          <a:xfrm>
            <a:off x="396000" y="1152000"/>
            <a:ext cx="532764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Immer notieren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Use Case · Konto · Gerät · Browser/App-Version · Uhrzeit ·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9" name=""/>
          <p:cNvSpPr/>
          <p:nvPr/>
        </p:nvSpPr>
        <p:spPr>
          <a:xfrm>
            <a:off x="5976000" y="1152000"/>
            <a:ext cx="5399640" cy="791640"/>
          </a:xfrm>
          <a:prstGeom prst="rect">
            <a:avLst/>
          </a:prstGeom>
          <a:solidFill>
            <a:srgbClr val="0f2b52"/>
          </a:solidFill>
          <a:ln w="126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0" name=""/>
          <p:cNvSpPr/>
          <p:nvPr/>
        </p:nvSpPr>
        <p:spPr>
          <a:xfrm>
            <a:off x="5976000" y="1152000"/>
            <a:ext cx="539964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Bei Fehlern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Exakter Klickweg · Eingabedaten · erwartetes Ergebnis · tatsächliches Ergebnis · Screenshot · Fehlermeldung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1" name=""/>
          <p:cNvSpPr/>
          <p:nvPr/>
        </p:nvSpPr>
        <p:spPr>
          <a:xfrm>
            <a:off x="396000" y="2232000"/>
            <a:ext cx="5327640" cy="899640"/>
          </a:xfrm>
          <a:prstGeom prst="rect">
            <a:avLst/>
          </a:prstGeom>
          <a:solidFill>
            <a:srgbClr val="0f2b52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2" name=""/>
          <p:cNvSpPr/>
          <p:nvPr/>
        </p:nvSpPr>
        <p:spPr>
          <a:xfrm>
            <a:off x="396000" y="2232000"/>
            <a:ext cx="5327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Bei Berechtigungen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Mit Gegenkonto und direktem Link prüfen. Zugriff verweigert, Umleitung und Datenleck getrennt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"/>
          <p:cNvSpPr/>
          <p:nvPr/>
        </p:nvSpPr>
        <p:spPr>
          <a:xfrm>
            <a:off x="5976000" y="2232000"/>
            <a:ext cx="5399640" cy="899640"/>
          </a:xfrm>
          <a:prstGeom prst="rect">
            <a:avLst/>
          </a:prstGeom>
          <a:solidFill>
            <a:srgbClr val="0f2b52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4" name=""/>
          <p:cNvSpPr/>
          <p:nvPr/>
        </p:nvSpPr>
        <p:spPr>
          <a:xfrm>
            <a:off x="5976000" y="2232000"/>
            <a:ext cx="539964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Bei Zahlungen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</a:rPr>
              <a:t>Nur Testmodus, Überweisung oder Mock verwenden. Keine echte SEPA-Datei und keine echte Auszahlung auslösen.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5" name=""/>
          <p:cNvSpPr/>
          <p:nvPr/>
        </p:nvSpPr>
        <p:spPr>
          <a:xfrm>
            <a:off x="396000" y="3960000"/>
            <a:ext cx="97196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</a:rPr>
              <a:t>Abschluss: Testdaten löschen, alle Geräte abmelden, USB-Debugging deaktivieren.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8" name=""/>
          <p:cNvSpPr/>
          <p:nvPr/>
        </p:nvSpPr>
        <p:spPr>
          <a:xfrm>
            <a:off x="396000" y="288000"/>
            <a:ext cx="899964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</a:rPr>
              <a:t>Startpunkt für die Live-Begleitung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9" name=""/>
          <p:cNvSpPr/>
          <p:nvPr/>
        </p:nvSpPr>
        <p:spPr>
          <a:xfrm>
            <a:off x="396000" y="648000"/>
            <a:ext cx="971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</a:rPr>
              <a:t>Beginne mit UC-01. Danach gehen wir die Use Cases in der Reihenfolge der Kapitel gemeinsam durch.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0" name=""/>
          <p:cNvSpPr/>
          <p:nvPr/>
        </p:nvSpPr>
        <p:spPr>
          <a:xfrm>
            <a:off x="396000" y="1224000"/>
            <a:ext cx="7199640" cy="111564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1" name=""/>
          <p:cNvSpPr/>
          <p:nvPr/>
        </p:nvSpPr>
        <p:spPr>
          <a:xfrm>
            <a:off x="396000" y="1224000"/>
            <a:ext cx="719964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Als Nächstes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Du öffnest die Präsentation und sagst mir nur: „Ich bin bei UC-01, Schritt 1.“ Dann begleite ich dich Klick für Klick.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"/>
          <p:cNvSpPr/>
          <p:nvPr/>
        </p:nvSpPr>
        <p:spPr>
          <a:xfrm>
            <a:off x="7920000" y="1224000"/>
            <a:ext cx="3599640" cy="111564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3" name=""/>
          <p:cNvSpPr/>
          <p:nvPr/>
        </p:nvSpPr>
        <p:spPr>
          <a:xfrm>
            <a:off x="7920000" y="1224000"/>
            <a:ext cx="359964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</a:rPr>
              <a:t>Bereit zur 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</a:rPr>
              <a:t>Web · App · zwei Handys · zwei Laptops · Testkonten · Testdaten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4" name=""/>
          <p:cNvSpPr/>
          <p:nvPr/>
        </p:nvSpPr>
        <p:spPr>
          <a:xfrm>
            <a:off x="396000" y="2880000"/>
            <a:ext cx="89996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</a:rPr>
              <a:t>Die vollständige Detailquelle bleibt zusätzlich als Word- und Markdown-Checkliste erhalten.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5" name=""/>
          <p:cNvSpPr/>
          <p:nvPr/>
        </p:nvSpPr>
        <p:spPr>
          <a:xfrm>
            <a:off x="396000" y="3600000"/>
            <a:ext cx="935964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</a:rPr>
              <a:t>Nicht vergessen: UI-only oder „API folgt“ als offenes Integrationsthema markieren.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6" name=""/>
          <p:cNvSpPr/>
          <p:nvPr/>
        </p:nvSpPr>
        <p:spPr>
          <a:xfrm>
            <a:off x="11304000" y="6534000"/>
            <a:ext cx="3956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</a:rPr>
              <a:t>228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2026-08-02T01:39:06Z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