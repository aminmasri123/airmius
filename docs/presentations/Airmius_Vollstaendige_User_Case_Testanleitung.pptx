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_rels/slide11.xml.rels" ContentType="application/vnd.openxmlformats-package.relationships+xml"/>
  <Override PartName="/ppt/slides/_rels/slide48.xml.rels" ContentType="application/vnd.openxmlformats-package.relationships+xml"/>
  <Override PartName="/ppt/slides/_rels/slide161.xml.rels" ContentType="application/vnd.openxmlformats-package.relationships+xml"/>
  <Override PartName="/ppt/slides/_rels/slide20.xml.rels" ContentType="application/vnd.openxmlformats-package.relationships+xml"/>
  <Override PartName="/ppt/slides/_rels/slide171.xml.rels" ContentType="application/vnd.openxmlformats-package.relationships+xml"/>
  <Override PartName="/ppt/slides/_rels/slide103.xml.rels" ContentType="application/vnd.openxmlformats-package.relationships+xml"/>
  <Override PartName="/ppt/slides/_rels/slide58.xml.rels" ContentType="application/vnd.openxmlformats-package.relationships+xml"/>
  <Override PartName="/ppt/slides/_rels/slide49.xml.rels" ContentType="application/vnd.openxmlformats-package.relationships+xml"/>
  <Override PartName="/ppt/slides/_rels/slide162.xml.rels" ContentType="application/vnd.openxmlformats-package.relationships+xml"/>
  <Override PartName="/ppt/slides/_rels/slide21.xml.rels" ContentType="application/vnd.openxmlformats-package.relationships+xml"/>
  <Override PartName="/ppt/slides/_rels/slide104.xml.rels" ContentType="application/vnd.openxmlformats-package.relationships+xml"/>
  <Override PartName="/ppt/slides/_rels/slide172.xml.rels" ContentType="application/vnd.openxmlformats-package.relationships+xml"/>
  <Override PartName="/ppt/slides/_rels/slide59.xml.rels" ContentType="application/vnd.openxmlformats-package.relationships+xml"/>
  <Override PartName="/ppt/slides/_rels/slide90.xml.rels" ContentType="application/vnd.openxmlformats-package.relationships+xml"/>
  <Override PartName="/ppt/slides/_rels/slide22.xml.rels" ContentType="application/vnd.openxmlformats-package.relationships+xml"/>
  <Override PartName="/ppt/slides/_rels/slide173.xml.rels" ContentType="application/vnd.openxmlformats-package.relationships+xml"/>
  <Override PartName="/ppt/slides/_rels/slide105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37.xml.rels" ContentType="application/vnd.openxmlformats-package.relationships+xml"/>
  <Override PartName="/ppt/slides/_rels/slide150.xml.rels" ContentType="application/vnd.openxmlformats-package.relationships+xml"/>
  <Override PartName="/ppt/slides/_rels/slide38.xml.rels" ContentType="application/vnd.openxmlformats-package.relationships+xml"/>
  <Override PartName="/ppt/slides/_rels/slide151.xml.rels" ContentType="application/vnd.openxmlformats-package.relationships+xml"/>
  <Override PartName="/ppt/slides/_rels/slide39.xml.rels" ContentType="application/vnd.openxmlformats-package.relationships+xml"/>
  <Override PartName="/ppt/slides/_rels/slide152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45.xml.rels" ContentType="application/vnd.openxmlformats-package.relationships+xml"/>
  <Override PartName="/ppt/slides/_rels/slide50.xml.rels" ContentType="application/vnd.openxmlformats-package.relationships+xml"/>
  <Override PartName="/ppt/slides/_rels/slide51.xml.rels" ContentType="application/vnd.openxmlformats-package.relationships+xml"/>
  <Override PartName="/ppt/slides/_rels/slide100.xml.rels" ContentType="application/vnd.openxmlformats-package.relationships+xml"/>
  <Override PartName="/ppt/slides/_rels/slide55.xml.rels" ContentType="application/vnd.openxmlformats-package.relationships+xml"/>
  <Override PartName="/ppt/slides/_rels/slide101.xml.rels" ContentType="application/vnd.openxmlformats-package.relationships+xml"/>
  <Override PartName="/ppt/slides/_rels/slide56.xml.rels" ContentType="application/vnd.openxmlformats-package.relationships+xml"/>
  <Override PartName="/ppt/slides/_rels/slide102.xml.rels" ContentType="application/vnd.openxmlformats-package.relationships+xml"/>
  <Override PartName="/ppt/slides/_rels/slide170.xml.rels" ContentType="application/vnd.openxmlformats-package.relationships+xml"/>
  <Override PartName="/ppt/slides/_rels/slide57.xml.rels" ContentType="application/vnd.openxmlformats-package.relationships+xml"/>
  <Override PartName="/ppt/slides/_rels/slide128.xml.rels" ContentType="application/vnd.openxmlformats-package.relationships+xml"/>
  <Override PartName="/ppt/slides/_rels/slide196.xml.rels" ContentType="application/vnd.openxmlformats-package.relationships+xml"/>
  <Override PartName="/ppt/slides/_rels/slide129.xml.rels" ContentType="application/vnd.openxmlformats-package.relationships+xml"/>
  <Override PartName="/ppt/slides/_rels/slide197.xml.rels" ContentType="application/vnd.openxmlformats-package.relationships+xml"/>
  <Override PartName="/ppt/slides/_rels/slide1.xml.rels" ContentType="application/vnd.openxmlformats-package.relationships+xml"/>
  <Override PartName="/ppt/slides/_rels/slide52.xml.rels" ContentType="application/vnd.openxmlformats-package.relationships+xml"/>
  <Override PartName="/ppt/slides/_rels/slide130.xml.rels" ContentType="application/vnd.openxmlformats-package.relationships+xml"/>
  <Override PartName="/ppt/slides/_rels/slide17.xml.rels" ContentType="application/vnd.openxmlformats-package.relationships+xml"/>
  <Override PartName="/ppt/slides/_rels/slide85.xml.rels" ContentType="application/vnd.openxmlformats-package.relationships+xml"/>
  <Override PartName="/ppt/slides/_rels/slide53.xml.rels" ContentType="application/vnd.openxmlformats-package.relationships+xml"/>
  <Override PartName="/ppt/slides/_rels/slide131.xml.rels" ContentType="application/vnd.openxmlformats-package.relationships+xml"/>
  <Override PartName="/ppt/slides/_rels/slide18.xml.rels" ContentType="application/vnd.openxmlformats-package.relationships+xml"/>
  <Override PartName="/ppt/slides/_rels/slide86.xml.rels" ContentType="application/vnd.openxmlformats-package.relationships+xml"/>
  <Override PartName="/ppt/slides/_rels/slide54.xml.rels" ContentType="application/vnd.openxmlformats-package.relationships+xml"/>
  <Override PartName="/ppt/slides/_rels/slide132.xml.rels" ContentType="application/vnd.openxmlformats-package.relationships+xml"/>
  <Override PartName="/ppt/slides/_rels/slide19.xml.rels" ContentType="application/vnd.openxmlformats-package.relationships+xml"/>
  <Override PartName="/ppt/slides/_rels/slide87.xml.rels" ContentType="application/vnd.openxmlformats-package.relationships+xml"/>
  <Override PartName="/ppt/slides/_rels/slide133.xml.rels" ContentType="application/vnd.openxmlformats-package.relationships+xml"/>
  <Override PartName="/ppt/slides/_rels/slide88.xml.rels" ContentType="application/vnd.openxmlformats-package.relationships+xml"/>
  <Override PartName="/ppt/slides/_rels/slide134.xml.rels" ContentType="application/vnd.openxmlformats-package.relationships+xml"/>
  <Override PartName="/ppt/slides/_rels/slide89.xml.rels" ContentType="application/vnd.openxmlformats-package.relationships+xml"/>
  <Override PartName="/ppt/slides/_rels/slide135.xml.rels" ContentType="application/vnd.openxmlformats-package.relationships+xml"/>
  <Override PartName="/ppt/slides/_rels/slide136.xml.rels" ContentType="application/vnd.openxmlformats-package.relationships+xml"/>
  <Override PartName="/ppt/slides/_rels/slide137.xml.rels" ContentType="application/vnd.openxmlformats-package.relationships+xml"/>
  <Override PartName="/ppt/slides/_rels/slide138.xml.rels" ContentType="application/vnd.openxmlformats-package.relationships+xml"/>
  <Override PartName="/ppt/slides/_rels/slide139.xml.rels" ContentType="application/vnd.openxmlformats-package.relationships+xml"/>
  <Override PartName="/ppt/slides/_rels/slide140.xml.rels" ContentType="application/vnd.openxmlformats-package.relationships+xml"/>
  <Override PartName="/ppt/slides/_rels/slide27.xml.rels" ContentType="application/vnd.openxmlformats-package.relationships+xml"/>
  <Override PartName="/ppt/slides/_rels/slide95.xml.rels" ContentType="application/vnd.openxmlformats-package.relationships+xml"/>
  <Override PartName="/ppt/slides/_rels/slide141.xml.rels" ContentType="application/vnd.openxmlformats-package.relationships+xml"/>
  <Override PartName="/ppt/slides/_rels/slide96.xml.rels" ContentType="application/vnd.openxmlformats-package.relationships+xml"/>
  <Override PartName="/ppt/slides/_rels/slide28.xml.rels" ContentType="application/vnd.openxmlformats-package.relationships+xml"/>
  <Override PartName="/ppt/slides/_rels/slide142.xml.rels" ContentType="application/vnd.openxmlformats-package.relationships+xml"/>
  <Override PartName="/ppt/slides/_rels/slide97.xml.rels" ContentType="application/vnd.openxmlformats-package.relationships+xml"/>
  <Override PartName="/ppt/slides/_rels/slide29.xml.rels" ContentType="application/vnd.openxmlformats-package.relationships+xml"/>
  <Override PartName="/ppt/slides/_rels/slide143.xml.rels" ContentType="application/vnd.openxmlformats-package.relationships+xml"/>
  <Override PartName="/ppt/slides/_rels/slide98.xml.rels" ContentType="application/vnd.openxmlformats-package.relationships+xml"/>
  <Override PartName="/ppt/slides/_rels/slide144.xml.rels" ContentType="application/vnd.openxmlformats-package.relationships+xml"/>
  <Override PartName="/ppt/slides/_rels/slide99.xml.rels" ContentType="application/vnd.openxmlformats-package.relationships+xml"/>
  <Override PartName="/ppt/slides/_rels/slide145.xml.rels" ContentType="application/vnd.openxmlformats-package.relationships+xml"/>
  <Override PartName="/ppt/slides/_rels/slide155.xml.rels" ContentType="application/vnd.openxmlformats-package.relationships+xml"/>
  <Override PartName="/ppt/slides/_rels/slide156.xml.rels" ContentType="application/vnd.openxmlformats-package.relationships+xml"/>
  <Override PartName="/ppt/slides/_rels/slide157.xml.rels" ContentType="application/vnd.openxmlformats-package.relationships+xml"/>
  <Override PartName="/ppt/slides/_rels/slide158.xml.rels" ContentType="application/vnd.openxmlformats-package.relationships+xml"/>
  <Override PartName="/ppt/slides/_rels/slide159.xml.rels" ContentType="application/vnd.openxmlformats-package.relationships+xml"/>
  <Override PartName="/ppt/slides/_rels/slide206.xml.rels" ContentType="application/vnd.openxmlformats-package.relationships+xml"/>
  <Override PartName="/ppt/slides/_rels/slide8.xml.rels" ContentType="application/vnd.openxmlformats-package.relationships+xml"/>
  <Override PartName="/ppt/slides/_rels/slide207.xml.rels" ContentType="application/vnd.openxmlformats-package.relationships+xml"/>
  <Override PartName="/ppt/slides/_rels/slide9.xml.rels" ContentType="application/vnd.openxmlformats-package.relationships+xml"/>
  <Override PartName="/ppt/slides/_rels/slide208.xml.rels" ContentType="application/vnd.openxmlformats-package.relationships+xml"/>
  <Override PartName="/ppt/slides/_rels/slide3.xml.rels" ContentType="application/vnd.openxmlformats-package.relationships+xml"/>
  <Override PartName="/ppt/slides/_rels/slide201.xml.rels" ContentType="application/vnd.openxmlformats-package.relationships+xml"/>
  <Override PartName="/ppt/slides/_rels/slide199.xml.rels" ContentType="application/vnd.openxmlformats-package.relationships+xml"/>
  <Override PartName="/ppt/slides/_rels/slide210.xml.rels" ContentType="application/vnd.openxmlformats-package.relationships+xml"/>
  <Override PartName="/ppt/slides/_rels/slide209.xml.rels" ContentType="application/vnd.openxmlformats-package.relationships+xml"/>
  <Override PartName="/ppt/slides/_rels/slide61.xml.rels" ContentType="application/vnd.openxmlformats-package.relationships+xml"/>
  <Override PartName="/ppt/slides/_rels/slide62.xml.rels" ContentType="application/vnd.openxmlformats-package.relationships+xml"/>
  <Override PartName="/ppt/slides/_rels/slide63.xml.rels" ContentType="application/vnd.openxmlformats-package.relationships+xml"/>
  <Override PartName="/ppt/slides/_rels/slide64.xml.rels" ContentType="application/vnd.openxmlformats-package.relationships+xml"/>
  <Override PartName="/ppt/slides/_rels/slide110.xml.rels" ContentType="application/vnd.openxmlformats-package.relationships+xml"/>
  <Override PartName="/ppt/slides/_rels/slide65.xml.rels" ContentType="application/vnd.openxmlformats-package.relationships+xml"/>
  <Override PartName="/ppt/slides/_rels/slide115.xml.rels" ContentType="application/vnd.openxmlformats-package.relationships+xml"/>
  <Override PartName="/ppt/slides/_rels/slide183.xml.rels" ContentType="application/vnd.openxmlformats-package.relationships+xml"/>
  <Override PartName="/ppt/slides/_rels/slide71.xml.rels" ContentType="application/vnd.openxmlformats-package.relationships+xml"/>
  <Override PartName="/ppt/slides/_rels/slide72.xml.rels" ContentType="application/vnd.openxmlformats-package.relationships+xml"/>
  <Override PartName="/ppt/slides/_rels/slide73.xml.rels" ContentType="application/vnd.openxmlformats-package.relationships+xml"/>
  <Override PartName="/ppt/slides/_rels/slide74.xml.rels" ContentType="application/vnd.openxmlformats-package.relationships+xml"/>
  <Override PartName="/ppt/slides/_rels/slide120.xml.rels" ContentType="application/vnd.openxmlformats-package.relationships+xml"/>
  <Override PartName="/ppt/slides/_rels/slide75.xml.rels" ContentType="application/vnd.openxmlformats-package.relationships+xml"/>
  <Override PartName="/ppt/slides/_rels/slide153.xml.rels" ContentType="application/vnd.openxmlformats-package.relationships+xml"/>
  <Override PartName="/ppt/slides/_rels/slide121.xml.rels" ContentType="application/vnd.openxmlformats-package.relationships+xml"/>
  <Override PartName="/ppt/slides/_rels/slide76.xml.rels" ContentType="application/vnd.openxmlformats-package.relationships+xml"/>
  <Override PartName="/ppt/slides/_rels/slide154.xml.rels" ContentType="application/vnd.openxmlformats-package.relationships+xml"/>
  <Override PartName="/ppt/slides/_rels/slide66.xml.rels" ContentType="application/vnd.openxmlformats-package.relationships+xml"/>
  <Override PartName="/ppt/slides/_rels/slide111.xml.rels" ContentType="application/vnd.openxmlformats-package.relationships+xml"/>
  <Override PartName="/ppt/slides/_rels/slide146.xml.rels" ContentType="application/vnd.openxmlformats-package.relationships+xml"/>
  <Override PartName="/ppt/slides/_rels/slide116.xml.rels" ContentType="application/vnd.openxmlformats-package.relationships+xml"/>
  <Override PartName="/ppt/slides/_rels/slide184.xml.rels" ContentType="application/vnd.openxmlformats-package.relationships+xml"/>
  <Override PartName="/ppt/slides/_rels/slide220.xml.rels" ContentType="application/vnd.openxmlformats-package.relationships+xml"/>
  <Override PartName="/ppt/slides/_rels/slide180.xml.rels" ContentType="application/vnd.openxmlformats-package.relationships+xml"/>
  <Override PartName="/ppt/slides/_rels/slide67.xml.rels" ContentType="application/vnd.openxmlformats-package.relationships+xml"/>
  <Override PartName="/ppt/slides/_rels/slide112.xml.rels" ContentType="application/vnd.openxmlformats-package.relationships+xml"/>
  <Override PartName="/ppt/slides/_rels/slide181.xml.rels" ContentType="application/vnd.openxmlformats-package.relationships+xml"/>
  <Override PartName="/ppt/slides/_rels/slide68.xml.rels" ContentType="application/vnd.openxmlformats-package.relationships+xml"/>
  <Override PartName="/ppt/slides/_rels/slide113.xml.rels" ContentType="application/vnd.openxmlformats-package.relationships+xml"/>
  <Override PartName="/ppt/slides/_rels/slide70.xml.rels" ContentType="application/vnd.openxmlformats-package.relationships+xml"/>
  <Override PartName="/ppt/slides/_rels/slide125.xml.rels" ContentType="application/vnd.openxmlformats-package.relationships+xml"/>
  <Override PartName="/ppt/slides/_rels/slide193.xml.rels" ContentType="application/vnd.openxmlformats-package.relationships+xml"/>
  <Override PartName="/ppt/slides/_rels/slide126.xml.rels" ContentType="application/vnd.openxmlformats-package.relationships+xml"/>
  <Override PartName="/ppt/slides/_rels/slide194.xml.rels" ContentType="application/vnd.openxmlformats-package.relationships+xml"/>
  <Override PartName="/ppt/slides/_rels/slide127.xml.rels" ContentType="application/vnd.openxmlformats-package.relationships+xml"/>
  <Override PartName="/ppt/slides/_rels/slide195.xml.rels" ContentType="application/vnd.openxmlformats-package.relationships+xml"/>
  <Override PartName="/ppt/slides/_rels/slide182.xml.rels" ContentType="application/vnd.openxmlformats-package.relationships+xml"/>
  <Override PartName="/ppt/slides/_rels/slide114.xml.rels" ContentType="application/vnd.openxmlformats-package.relationships+xml"/>
  <Override PartName="/ppt/slides/_rels/slide69.xml.rels" ContentType="application/vnd.openxmlformats-package.relationships+xml"/>
  <Override PartName="/ppt/slides/_rels/slide147.xml.rels" ContentType="application/vnd.openxmlformats-package.relationships+xml"/>
  <Override PartName="/ppt/slides/_rels/slide109.xml.rels" ContentType="application/vnd.openxmlformats-package.relationships+xml"/>
  <Override PartName="/ppt/slides/_rels/slide177.xml.rels" ContentType="application/vnd.openxmlformats-package.relationships+xml"/>
  <Override PartName="/ppt/slides/_rels/slide213.xml.rels" ContentType="application/vnd.openxmlformats-package.relationships+xml"/>
  <Override PartName="/ppt/slides/_rels/slide191.xml.rels" ContentType="application/vnd.openxmlformats-package.relationships+xml"/>
  <Override PartName="/ppt/slides/_rels/slide123.xml.rels" ContentType="application/vnd.openxmlformats-package.relationships+xml"/>
  <Override PartName="/ppt/slides/_rels/slide78.xml.rels" ContentType="application/vnd.openxmlformats-package.relationships+xml"/>
  <Override PartName="/ppt/slides/_rels/slide119.xml.rels" ContentType="application/vnd.openxmlformats-package.relationships+xml"/>
  <Override PartName="/ppt/slides/_rels/slide187.xml.rels" ContentType="application/vnd.openxmlformats-package.relationships+xml"/>
  <Override PartName="/ppt/slides/_rels/slide223.xml.rels" ContentType="application/vnd.openxmlformats-package.relationships+xml"/>
  <Override PartName="/ppt/slides/_rels/slide108.xml.rels" ContentType="application/vnd.openxmlformats-package.relationships+xml"/>
  <Override PartName="/ppt/slides/_rels/slide176.xml.rels" ContentType="application/vnd.openxmlformats-package.relationships+xml"/>
  <Override PartName="/ppt/slides/_rels/slide212.xml.rels" ContentType="application/vnd.openxmlformats-package.relationships+xml"/>
  <Override PartName="/ppt/slides/_rels/slide190.xml.rels" ContentType="application/vnd.openxmlformats-package.relationships+xml"/>
  <Override PartName="/ppt/slides/_rels/slide122.xml.rels" ContentType="application/vnd.openxmlformats-package.relationships+xml"/>
  <Override PartName="/ppt/slides/_rels/slide77.xml.rels" ContentType="application/vnd.openxmlformats-package.relationships+xml"/>
  <Override PartName="/ppt/slides/_rels/slide118.xml.rels" ContentType="application/vnd.openxmlformats-package.relationships+xml"/>
  <Override PartName="/ppt/slides/_rels/slide186.xml.rels" ContentType="application/vnd.openxmlformats-package.relationships+xml"/>
  <Override PartName="/ppt/slides/_rels/slide222.xml.rels" ContentType="application/vnd.openxmlformats-package.relationships+xml"/>
  <Override PartName="/ppt/slides/_rels/slide107.xml.rels" ContentType="application/vnd.openxmlformats-package.relationships+xml"/>
  <Override PartName="/ppt/slides/_rels/slide175.xml.rels" ContentType="application/vnd.openxmlformats-package.relationships+xml"/>
  <Override PartName="/ppt/slides/_rels/slide211.xml.rels" ContentType="application/vnd.openxmlformats-package.relationships+xml"/>
  <Override PartName="/ppt/slides/_rels/slide117.xml.rels" ContentType="application/vnd.openxmlformats-package.relationships+xml"/>
  <Override PartName="/ppt/slides/_rels/slide185.xml.rels" ContentType="application/vnd.openxmlformats-package.relationships+xml"/>
  <Override PartName="/ppt/slides/_rels/slide221.xml.rels" ContentType="application/vnd.openxmlformats-package.relationships+xml"/>
  <Override PartName="/ppt/slides/_rels/slide174.xml.rels" ContentType="application/vnd.openxmlformats-package.relationships+xml"/>
  <Override PartName="/ppt/slides/_rels/slide106.xml.rels" ContentType="application/vnd.openxmlformats-package.relationships+xml"/>
  <Override PartName="/ppt/slides/_rels/slide192.xml.rels" ContentType="application/vnd.openxmlformats-package.relationships+xml"/>
  <Override PartName="/ppt/slides/_rels/slide79.xml.rels" ContentType="application/vnd.openxmlformats-package.relationships+xml"/>
  <Override PartName="/ppt/slides/_rels/slide124.xml.rels" ContentType="application/vnd.openxmlformats-package.relationships+xml"/>
  <Override PartName="/ppt/slides/_rels/slide46.xml.rels" ContentType="application/vnd.openxmlformats-package.relationships+xml"/>
  <Override PartName="/ppt/slides/_rels/slide60.xml.rels" ContentType="application/vnd.openxmlformats-package.relationships+xml"/>
  <Override PartName="/ppt/slides/_rels/slide94.xml.rels" ContentType="application/vnd.openxmlformats-package.relationships+xml"/>
  <Override PartName="/ppt/slides/_rels/slide26.xml.rels" ContentType="application/vnd.openxmlformats-package.relationships+xml"/>
  <Override PartName="/ppt/slides/_rels/slide93.xml.rels" ContentType="application/vnd.openxmlformats-package.relationships+xml"/>
  <Override PartName="/ppt/slides/_rels/slide25.xml.rels" ContentType="application/vnd.openxmlformats-package.relationships+xml"/>
  <Override PartName="/ppt/slides/_rels/slide92.xml.rels" ContentType="application/vnd.openxmlformats-package.relationships+xml"/>
  <Override PartName="/ppt/slides/_rels/slide24.xml.rels" ContentType="application/vnd.openxmlformats-package.relationships+xml"/>
  <Override PartName="/ppt/slides/_rels/slide91.xml.rels" ContentType="application/vnd.openxmlformats-package.relationships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82.xml.rels" ContentType="application/vnd.openxmlformats-package.relationships+xml"/>
  <Override PartName="/ppt/slides/_rels/slide47.xml.rels" ContentType="application/vnd.openxmlformats-package.relationships+xml"/>
  <Override PartName="/ppt/slides/_rels/slide160.xml.rels" ContentType="application/vnd.openxmlformats-package.relationships+xml"/>
  <Override PartName="/ppt/slides/_rels/slide80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83.xml.rels" ContentType="application/vnd.openxmlformats-package.relationships+xml"/>
  <Override PartName="/ppt/slides/_rels/slide81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84.xml.rels" ContentType="application/vnd.openxmlformats-package.relationships+xml"/>
  <Override PartName="/ppt/slides/_rels/slide10.xml.rels" ContentType="application/vnd.openxmlformats-package.relationships+xml"/>
  <Override PartName="/ppt/slides/_rels/slide148.xml.rels" ContentType="application/vnd.openxmlformats-package.relationships+xml"/>
  <Override PartName="/ppt/slides/_rels/slide149.xml.rels" ContentType="application/vnd.openxmlformats-package.relationships+xml"/>
  <Override PartName="/ppt/slides/_rels/slide163.xml.rels" ContentType="application/vnd.openxmlformats-package.relationships+xml"/>
  <Override PartName="/ppt/slides/_rels/slide188.xml.rels" ContentType="application/vnd.openxmlformats-package.relationships+xml"/>
  <Override PartName="/ppt/slides/_rels/slide224.xml.rels" ContentType="application/vnd.openxmlformats-package.relationships+xml"/>
  <Override PartName="/ppt/slides/_rels/slide189.xml.rels" ContentType="application/vnd.openxmlformats-package.relationships+xml"/>
  <Override PartName="/ppt/slides/_rels/slide225.xml.rels" ContentType="application/vnd.openxmlformats-package.relationships+xml"/>
  <Override PartName="/ppt/slides/_rels/slide2.xml.rels" ContentType="application/vnd.openxmlformats-package.relationships+xml"/>
  <Override PartName="/ppt/slides/_rels/slide198.xml.rels" ContentType="application/vnd.openxmlformats-package.relationships+xml"/>
  <Override PartName="/ppt/slides/_rels/slide200.xml.rels" ContentType="application/vnd.openxmlformats-package.relationships+xml"/>
  <Override PartName="/ppt/slides/_rels/slide164.xml.rels" ContentType="application/vnd.openxmlformats-package.relationships+xml"/>
  <Override PartName="/ppt/slides/_rels/slide217.xml.rels" ContentType="application/vnd.openxmlformats-package.relationships+xml"/>
  <Override PartName="/ppt/slides/_rels/slide218.xml.rels" ContentType="application/vnd.openxmlformats-package.relationships+xml"/>
  <Override PartName="/ppt/slides/_rels/slide219.xml.rels" ContentType="application/vnd.openxmlformats-package.relationships+xml"/>
  <Override PartName="/ppt/slides/_rels/slide178.xml.rels" ContentType="application/vnd.openxmlformats-package.relationships+xml"/>
  <Override PartName="/ppt/slides/_rels/slide214.xml.rels" ContentType="application/vnd.openxmlformats-package.relationships+xml"/>
  <Override PartName="/ppt/slides/_rels/slide179.xml.rels" ContentType="application/vnd.openxmlformats-package.relationships+xml"/>
  <Override PartName="/ppt/slides/_rels/slide215.xml.rels" ContentType="application/vnd.openxmlformats-package.relationships+xml"/>
  <Override PartName="/ppt/slides/_rels/slide226.xml.rels" ContentType="application/vnd.openxmlformats-package.relationships+xml"/>
  <Override PartName="/ppt/slides/_rels/slide227.xml.rels" ContentType="application/vnd.openxmlformats-package.relationships+xml"/>
  <Override PartName="/ppt/slides/_rels/slide216.xml.rels" ContentType="application/vnd.openxmlformats-package.relationships+xml"/>
  <Override PartName="/ppt/slides/_rels/slide228.xml.rels" ContentType="application/vnd.openxmlformats-package.relationships+xml"/>
  <Override PartName="/ppt/slides/_rels/slide169.xml.rels" ContentType="application/vnd.openxmlformats-package.relationships+xml"/>
  <Override PartName="/ppt/slides/_rels/slide7.xml.rels" ContentType="application/vnd.openxmlformats-package.relationships+xml"/>
  <Override PartName="/ppt/slides/_rels/slide205.xml.rels" ContentType="application/vnd.openxmlformats-package.relationships+xml"/>
  <Override PartName="/ppt/slides/_rels/slide168.xml.rels" ContentType="application/vnd.openxmlformats-package.relationships+xml"/>
  <Override PartName="/ppt/slides/_rels/slide6.xml.rels" ContentType="application/vnd.openxmlformats-package.relationships+xml"/>
  <Override PartName="/ppt/slides/_rels/slide204.xml.rels" ContentType="application/vnd.openxmlformats-package.relationships+xml"/>
  <Override PartName="/ppt/slides/_rels/slide167.xml.rels" ContentType="application/vnd.openxmlformats-package.relationships+xml"/>
  <Override PartName="/ppt/slides/_rels/slide5.xml.rels" ContentType="application/vnd.openxmlformats-package.relationships+xml"/>
  <Override PartName="/ppt/slides/_rels/slide203.xml.rels" ContentType="application/vnd.openxmlformats-package.relationships+xml"/>
  <Override PartName="/ppt/slides/_rels/slide166.xml.rels" ContentType="application/vnd.openxmlformats-package.relationships+xml"/>
  <Override PartName="/ppt/slides/_rels/slide4.xml.rels" ContentType="application/vnd.openxmlformats-package.relationships+xml"/>
  <Override PartName="/ppt/slides/_rels/slide202.xml.rels" ContentType="application/vnd.openxmlformats-package.relationships+xml"/>
  <Override PartName="/ppt/slides/_rels/slide165.xml.rels" ContentType="application/vnd.openxmlformats-package.relationships+xml"/>
  <Override PartName="/ppt/slides/slide127.xml" ContentType="application/vnd.openxmlformats-officedocument.presentationml.slide+xml"/>
  <Override PartName="/ppt/slides/slide195.xml" ContentType="application/vnd.openxmlformats-officedocument.presentationml.slide+xml"/>
  <Override PartName="/ppt/slides/slide126.xml" ContentType="application/vnd.openxmlformats-officedocument.presentationml.slide+xml"/>
  <Override PartName="/ppt/slides/slide194.xml" ContentType="application/vnd.openxmlformats-officedocument.presentationml.slide+xml"/>
  <Override PartName="/ppt/slides/slide119.xml" ContentType="application/vnd.openxmlformats-officedocument.presentationml.slide+xml"/>
  <Override PartName="/ppt/slides/slide187.xml" ContentType="application/vnd.openxmlformats-officedocument.presentationml.slide+xml"/>
  <Override PartName="/ppt/slides/slide118.xml" ContentType="application/vnd.openxmlformats-officedocument.presentationml.slide+xml"/>
  <Override PartName="/ppt/slides/slide186.xml" ContentType="application/vnd.openxmlformats-officedocument.presentationml.slide+xml"/>
  <Override PartName="/ppt/slides/slide117.xml" ContentType="application/vnd.openxmlformats-officedocument.presentationml.slide+xml"/>
  <Override PartName="/ppt/slides/slide185.xml" ContentType="application/vnd.openxmlformats-officedocument.presentationml.slide+xml"/>
  <Override PartName="/ppt/slides/slide116.xml" ContentType="application/vnd.openxmlformats-officedocument.presentationml.slide+xml"/>
  <Override PartName="/ppt/slides/slide184.xml" ContentType="application/vnd.openxmlformats-officedocument.presentationml.slide+xml"/>
  <Override PartName="/ppt/slides/slide109.xml" ContentType="application/vnd.openxmlformats-officedocument.presentationml.slide+xml"/>
  <Override PartName="/ppt/slides/slide177.xml" ContentType="application/vnd.openxmlformats-officedocument.presentationml.slide+xml"/>
  <Override PartName="/ppt/slides/slide108.xml" ContentType="application/vnd.openxmlformats-officedocument.presentationml.slide+xml"/>
  <Override PartName="/ppt/slides/slide176.xml" ContentType="application/vnd.openxmlformats-officedocument.presentationml.slide+xml"/>
  <Override PartName="/ppt/slides/slide107.xml" ContentType="application/vnd.openxmlformats-officedocument.presentationml.slide+xml"/>
  <Override PartName="/ppt/slides/slide175.xml" ContentType="application/vnd.openxmlformats-officedocument.presentationml.slide+xml"/>
  <Override PartName="/ppt/slides/slide106.xml" ContentType="application/vnd.openxmlformats-officedocument.presentationml.slide+xml"/>
  <Override PartName="/ppt/slides/slide174.xml" ContentType="application/vnd.openxmlformats-officedocument.presentationml.slide+xml"/>
  <Override PartName="/ppt/slides/slide95.xml" ContentType="application/vnd.openxmlformats-officedocument.presentationml.slide+xml"/>
  <Override PartName="/ppt/slides/slide27.xml" ContentType="application/vnd.openxmlformats-officedocument.presentationml.slide+xml"/>
  <Override PartName="/ppt/slides/slide89.xml" ContentType="application/vnd.openxmlformats-officedocument.presentationml.slide+xml"/>
  <Override PartName="/ppt/slides/slide88.xml" ContentType="application/vnd.openxmlformats-officedocument.presentationml.slide+xml"/>
  <Override PartName="/ppt/slides/slide87.xml" ContentType="application/vnd.openxmlformats-officedocument.presentationml.slide+xml"/>
  <Override PartName="/ppt/slides/slide19.xml" ContentType="application/vnd.openxmlformats-officedocument.presentationml.slide+xml"/>
  <Override PartName="/ppt/slides/slide86.xml" ContentType="application/vnd.openxmlformats-officedocument.presentationml.slide+xml"/>
  <Override PartName="/ppt/slides/slide18.xml" ContentType="application/vnd.openxmlformats-officedocument.presentationml.slide+xml"/>
  <Override PartName="/ppt/slides/slide85.xml" ContentType="application/vnd.openxmlformats-officedocument.presentationml.slide+xml"/>
  <Override PartName="/ppt/slides/slide17.xml" ContentType="application/vnd.openxmlformats-officedocument.presentationml.slide+xml"/>
  <Override PartName="/ppt/slides/slide125.xml" ContentType="application/vnd.openxmlformats-officedocument.presentationml.slide+xml"/>
  <Override PartName="/ppt/slides/slide193.xml" ContentType="application/vnd.openxmlformats-officedocument.presentationml.slide+xml"/>
  <Override PartName="/ppt/slides/slide79.xml" ContentType="application/vnd.openxmlformats-officedocument.presentationml.slide+xml"/>
  <Override PartName="/ppt/slides/slide124.xml" ContentType="application/vnd.openxmlformats-officedocument.presentationml.slide+xml"/>
  <Override PartName="/ppt/slides/slide192.xml" ContentType="application/vnd.openxmlformats-officedocument.presentationml.slide+xml"/>
  <Override PartName="/ppt/slides/slide78.xml" ContentType="application/vnd.openxmlformats-officedocument.presentationml.slide+xml"/>
  <Override PartName="/ppt/slides/slide123.xml" ContentType="application/vnd.openxmlformats-officedocument.presentationml.slide+xml"/>
  <Override PartName="/ppt/slides/slide191.xml" ContentType="application/vnd.openxmlformats-officedocument.presentationml.slide+xml"/>
  <Override PartName="/ppt/slides/slide77.xml" ContentType="application/vnd.openxmlformats-officedocument.presentationml.slide+xml"/>
  <Override PartName="/ppt/slides/slide122.xml" ContentType="application/vnd.openxmlformats-officedocument.presentationml.slide+xml"/>
  <Override PartName="/ppt/slides/slide190.xml" ContentType="application/vnd.openxmlformats-officedocument.presentationml.slide+xml"/>
  <Override PartName="/ppt/slides/slide76.xml" ContentType="application/vnd.openxmlformats-officedocument.presentationml.slide+xml"/>
  <Override PartName="/ppt/slides/slide121.xml" ContentType="application/vnd.openxmlformats-officedocument.presentationml.slide+xml"/>
  <Override PartName="/ppt/slides/slide75.xml" ContentType="application/vnd.openxmlformats-officedocument.presentationml.slide+xml"/>
  <Override PartName="/ppt/slides/slide120.xml" ContentType="application/vnd.openxmlformats-officedocument.presentationml.slide+xml"/>
  <Override PartName="/ppt/slides/slide74.xml" ContentType="application/vnd.openxmlformats-officedocument.presentationml.slide+xml"/>
  <Override PartName="/ppt/slides/slide73.xml" ContentType="application/vnd.openxmlformats-officedocument.presentationml.slide+xml"/>
  <Override PartName="/ppt/slides/slide72.xml" ContentType="application/vnd.openxmlformats-officedocument.presentationml.slide+xml"/>
  <Override PartName="/ppt/slides/slide71.xml" ContentType="application/vnd.openxmlformats-officedocument.presentationml.slide+xml"/>
  <Override PartName="/ppt/slides/slide70.xml" ContentType="application/vnd.openxmlformats-officedocument.presentationml.slide+xml"/>
  <Override PartName="/ppt/slides/slide115.xml" ContentType="application/vnd.openxmlformats-officedocument.presentationml.slide+xml"/>
  <Override PartName="/ppt/slides/slide183.xml" ContentType="application/vnd.openxmlformats-officedocument.presentationml.slide+xml"/>
  <Override PartName="/ppt/slides/slide69.xml" ContentType="application/vnd.openxmlformats-officedocument.presentationml.slide+xml"/>
  <Override PartName="/ppt/slides/slide114.xml" ContentType="application/vnd.openxmlformats-officedocument.presentationml.slide+xml"/>
  <Override PartName="/ppt/slides/slide182.xml" ContentType="application/vnd.openxmlformats-officedocument.presentationml.slide+xml"/>
  <Override PartName="/ppt/slides/slide68.xml" ContentType="application/vnd.openxmlformats-officedocument.presentationml.slide+xml"/>
  <Override PartName="/ppt/slides/slide113.xml" ContentType="application/vnd.openxmlformats-officedocument.presentationml.slide+xml"/>
  <Override PartName="/ppt/slides/slide181.xml" ContentType="application/vnd.openxmlformats-officedocument.presentationml.slide+xml"/>
  <Override PartName="/ppt/slides/slide67.xml" ContentType="application/vnd.openxmlformats-officedocument.presentationml.slide+xml"/>
  <Override PartName="/ppt/slides/slide112.xml" ContentType="application/vnd.openxmlformats-officedocument.presentationml.slide+xml"/>
  <Override PartName="/ppt/slides/slide180.xml" ContentType="application/vnd.openxmlformats-officedocument.presentationml.slide+xml"/>
  <Override PartName="/ppt/slides/slide66.xml" ContentType="application/vnd.openxmlformats-officedocument.presentationml.slide+xml"/>
  <Override PartName="/ppt/slides/slide111.xml" ContentType="application/vnd.openxmlformats-officedocument.presentationml.slide+xml"/>
  <Override PartName="/ppt/slides/slide65.xml" ContentType="application/vnd.openxmlformats-officedocument.presentationml.slide+xml"/>
  <Override PartName="/ppt/slides/slide110.xml" ContentType="application/vnd.openxmlformats-officedocument.presentationml.slide+xml"/>
  <Override PartName="/ppt/slides/slide64.xml" ContentType="application/vnd.openxmlformats-officedocument.presentationml.slide+xml"/>
  <Override PartName="/ppt/slides/slide63.xml" ContentType="application/vnd.openxmlformats-officedocument.presentationml.slide+xml"/>
  <Override PartName="/ppt/slides/slide62.xml" ContentType="application/vnd.openxmlformats-officedocument.presentationml.slide+xml"/>
  <Override PartName="/ppt/slides/slide61.xml" ContentType="application/vnd.openxmlformats-officedocument.presentationml.slide+xml"/>
  <Override PartName="/ppt/slides/slide60.xml" ContentType="application/vnd.openxmlformats-officedocument.presentationml.slide+xml"/>
  <Override PartName="/ppt/slides/slide94.xml" ContentType="application/vnd.openxmlformats-officedocument.presentationml.slide+xml"/>
  <Override PartName="/ppt/slides/slide26.xml" ContentType="application/vnd.openxmlformats-officedocument.presentationml.slide+xml"/>
  <Override PartName="/ppt/slides/slide29.xml" ContentType="application/vnd.openxmlformats-officedocument.presentationml.slide+xml"/>
  <Override PartName="/ppt/slides/slide97.xml" ContentType="application/vnd.openxmlformats-officedocument.presentationml.slide+xml"/>
  <Override PartName="/ppt/slides/slide93.xml" ContentType="application/vnd.openxmlformats-officedocument.presentationml.slide+xml"/>
  <Override PartName="/ppt/slides/slide25.xml" ContentType="application/vnd.openxmlformats-officedocument.presentationml.slide+xml"/>
  <Override PartName="/ppt/slides/slide28.xml" ContentType="application/vnd.openxmlformats-officedocument.presentationml.slide+xml"/>
  <Override PartName="/ppt/slides/slide96.xml" ContentType="application/vnd.openxmlformats-officedocument.presentationml.slide+xml"/>
  <Override PartName="/ppt/slides/slide92.xml" ContentType="application/vnd.openxmlformats-officedocument.presentationml.slide+xml"/>
  <Override PartName="/ppt/slides/slide24.xml" ContentType="application/vnd.openxmlformats-officedocument.presentationml.slide+xml"/>
  <Override PartName="/ppt/slides/slide91.xml" ContentType="application/vnd.openxmlformats-officedocument.presentationml.slide+xml"/>
  <Override PartName="/ppt/slides/slide23.xml" ContentType="application/vnd.openxmlformats-officedocument.presentationml.slide+xml"/>
  <Override PartName="/ppt/slides/slide14.xml" ContentType="application/vnd.openxmlformats-officedocument.presentationml.slide+xml"/>
  <Override PartName="/ppt/slides/slide82.xml" ContentType="application/vnd.openxmlformats-officedocument.presentationml.slide+xml"/>
  <Override PartName="/ppt/slides/slide6.xml" ContentType="application/vnd.openxmlformats-officedocument.presentationml.slide+xml"/>
  <Override PartName="/ppt/slides/slide80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83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81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84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9.xml" ContentType="application/vnd.openxmlformats-officedocument.presentationml.slide+xml"/>
  <Override PartName="/ppt/slides/slide146.xml" ContentType="application/vnd.openxmlformats-officedocument.presentationml.slide+xml"/>
  <Override PartName="/ppt/slides/slide5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39.xml" ContentType="application/vnd.openxmlformats-officedocument.presentationml.slide+xml"/>
  <Override PartName="/ppt/slides/slide153.xml" ContentType="application/vnd.openxmlformats-officedocument.presentationml.slide+xml"/>
  <Override PartName="/ppt/slides/slide160.xml" ContentType="application/vnd.openxmlformats-officedocument.presentationml.slide+xml"/>
  <Override PartName="/ppt/slides/slide49.xml" ContentType="application/vnd.openxmlformats-officedocument.presentationml.slide+xml"/>
  <Override PartName="/ppt/slides/slide163.xml" ContentType="application/vnd.openxmlformats-officedocument.presentationml.slide+xml"/>
  <Override PartName="/ppt/slides/slide151.xml" ContentType="application/vnd.openxmlformats-officedocument.presentationml.slide+xml"/>
  <Override PartName="/ppt/slides/slide188.xml" ContentType="application/vnd.openxmlformats-officedocument.presentationml.slide+xml"/>
  <Override PartName="/ppt/slides/slide224.xml" ContentType="application/vnd.openxmlformats-officedocument.presentationml.slide+xml"/>
  <Override PartName="/ppt/slides/slide31.xml" ContentType="application/vnd.openxmlformats-officedocument.presentationml.slide+xml"/>
  <Override PartName="/ppt/slides/slide152.xml" ContentType="application/vnd.openxmlformats-officedocument.presentationml.slide+xml"/>
  <Override PartName="/ppt/slides/slide189.xml" ContentType="application/vnd.openxmlformats-officedocument.presentationml.slide+xml"/>
  <Override PartName="/ppt/slides/slide225.xml" ContentType="application/vnd.openxmlformats-officedocument.presentationml.slide+xml"/>
  <Override PartName="/ppt/slides/slide32.xml" ContentType="application/vnd.openxmlformats-officedocument.presentationml.slide+xml"/>
  <Override PartName="/ppt/slides/slide161.xml" ContentType="application/vnd.openxmlformats-officedocument.presentationml.slide+xml"/>
  <Override PartName="/ppt/slides/slide41.xml" ContentType="application/vnd.openxmlformats-officedocument.presentationml.slide+xml"/>
  <Override PartName="/ppt/slides/slide154.xml" ContentType="application/vnd.openxmlformats-officedocument.presentationml.slide+xml"/>
  <Override PartName="/ppt/slides/slide198.xml" ContentType="application/vnd.openxmlformats-officedocument.presentationml.slide+xml"/>
  <Override PartName="/ppt/slides/slide200.xml" ContentType="application/vnd.openxmlformats-officedocument.presentationml.slide+xml"/>
  <Override PartName="/ppt/slides/slide164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20.xml" ContentType="application/vnd.openxmlformats-officedocument.presentationml.slide+xml"/>
  <Override PartName="/ppt/slides/slide219.xml" ContentType="application/vnd.openxmlformats-officedocument.presentationml.slide+xml"/>
  <Override PartName="/ppt/slides/slide221.xml" ContentType="application/vnd.openxmlformats-officedocument.presentationml.slide+xml"/>
  <Override PartName="/ppt/slides/slide162.xml" ContentType="application/vnd.openxmlformats-officedocument.presentationml.slide+xml"/>
  <Override PartName="/ppt/slides/slide42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30.xml" ContentType="application/vnd.openxmlformats-officedocument.presentationml.slide+xml"/>
  <Override PartName="/ppt/slides/slide178.xml" ContentType="application/vnd.openxmlformats-officedocument.presentationml.slide+xml"/>
  <Override PartName="/ppt/slides/slide214.xml" ContentType="application/vnd.openxmlformats-officedocument.presentationml.slide+xml"/>
  <Override PartName="/ppt/slides/slide21.xml" ContentType="application/vnd.openxmlformats-officedocument.presentationml.slide+xml"/>
  <Override PartName="/ppt/slides/slide179.xml" ContentType="application/vnd.openxmlformats-officedocument.presentationml.slide+xml"/>
  <Override PartName="/ppt/slides/slide215.xml" ContentType="application/vnd.openxmlformats-officedocument.presentationml.slide+xml"/>
  <Override PartName="/ppt/slides/slide90.xml" ContentType="application/vnd.openxmlformats-officedocument.presentationml.slide+xml"/>
  <Override PartName="/ppt/slides/slide22.xml" ContentType="application/vnd.openxmlformats-officedocument.presentationml.slide+xml"/>
  <Override PartName="/ppt/slides/slide226.xml" ContentType="application/vnd.openxmlformats-officedocument.presentationml.slide+xml"/>
  <Override PartName="/ppt/slides/slide33.xml" ContentType="application/vnd.openxmlformats-officedocument.presentationml.slide+xml"/>
  <Override PartName="/ppt/slides/slide227.xml" ContentType="application/vnd.openxmlformats-officedocument.presentationml.slide+xml"/>
  <Override PartName="/ppt/slides/slide34.xml" ContentType="application/vnd.openxmlformats-officedocument.presentationml.slide+xml"/>
  <Override PartName="/ppt/slides/slide216.xml" ContentType="application/vnd.openxmlformats-officedocument.presentationml.slide+xml"/>
  <Override PartName="/ppt/slides/slide228.xml" ContentType="application/vnd.openxmlformats-officedocument.presentationml.slide+xml"/>
  <Override PartName="/ppt/slides/slide35.xml" ContentType="application/vnd.openxmlformats-officedocument.presentationml.slide+xml"/>
  <Override PartName="/ppt/slides/slide169.xml" ContentType="application/vnd.openxmlformats-officedocument.presentationml.slide+xml"/>
  <Override PartName="/ppt/slides/slide205.xml" ContentType="application/vnd.openxmlformats-officedocument.presentationml.slide+xml"/>
  <Override PartName="/ppt/slides/slide168.xml" ContentType="application/vnd.openxmlformats-officedocument.presentationml.slide+xml"/>
  <Override PartName="/ppt/slides/slide204.xml" ContentType="application/vnd.openxmlformats-officedocument.presentationml.slide+xml"/>
  <Override PartName="/ppt/slides/slide11.xml" ContentType="application/vnd.openxmlformats-officedocument.presentationml.slide+xml"/>
  <Override PartName="/ppt/slides/slide167.xml" ContentType="application/vnd.openxmlformats-officedocument.presentationml.slide+xml"/>
  <Override PartName="/ppt/slides/slide203.xml" ContentType="application/vnd.openxmlformats-officedocument.presentationml.slide+xml"/>
  <Override PartName="/ppt/slides/slide213.xml" ContentType="application/vnd.openxmlformats-officedocument.presentationml.slide+xml"/>
  <Override PartName="/ppt/slides/slide20.xml" ContentType="application/vnd.openxmlformats-officedocument.presentationml.slide+xml"/>
  <Override PartName="/ppt/slides/slide166.xml" ContentType="application/vnd.openxmlformats-officedocument.presentationml.slide+xml"/>
  <Override PartName="/ppt/slides/slide202.xml" ContentType="application/vnd.openxmlformats-officedocument.presentationml.slide+xml"/>
  <Override PartName="/ppt/slides/slide212.xml" ContentType="application/vnd.openxmlformats-officedocument.presentationml.slide+xml"/>
  <Override PartName="/ppt/slides/slide165.xml" ContentType="application/vnd.openxmlformats-officedocument.presentationml.slide+xml"/>
  <Override PartName="/ppt/slides/slide199.xml" ContentType="application/vnd.openxmlformats-officedocument.presentationml.slide+xml"/>
  <Override PartName="/ppt/slides/slide201.xml" ContentType="application/vnd.openxmlformats-officedocument.presentationml.slide+xml"/>
  <Override PartName="/ppt/slides/slide211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08.xml" ContentType="application/vnd.openxmlformats-officedocument.presentationml.slide+xml"/>
  <Override PartName="/ppt/slides/slide207.xml" ContentType="application/vnd.openxmlformats-officedocument.presentationml.slide+xml"/>
  <Override PartName="/ppt/slides/slide206.xml" ContentType="application/vnd.openxmlformats-officedocument.presentationml.slide+xml"/>
  <Override PartName="/ppt/slides/slide159.xml" ContentType="application/vnd.openxmlformats-officedocument.presentationml.slide+xml"/>
  <Override PartName="/ppt/slides/slide158.xml" ContentType="application/vnd.openxmlformats-officedocument.presentationml.slide+xml"/>
  <Override PartName="/ppt/slides/slide157.xml" ContentType="application/vnd.openxmlformats-officedocument.presentationml.slide+xml"/>
  <Override PartName="/ppt/slides/slide156.xml" ContentType="application/vnd.openxmlformats-officedocument.presentationml.slide+xml"/>
  <Override PartName="/ppt/slides/slide155.xml" ContentType="application/vnd.openxmlformats-officedocument.presentationml.slide+xml"/>
  <Override PartName="/ppt/slides/slide145.xml" ContentType="application/vnd.openxmlformats-officedocument.presentationml.slide+xml"/>
  <Override PartName="/ppt/slides/slide4.xml" ContentType="application/vnd.openxmlformats-officedocument.presentationml.slide+xml"/>
  <Override PartName="/ppt/slides/slide99.xml" ContentType="application/vnd.openxmlformats-officedocument.presentationml.slide+xml"/>
  <Override PartName="/ppt/slides/slide144.xml" ContentType="application/vnd.openxmlformats-officedocument.presentationml.slide+xml"/>
  <Override PartName="/ppt/slides/slide3.xml" ContentType="application/vnd.openxmlformats-officedocument.presentationml.slide+xml"/>
  <Override PartName="/ppt/slides/slide98.xml" ContentType="application/vnd.openxmlformats-officedocument.presentationml.slide+xml"/>
  <Override PartName="/ppt/slides/slide143.xml" ContentType="application/vnd.openxmlformats-officedocument.presentationml.slide+xml"/>
  <Override PartName="/ppt/slides/slide142.xml" ContentType="application/vnd.openxmlformats-officedocument.presentationml.slide+xml"/>
  <Override PartName="/ppt/slides/slide141.xml" ContentType="application/vnd.openxmlformats-officedocument.presentationml.slide+xml"/>
  <Override PartName="/ppt/slides/slide140.xml" ContentType="application/vnd.openxmlformats-officedocument.presentationml.slide+xml"/>
  <Override PartName="/ppt/slides/slide139.xml" ContentType="application/vnd.openxmlformats-officedocument.presentationml.slide+xml"/>
  <Override PartName="/ppt/slides/slide138.xml" ContentType="application/vnd.openxmlformats-officedocument.presentationml.slide+xml"/>
  <Override PartName="/ppt/slides/slide137.xml" ContentType="application/vnd.openxmlformats-officedocument.presentationml.slide+xml"/>
  <Override PartName="/ppt/slides/slide136.xml" ContentType="application/vnd.openxmlformats-officedocument.presentationml.slide+xml"/>
  <Override PartName="/ppt/slides/slide135.xml" ContentType="application/vnd.openxmlformats-officedocument.presentationml.slide+xml"/>
  <Override PartName="/ppt/slides/slide134.xml" ContentType="application/vnd.openxmlformats-officedocument.presentationml.slide+xml"/>
  <Override PartName="/ppt/slides/slide133.xml" ContentType="application/vnd.openxmlformats-officedocument.presentationml.slide+xml"/>
  <Override PartName="/ppt/slides/slide132.xml" ContentType="application/vnd.openxmlformats-officedocument.presentationml.slide+xml"/>
  <Override PartName="/ppt/slides/slide131.xml" ContentType="application/vnd.openxmlformats-officedocument.presentationml.slide+xml"/>
  <Override PartName="/ppt/slides/slide130.xml" ContentType="application/vnd.openxmlformats-officedocument.presentationml.slide+xml"/>
  <Override PartName="/ppt/slides/slide40.xml" ContentType="application/vnd.openxmlformats-officedocument.presentationml.slide+xml"/>
  <Override PartName="/ppt/slides/slide197.xml" ContentType="application/vnd.openxmlformats-officedocument.presentationml.slide+xml"/>
  <Override PartName="/ppt/slides/slide129.xml" ContentType="application/vnd.openxmlformats-officedocument.presentationml.slide+xml"/>
  <Override PartName="/ppt/slides/slide196.xml" ContentType="application/vnd.openxmlformats-officedocument.presentationml.slide+xml"/>
  <Override PartName="/ppt/slides/slide128.xml" ContentType="application/vnd.openxmlformats-officedocument.presentationml.slide+xml"/>
  <Override PartName="/ppt/slides/slide56.xml" ContentType="application/vnd.openxmlformats-officedocument.presentationml.slide+xml"/>
  <Override PartName="/ppt/slides/slide102.xml" ContentType="application/vnd.openxmlformats-officedocument.presentationml.slide+xml"/>
  <Override PartName="/ppt/slides/slide170.xml" ContentType="application/vnd.openxmlformats-officedocument.presentationml.slide+xml"/>
  <Override PartName="/ppt/slides/slide59.xml" ContentType="application/vnd.openxmlformats-officedocument.presentationml.slide+xml"/>
  <Override PartName="/ppt/slides/slide55.xml" ContentType="application/vnd.openxmlformats-officedocument.presentationml.slide+xml"/>
  <Override PartName="/ppt/slides/slide101.xml" ContentType="application/vnd.openxmlformats-officedocument.presentationml.slide+xml"/>
  <Override PartName="/ppt/slides/slide54.xml" ContentType="application/vnd.openxmlformats-officedocument.presentationml.slide+xml"/>
  <Override PartName="/ppt/slides/slide100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105.xml" ContentType="application/vnd.openxmlformats-officedocument.presentationml.slide+xml"/>
  <Override PartName="/ppt/slides/slide173.xml" ContentType="application/vnd.openxmlformats-officedocument.presentationml.slide+xml"/>
  <Override PartName="/ppt/slides/slide58.xml" ContentType="application/vnd.openxmlformats-officedocument.presentationml.slide+xml"/>
  <Override PartName="/ppt/slides/slide104.xml" ContentType="application/vnd.openxmlformats-officedocument.presentationml.slide+xml"/>
  <Override PartName="/ppt/slides/slide172.xml" ContentType="application/vnd.openxmlformats-officedocument.presentationml.slide+xml"/>
  <Override PartName="/ppt/slides/slide57.xml" ContentType="application/vnd.openxmlformats-officedocument.presentationml.slide+xml"/>
  <Override PartName="/ppt/slides/slide103.xml" ContentType="application/vnd.openxmlformats-officedocument.presentationml.slide+xml"/>
  <Override PartName="/ppt/slides/slide171.xml" ContentType="application/vnd.openxmlformats-officedocument.presentationml.slide+xml"/>
  <Override PartName="/ppt/slides/slide4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  <p:sldId id="362" r:id="rId111"/>
    <p:sldId id="363" r:id="rId112"/>
    <p:sldId id="364" r:id="rId113"/>
    <p:sldId id="365" r:id="rId114"/>
    <p:sldId id="366" r:id="rId115"/>
    <p:sldId id="367" r:id="rId116"/>
    <p:sldId id="368" r:id="rId117"/>
    <p:sldId id="369" r:id="rId118"/>
    <p:sldId id="370" r:id="rId119"/>
    <p:sldId id="371" r:id="rId120"/>
    <p:sldId id="372" r:id="rId121"/>
    <p:sldId id="373" r:id="rId122"/>
    <p:sldId id="374" r:id="rId123"/>
    <p:sldId id="375" r:id="rId124"/>
    <p:sldId id="376" r:id="rId125"/>
    <p:sldId id="377" r:id="rId126"/>
    <p:sldId id="378" r:id="rId127"/>
    <p:sldId id="379" r:id="rId128"/>
    <p:sldId id="380" r:id="rId129"/>
    <p:sldId id="381" r:id="rId130"/>
    <p:sldId id="382" r:id="rId131"/>
    <p:sldId id="383" r:id="rId132"/>
    <p:sldId id="384" r:id="rId133"/>
    <p:sldId id="385" r:id="rId134"/>
    <p:sldId id="386" r:id="rId135"/>
    <p:sldId id="387" r:id="rId136"/>
    <p:sldId id="388" r:id="rId137"/>
    <p:sldId id="389" r:id="rId138"/>
    <p:sldId id="390" r:id="rId139"/>
    <p:sldId id="391" r:id="rId140"/>
    <p:sldId id="392" r:id="rId141"/>
    <p:sldId id="393" r:id="rId142"/>
    <p:sldId id="394" r:id="rId143"/>
    <p:sldId id="395" r:id="rId144"/>
    <p:sldId id="396" r:id="rId145"/>
    <p:sldId id="397" r:id="rId146"/>
    <p:sldId id="398" r:id="rId147"/>
    <p:sldId id="399" r:id="rId148"/>
    <p:sldId id="400" r:id="rId149"/>
    <p:sldId id="401" r:id="rId150"/>
    <p:sldId id="402" r:id="rId151"/>
    <p:sldId id="403" r:id="rId152"/>
    <p:sldId id="404" r:id="rId153"/>
    <p:sldId id="405" r:id="rId154"/>
    <p:sldId id="406" r:id="rId155"/>
    <p:sldId id="407" r:id="rId156"/>
    <p:sldId id="408" r:id="rId157"/>
    <p:sldId id="409" r:id="rId158"/>
    <p:sldId id="410" r:id="rId159"/>
    <p:sldId id="411" r:id="rId160"/>
    <p:sldId id="412" r:id="rId161"/>
    <p:sldId id="413" r:id="rId162"/>
    <p:sldId id="414" r:id="rId163"/>
    <p:sldId id="415" r:id="rId164"/>
    <p:sldId id="416" r:id="rId165"/>
    <p:sldId id="417" r:id="rId166"/>
    <p:sldId id="418" r:id="rId167"/>
    <p:sldId id="419" r:id="rId168"/>
    <p:sldId id="420" r:id="rId169"/>
    <p:sldId id="421" r:id="rId170"/>
    <p:sldId id="422" r:id="rId171"/>
    <p:sldId id="423" r:id="rId172"/>
    <p:sldId id="424" r:id="rId173"/>
    <p:sldId id="425" r:id="rId174"/>
    <p:sldId id="426" r:id="rId175"/>
    <p:sldId id="427" r:id="rId176"/>
    <p:sldId id="428" r:id="rId177"/>
    <p:sldId id="429" r:id="rId178"/>
    <p:sldId id="430" r:id="rId179"/>
    <p:sldId id="431" r:id="rId180"/>
    <p:sldId id="432" r:id="rId181"/>
    <p:sldId id="433" r:id="rId182"/>
    <p:sldId id="434" r:id="rId183"/>
    <p:sldId id="435" r:id="rId184"/>
    <p:sldId id="436" r:id="rId185"/>
    <p:sldId id="437" r:id="rId186"/>
    <p:sldId id="438" r:id="rId187"/>
    <p:sldId id="439" r:id="rId188"/>
    <p:sldId id="440" r:id="rId189"/>
    <p:sldId id="441" r:id="rId190"/>
    <p:sldId id="442" r:id="rId191"/>
    <p:sldId id="443" r:id="rId192"/>
    <p:sldId id="444" r:id="rId193"/>
    <p:sldId id="445" r:id="rId194"/>
    <p:sldId id="446" r:id="rId195"/>
    <p:sldId id="447" r:id="rId196"/>
    <p:sldId id="448" r:id="rId197"/>
    <p:sldId id="449" r:id="rId198"/>
    <p:sldId id="450" r:id="rId199"/>
    <p:sldId id="451" r:id="rId200"/>
    <p:sldId id="452" r:id="rId201"/>
    <p:sldId id="453" r:id="rId202"/>
    <p:sldId id="454" r:id="rId203"/>
    <p:sldId id="455" r:id="rId204"/>
    <p:sldId id="456" r:id="rId205"/>
    <p:sldId id="457" r:id="rId206"/>
    <p:sldId id="458" r:id="rId207"/>
    <p:sldId id="459" r:id="rId208"/>
    <p:sldId id="460" r:id="rId209"/>
    <p:sldId id="461" r:id="rId210"/>
    <p:sldId id="462" r:id="rId211"/>
    <p:sldId id="463" r:id="rId212"/>
    <p:sldId id="464" r:id="rId213"/>
    <p:sldId id="465" r:id="rId214"/>
    <p:sldId id="466" r:id="rId215"/>
    <p:sldId id="467" r:id="rId216"/>
    <p:sldId id="468" r:id="rId217"/>
    <p:sldId id="469" r:id="rId218"/>
    <p:sldId id="470" r:id="rId219"/>
    <p:sldId id="471" r:id="rId220"/>
    <p:sldId id="472" r:id="rId221"/>
    <p:sldId id="473" r:id="rId222"/>
    <p:sldId id="474" r:id="rId223"/>
    <p:sldId id="475" r:id="rId224"/>
    <p:sldId id="476" r:id="rId225"/>
    <p:sldId id="477" r:id="rId226"/>
    <p:sldId id="478" r:id="rId227"/>
    <p:sldId id="479" r:id="rId228"/>
    <p:sldId id="480" r:id="rId229"/>
    <p:sldId id="481" r:id="rId230"/>
    <p:sldId id="482" r:id="rId231"/>
    <p:sldId id="483" r:id="rId23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Relationship Id="rId79" Type="http://schemas.openxmlformats.org/officeDocument/2006/relationships/slide" Target="slides/slide75.xml"/><Relationship Id="rId80" Type="http://schemas.openxmlformats.org/officeDocument/2006/relationships/slide" Target="slides/slide76.xml"/><Relationship Id="rId81" Type="http://schemas.openxmlformats.org/officeDocument/2006/relationships/slide" Target="slides/slide77.xml"/><Relationship Id="rId82" Type="http://schemas.openxmlformats.org/officeDocument/2006/relationships/slide" Target="slides/slide78.xml"/><Relationship Id="rId83" Type="http://schemas.openxmlformats.org/officeDocument/2006/relationships/slide" Target="slides/slide79.xml"/><Relationship Id="rId84" Type="http://schemas.openxmlformats.org/officeDocument/2006/relationships/slide" Target="slides/slide80.xml"/><Relationship Id="rId85" Type="http://schemas.openxmlformats.org/officeDocument/2006/relationships/slide" Target="slides/slide81.xml"/><Relationship Id="rId86" Type="http://schemas.openxmlformats.org/officeDocument/2006/relationships/slide" Target="slides/slide82.xml"/><Relationship Id="rId87" Type="http://schemas.openxmlformats.org/officeDocument/2006/relationships/slide" Target="slides/slide83.xml"/><Relationship Id="rId88" Type="http://schemas.openxmlformats.org/officeDocument/2006/relationships/slide" Target="slides/slide84.xml"/><Relationship Id="rId89" Type="http://schemas.openxmlformats.org/officeDocument/2006/relationships/slide" Target="slides/slide85.xml"/><Relationship Id="rId90" Type="http://schemas.openxmlformats.org/officeDocument/2006/relationships/slide" Target="slides/slide86.xml"/><Relationship Id="rId91" Type="http://schemas.openxmlformats.org/officeDocument/2006/relationships/slide" Target="slides/slide87.xml"/><Relationship Id="rId92" Type="http://schemas.openxmlformats.org/officeDocument/2006/relationships/slide" Target="slides/slide88.xml"/><Relationship Id="rId93" Type="http://schemas.openxmlformats.org/officeDocument/2006/relationships/slide" Target="slides/slide89.xml"/><Relationship Id="rId94" Type="http://schemas.openxmlformats.org/officeDocument/2006/relationships/slide" Target="slides/slide90.xml"/><Relationship Id="rId95" Type="http://schemas.openxmlformats.org/officeDocument/2006/relationships/slide" Target="slides/slide91.xml"/><Relationship Id="rId96" Type="http://schemas.openxmlformats.org/officeDocument/2006/relationships/slide" Target="slides/slide92.xml"/><Relationship Id="rId97" Type="http://schemas.openxmlformats.org/officeDocument/2006/relationships/slide" Target="slides/slide93.xml"/><Relationship Id="rId98" Type="http://schemas.openxmlformats.org/officeDocument/2006/relationships/slide" Target="slides/slide94.xml"/><Relationship Id="rId99" Type="http://schemas.openxmlformats.org/officeDocument/2006/relationships/slide" Target="slides/slide95.xml"/><Relationship Id="rId100" Type="http://schemas.openxmlformats.org/officeDocument/2006/relationships/slide" Target="slides/slide96.xml"/><Relationship Id="rId101" Type="http://schemas.openxmlformats.org/officeDocument/2006/relationships/slide" Target="slides/slide97.xml"/><Relationship Id="rId102" Type="http://schemas.openxmlformats.org/officeDocument/2006/relationships/slide" Target="slides/slide98.xml"/><Relationship Id="rId103" Type="http://schemas.openxmlformats.org/officeDocument/2006/relationships/slide" Target="slides/slide99.xml"/><Relationship Id="rId104" Type="http://schemas.openxmlformats.org/officeDocument/2006/relationships/slide" Target="slides/slide100.xml"/><Relationship Id="rId105" Type="http://schemas.openxmlformats.org/officeDocument/2006/relationships/slide" Target="slides/slide101.xml"/><Relationship Id="rId106" Type="http://schemas.openxmlformats.org/officeDocument/2006/relationships/slide" Target="slides/slide102.xml"/><Relationship Id="rId107" Type="http://schemas.openxmlformats.org/officeDocument/2006/relationships/slide" Target="slides/slide103.xml"/><Relationship Id="rId108" Type="http://schemas.openxmlformats.org/officeDocument/2006/relationships/slide" Target="slides/slide104.xml"/><Relationship Id="rId109" Type="http://schemas.openxmlformats.org/officeDocument/2006/relationships/slide" Target="slides/slide105.xml"/><Relationship Id="rId110" Type="http://schemas.openxmlformats.org/officeDocument/2006/relationships/slide" Target="slides/slide106.xml"/><Relationship Id="rId111" Type="http://schemas.openxmlformats.org/officeDocument/2006/relationships/slide" Target="slides/slide107.xml"/><Relationship Id="rId112" Type="http://schemas.openxmlformats.org/officeDocument/2006/relationships/slide" Target="slides/slide108.xml"/><Relationship Id="rId113" Type="http://schemas.openxmlformats.org/officeDocument/2006/relationships/slide" Target="slides/slide109.xml"/><Relationship Id="rId114" Type="http://schemas.openxmlformats.org/officeDocument/2006/relationships/slide" Target="slides/slide110.xml"/><Relationship Id="rId115" Type="http://schemas.openxmlformats.org/officeDocument/2006/relationships/slide" Target="slides/slide111.xml"/><Relationship Id="rId116" Type="http://schemas.openxmlformats.org/officeDocument/2006/relationships/slide" Target="slides/slide112.xml"/><Relationship Id="rId117" Type="http://schemas.openxmlformats.org/officeDocument/2006/relationships/slide" Target="slides/slide113.xml"/><Relationship Id="rId118" Type="http://schemas.openxmlformats.org/officeDocument/2006/relationships/slide" Target="slides/slide114.xml"/><Relationship Id="rId119" Type="http://schemas.openxmlformats.org/officeDocument/2006/relationships/slide" Target="slides/slide115.xml"/><Relationship Id="rId120" Type="http://schemas.openxmlformats.org/officeDocument/2006/relationships/slide" Target="slides/slide116.xml"/><Relationship Id="rId121" Type="http://schemas.openxmlformats.org/officeDocument/2006/relationships/slide" Target="slides/slide117.xml"/><Relationship Id="rId122" Type="http://schemas.openxmlformats.org/officeDocument/2006/relationships/slide" Target="slides/slide118.xml"/><Relationship Id="rId123" Type="http://schemas.openxmlformats.org/officeDocument/2006/relationships/slide" Target="slides/slide119.xml"/><Relationship Id="rId124" Type="http://schemas.openxmlformats.org/officeDocument/2006/relationships/slide" Target="slides/slide120.xml"/><Relationship Id="rId125" Type="http://schemas.openxmlformats.org/officeDocument/2006/relationships/slide" Target="slides/slide121.xml"/><Relationship Id="rId126" Type="http://schemas.openxmlformats.org/officeDocument/2006/relationships/slide" Target="slides/slide122.xml"/><Relationship Id="rId127" Type="http://schemas.openxmlformats.org/officeDocument/2006/relationships/slide" Target="slides/slide123.xml"/><Relationship Id="rId128" Type="http://schemas.openxmlformats.org/officeDocument/2006/relationships/slide" Target="slides/slide124.xml"/><Relationship Id="rId129" Type="http://schemas.openxmlformats.org/officeDocument/2006/relationships/slide" Target="slides/slide125.xml"/><Relationship Id="rId130" Type="http://schemas.openxmlformats.org/officeDocument/2006/relationships/slide" Target="slides/slide126.xml"/><Relationship Id="rId131" Type="http://schemas.openxmlformats.org/officeDocument/2006/relationships/slide" Target="slides/slide127.xml"/><Relationship Id="rId132" Type="http://schemas.openxmlformats.org/officeDocument/2006/relationships/slide" Target="slides/slide128.xml"/><Relationship Id="rId133" Type="http://schemas.openxmlformats.org/officeDocument/2006/relationships/slide" Target="slides/slide129.xml"/><Relationship Id="rId134" Type="http://schemas.openxmlformats.org/officeDocument/2006/relationships/slide" Target="slides/slide130.xml"/><Relationship Id="rId135" Type="http://schemas.openxmlformats.org/officeDocument/2006/relationships/slide" Target="slides/slide131.xml"/><Relationship Id="rId136" Type="http://schemas.openxmlformats.org/officeDocument/2006/relationships/slide" Target="slides/slide132.xml"/><Relationship Id="rId137" Type="http://schemas.openxmlformats.org/officeDocument/2006/relationships/slide" Target="slides/slide133.xml"/><Relationship Id="rId138" Type="http://schemas.openxmlformats.org/officeDocument/2006/relationships/slide" Target="slides/slide134.xml"/><Relationship Id="rId139" Type="http://schemas.openxmlformats.org/officeDocument/2006/relationships/slide" Target="slides/slide135.xml"/><Relationship Id="rId140" Type="http://schemas.openxmlformats.org/officeDocument/2006/relationships/slide" Target="slides/slide136.xml"/><Relationship Id="rId141" Type="http://schemas.openxmlformats.org/officeDocument/2006/relationships/slide" Target="slides/slide137.xml"/><Relationship Id="rId142" Type="http://schemas.openxmlformats.org/officeDocument/2006/relationships/slide" Target="slides/slide138.xml"/><Relationship Id="rId143" Type="http://schemas.openxmlformats.org/officeDocument/2006/relationships/slide" Target="slides/slide139.xml"/><Relationship Id="rId144" Type="http://schemas.openxmlformats.org/officeDocument/2006/relationships/slide" Target="slides/slide140.xml"/><Relationship Id="rId145" Type="http://schemas.openxmlformats.org/officeDocument/2006/relationships/slide" Target="slides/slide141.xml"/><Relationship Id="rId146" Type="http://schemas.openxmlformats.org/officeDocument/2006/relationships/slide" Target="slides/slide142.xml"/><Relationship Id="rId147" Type="http://schemas.openxmlformats.org/officeDocument/2006/relationships/slide" Target="slides/slide143.xml"/><Relationship Id="rId148" Type="http://schemas.openxmlformats.org/officeDocument/2006/relationships/slide" Target="slides/slide144.xml"/><Relationship Id="rId149" Type="http://schemas.openxmlformats.org/officeDocument/2006/relationships/slide" Target="slides/slide145.xml"/><Relationship Id="rId150" Type="http://schemas.openxmlformats.org/officeDocument/2006/relationships/slide" Target="slides/slide146.xml"/><Relationship Id="rId151" Type="http://schemas.openxmlformats.org/officeDocument/2006/relationships/slide" Target="slides/slide147.xml"/><Relationship Id="rId152" Type="http://schemas.openxmlformats.org/officeDocument/2006/relationships/slide" Target="slides/slide148.xml"/><Relationship Id="rId153" Type="http://schemas.openxmlformats.org/officeDocument/2006/relationships/slide" Target="slides/slide149.xml"/><Relationship Id="rId154" Type="http://schemas.openxmlformats.org/officeDocument/2006/relationships/slide" Target="slides/slide150.xml"/><Relationship Id="rId155" Type="http://schemas.openxmlformats.org/officeDocument/2006/relationships/slide" Target="slides/slide151.xml"/><Relationship Id="rId156" Type="http://schemas.openxmlformats.org/officeDocument/2006/relationships/slide" Target="slides/slide152.xml"/><Relationship Id="rId157" Type="http://schemas.openxmlformats.org/officeDocument/2006/relationships/slide" Target="slides/slide153.xml"/><Relationship Id="rId158" Type="http://schemas.openxmlformats.org/officeDocument/2006/relationships/slide" Target="slides/slide154.xml"/><Relationship Id="rId159" Type="http://schemas.openxmlformats.org/officeDocument/2006/relationships/slide" Target="slides/slide155.xml"/><Relationship Id="rId160" Type="http://schemas.openxmlformats.org/officeDocument/2006/relationships/slide" Target="slides/slide156.xml"/><Relationship Id="rId161" Type="http://schemas.openxmlformats.org/officeDocument/2006/relationships/slide" Target="slides/slide157.xml"/><Relationship Id="rId162" Type="http://schemas.openxmlformats.org/officeDocument/2006/relationships/slide" Target="slides/slide158.xml"/><Relationship Id="rId163" Type="http://schemas.openxmlformats.org/officeDocument/2006/relationships/slide" Target="slides/slide159.xml"/><Relationship Id="rId164" Type="http://schemas.openxmlformats.org/officeDocument/2006/relationships/slide" Target="slides/slide160.xml"/><Relationship Id="rId165" Type="http://schemas.openxmlformats.org/officeDocument/2006/relationships/slide" Target="slides/slide161.xml"/><Relationship Id="rId166" Type="http://schemas.openxmlformats.org/officeDocument/2006/relationships/slide" Target="slides/slide162.xml"/><Relationship Id="rId167" Type="http://schemas.openxmlformats.org/officeDocument/2006/relationships/slide" Target="slides/slide163.xml"/><Relationship Id="rId168" Type="http://schemas.openxmlformats.org/officeDocument/2006/relationships/slide" Target="slides/slide164.xml"/><Relationship Id="rId169" Type="http://schemas.openxmlformats.org/officeDocument/2006/relationships/slide" Target="slides/slide165.xml"/><Relationship Id="rId170" Type="http://schemas.openxmlformats.org/officeDocument/2006/relationships/slide" Target="slides/slide166.xml"/><Relationship Id="rId171" Type="http://schemas.openxmlformats.org/officeDocument/2006/relationships/slide" Target="slides/slide167.xml"/><Relationship Id="rId172" Type="http://schemas.openxmlformats.org/officeDocument/2006/relationships/slide" Target="slides/slide168.xml"/><Relationship Id="rId173" Type="http://schemas.openxmlformats.org/officeDocument/2006/relationships/slide" Target="slides/slide169.xml"/><Relationship Id="rId174" Type="http://schemas.openxmlformats.org/officeDocument/2006/relationships/slide" Target="slides/slide170.xml"/><Relationship Id="rId175" Type="http://schemas.openxmlformats.org/officeDocument/2006/relationships/slide" Target="slides/slide171.xml"/><Relationship Id="rId176" Type="http://schemas.openxmlformats.org/officeDocument/2006/relationships/slide" Target="slides/slide172.xml"/><Relationship Id="rId177" Type="http://schemas.openxmlformats.org/officeDocument/2006/relationships/slide" Target="slides/slide173.xml"/><Relationship Id="rId178" Type="http://schemas.openxmlformats.org/officeDocument/2006/relationships/slide" Target="slides/slide174.xml"/><Relationship Id="rId179" Type="http://schemas.openxmlformats.org/officeDocument/2006/relationships/slide" Target="slides/slide175.xml"/><Relationship Id="rId180" Type="http://schemas.openxmlformats.org/officeDocument/2006/relationships/slide" Target="slides/slide176.xml"/><Relationship Id="rId181" Type="http://schemas.openxmlformats.org/officeDocument/2006/relationships/slide" Target="slides/slide177.xml"/><Relationship Id="rId182" Type="http://schemas.openxmlformats.org/officeDocument/2006/relationships/slide" Target="slides/slide178.xml"/><Relationship Id="rId183" Type="http://schemas.openxmlformats.org/officeDocument/2006/relationships/slide" Target="slides/slide179.xml"/><Relationship Id="rId184" Type="http://schemas.openxmlformats.org/officeDocument/2006/relationships/slide" Target="slides/slide180.xml"/><Relationship Id="rId185" Type="http://schemas.openxmlformats.org/officeDocument/2006/relationships/slide" Target="slides/slide181.xml"/><Relationship Id="rId186" Type="http://schemas.openxmlformats.org/officeDocument/2006/relationships/slide" Target="slides/slide182.xml"/><Relationship Id="rId187" Type="http://schemas.openxmlformats.org/officeDocument/2006/relationships/slide" Target="slides/slide183.xml"/><Relationship Id="rId188" Type="http://schemas.openxmlformats.org/officeDocument/2006/relationships/slide" Target="slides/slide184.xml"/><Relationship Id="rId189" Type="http://schemas.openxmlformats.org/officeDocument/2006/relationships/slide" Target="slides/slide185.xml"/><Relationship Id="rId190" Type="http://schemas.openxmlformats.org/officeDocument/2006/relationships/slide" Target="slides/slide186.xml"/><Relationship Id="rId191" Type="http://schemas.openxmlformats.org/officeDocument/2006/relationships/slide" Target="slides/slide187.xml"/><Relationship Id="rId192" Type="http://schemas.openxmlformats.org/officeDocument/2006/relationships/slide" Target="slides/slide188.xml"/><Relationship Id="rId193" Type="http://schemas.openxmlformats.org/officeDocument/2006/relationships/slide" Target="slides/slide189.xml"/><Relationship Id="rId194" Type="http://schemas.openxmlformats.org/officeDocument/2006/relationships/slide" Target="slides/slide190.xml"/><Relationship Id="rId195" Type="http://schemas.openxmlformats.org/officeDocument/2006/relationships/slide" Target="slides/slide191.xml"/><Relationship Id="rId196" Type="http://schemas.openxmlformats.org/officeDocument/2006/relationships/slide" Target="slides/slide192.xml"/><Relationship Id="rId197" Type="http://schemas.openxmlformats.org/officeDocument/2006/relationships/slide" Target="slides/slide193.xml"/><Relationship Id="rId198" Type="http://schemas.openxmlformats.org/officeDocument/2006/relationships/slide" Target="slides/slide194.xml"/><Relationship Id="rId199" Type="http://schemas.openxmlformats.org/officeDocument/2006/relationships/slide" Target="slides/slide195.xml"/><Relationship Id="rId200" Type="http://schemas.openxmlformats.org/officeDocument/2006/relationships/slide" Target="slides/slide196.xml"/><Relationship Id="rId201" Type="http://schemas.openxmlformats.org/officeDocument/2006/relationships/slide" Target="slides/slide197.xml"/><Relationship Id="rId202" Type="http://schemas.openxmlformats.org/officeDocument/2006/relationships/slide" Target="slides/slide198.xml"/><Relationship Id="rId203" Type="http://schemas.openxmlformats.org/officeDocument/2006/relationships/slide" Target="slides/slide199.xml"/><Relationship Id="rId204" Type="http://schemas.openxmlformats.org/officeDocument/2006/relationships/slide" Target="slides/slide200.xml"/><Relationship Id="rId205" Type="http://schemas.openxmlformats.org/officeDocument/2006/relationships/slide" Target="slides/slide201.xml"/><Relationship Id="rId206" Type="http://schemas.openxmlformats.org/officeDocument/2006/relationships/slide" Target="slides/slide202.xml"/><Relationship Id="rId207" Type="http://schemas.openxmlformats.org/officeDocument/2006/relationships/slide" Target="slides/slide203.xml"/><Relationship Id="rId208" Type="http://schemas.openxmlformats.org/officeDocument/2006/relationships/slide" Target="slides/slide204.xml"/><Relationship Id="rId209" Type="http://schemas.openxmlformats.org/officeDocument/2006/relationships/slide" Target="slides/slide205.xml"/><Relationship Id="rId210" Type="http://schemas.openxmlformats.org/officeDocument/2006/relationships/slide" Target="slides/slide206.xml"/><Relationship Id="rId211" Type="http://schemas.openxmlformats.org/officeDocument/2006/relationships/slide" Target="slides/slide207.xml"/><Relationship Id="rId212" Type="http://schemas.openxmlformats.org/officeDocument/2006/relationships/slide" Target="slides/slide208.xml"/><Relationship Id="rId213" Type="http://schemas.openxmlformats.org/officeDocument/2006/relationships/slide" Target="slides/slide209.xml"/><Relationship Id="rId214" Type="http://schemas.openxmlformats.org/officeDocument/2006/relationships/slide" Target="slides/slide210.xml"/><Relationship Id="rId215" Type="http://schemas.openxmlformats.org/officeDocument/2006/relationships/slide" Target="slides/slide211.xml"/><Relationship Id="rId216" Type="http://schemas.openxmlformats.org/officeDocument/2006/relationships/slide" Target="slides/slide212.xml"/><Relationship Id="rId217" Type="http://schemas.openxmlformats.org/officeDocument/2006/relationships/slide" Target="slides/slide213.xml"/><Relationship Id="rId218" Type="http://schemas.openxmlformats.org/officeDocument/2006/relationships/slide" Target="slides/slide214.xml"/><Relationship Id="rId219" Type="http://schemas.openxmlformats.org/officeDocument/2006/relationships/slide" Target="slides/slide215.xml"/><Relationship Id="rId220" Type="http://schemas.openxmlformats.org/officeDocument/2006/relationships/slide" Target="slides/slide216.xml"/><Relationship Id="rId221" Type="http://schemas.openxmlformats.org/officeDocument/2006/relationships/slide" Target="slides/slide217.xml"/><Relationship Id="rId222" Type="http://schemas.openxmlformats.org/officeDocument/2006/relationships/slide" Target="slides/slide218.xml"/><Relationship Id="rId223" Type="http://schemas.openxmlformats.org/officeDocument/2006/relationships/slide" Target="slides/slide219.xml"/><Relationship Id="rId224" Type="http://schemas.openxmlformats.org/officeDocument/2006/relationships/slide" Target="slides/slide220.xml"/><Relationship Id="rId225" Type="http://schemas.openxmlformats.org/officeDocument/2006/relationships/slide" Target="slides/slide221.xml"/><Relationship Id="rId226" Type="http://schemas.openxmlformats.org/officeDocument/2006/relationships/slide" Target="slides/slide222.xml"/><Relationship Id="rId227" Type="http://schemas.openxmlformats.org/officeDocument/2006/relationships/slide" Target="slides/slide223.xml"/><Relationship Id="rId228" Type="http://schemas.openxmlformats.org/officeDocument/2006/relationships/slide" Target="slides/slide224.xml"/><Relationship Id="rId229" Type="http://schemas.openxmlformats.org/officeDocument/2006/relationships/slide" Target="slides/slide225.xml"/><Relationship Id="rId230" Type="http://schemas.openxmlformats.org/officeDocument/2006/relationships/slide" Target="slides/slide226.xml"/><Relationship Id="rId231" Type="http://schemas.openxmlformats.org/officeDocument/2006/relationships/slide" Target="slides/slide227.xml"/><Relationship Id="rId232" Type="http://schemas.openxmlformats.org/officeDocument/2006/relationships/slide" Target="slides/slide228.xml"/><Relationship Id="rId2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DE" sz="4400" spc="-1" strike="noStrike">
                <a:solidFill>
                  <a:srgbClr val="000000"/>
                </a:solidFill>
                <a:latin typeface="Arial"/>
              </a:rPr>
              <a:t>Format des Titeltextes durch Klicken bearbeiten</a:t>
            </a:r>
            <a:endParaRPr b="0" lang="de-DE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DE" sz="4400" spc="-1" strike="noStrike">
                <a:solidFill>
                  <a:srgbClr val="000000"/>
                </a:solidFill>
                <a:latin typeface="Arial"/>
              </a:rPr>
              <a:t>Format des Titeltextes durch Klicken bearbeiten</a:t>
            </a:r>
            <a:endParaRPr b="0" lang="de-D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rgbClr val="000000"/>
                </a:solidFill>
                <a:latin typeface="Arial"/>
              </a:rPr>
              <a:t>Format des Gliederungstextes durch Klicken bearbeiten</a:t>
            </a: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solidFill>
                  <a:srgbClr val="000000"/>
                </a:solidFill>
                <a:latin typeface="Arial"/>
              </a:rPr>
              <a:t>Zweite Gliederungsebene</a:t>
            </a: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solidFill>
                  <a:srgbClr val="000000"/>
                </a:solidFill>
                <a:latin typeface="Arial"/>
              </a:rPr>
              <a:t>Dritte Gliederungsebene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Vierte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Fünfte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Sechste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Siebte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  <p:sldLayoutId id="2147483652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DE" sz="4400" spc="-1" strike="noStrike">
                <a:solidFill>
                  <a:srgbClr val="000000"/>
                </a:solidFill>
                <a:latin typeface="Arial"/>
              </a:rPr>
              <a:t>Format des Titeltextes durch Klicken bearbeiten</a:t>
            </a:r>
            <a:endParaRPr b="0" lang="de-D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rgbClr val="000000"/>
                </a:solidFill>
                <a:latin typeface="Arial"/>
              </a:rPr>
              <a:t>Format des Gliederungstextes durch Klicken bearbeiten</a:t>
            </a: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solidFill>
                  <a:srgbClr val="000000"/>
                </a:solidFill>
                <a:latin typeface="Arial"/>
              </a:rPr>
              <a:t>Zweite Gliederungsebene</a:t>
            </a: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solidFill>
                  <a:srgbClr val="000000"/>
                </a:solidFill>
                <a:latin typeface="Arial"/>
              </a:rPr>
              <a:t>Dritte Gliederungsebene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Vierte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Fünfte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Sechste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Siebte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614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5760000" y="0"/>
            <a:ext cx="6431400" cy="6857280"/>
          </a:xfrm>
          <a:prstGeom prst="rect">
            <a:avLst/>
          </a:prstGeom>
          <a:ln w="0">
            <a:noFill/>
          </a:ln>
        </p:spPr>
      </p:pic>
      <p:sp>
        <p:nvSpPr>
          <p:cNvPr id="13" name=""/>
          <p:cNvSpPr/>
          <p:nvPr/>
        </p:nvSpPr>
        <p:spPr>
          <a:xfrm>
            <a:off x="540000" y="360000"/>
            <a:ext cx="35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Airmius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540000" y="1080000"/>
            <a:ext cx="4859280" cy="10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500" spc="-1" strike="noStrike">
                <a:solidFill>
                  <a:srgbClr val="ffffff"/>
                </a:solidFill>
                <a:latin typeface="Arial"/>
                <a:ea typeface="DejaVu Sans"/>
              </a:rPr>
              <a:t>Vollständige</a:t>
            </a:r>
            <a:br>
              <a:rPr sz="2500"/>
            </a:br>
            <a:r>
              <a:rPr b="1" lang="de-DE" sz="2500" spc="-1" strike="noStrike">
                <a:solidFill>
                  <a:srgbClr val="ffffff"/>
                </a:solidFill>
                <a:latin typeface="Arial"/>
                <a:ea typeface="DejaVu Sans"/>
              </a:rPr>
              <a:t>User-Case-Testanleitung</a:t>
            </a:r>
            <a:endParaRPr b="0" lang="de-DE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558000" y="2376000"/>
            <a:ext cx="413928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1400" spc="-1" strike="noStrike">
                <a:solidFill>
                  <a:srgbClr val="d8e7ff"/>
                </a:solidFill>
                <a:latin typeface="Arial"/>
                <a:ea typeface="DejaVu Sans"/>
              </a:rPr>
              <a:t>Web + App · Sportler · Trainer · Verein · Admin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558000" y="2916000"/>
            <a:ext cx="388728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e8f1ff"/>
                </a:solidFill>
                <a:latin typeface="Arial"/>
                <a:ea typeface="DejaVu Sans"/>
              </a:rPr>
              <a:t>Schritt für Schritt prüfen, dokumentieren und auf vier Geräten abgleichen.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558000" y="3960000"/>
            <a:ext cx="1151280" cy="2872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" name=""/>
          <p:cNvSpPr/>
          <p:nvPr/>
        </p:nvSpPr>
        <p:spPr>
          <a:xfrm>
            <a:off x="558000" y="3960000"/>
            <a:ext cx="115128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9c1e8"/>
                </a:solidFill>
                <a:latin typeface="Arial"/>
                <a:ea typeface="DejaVu Sans"/>
              </a:rPr>
              <a:t>93 Use Cases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1800000" y="3960000"/>
            <a:ext cx="1439280" cy="2872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" name=""/>
          <p:cNvSpPr/>
          <p:nvPr/>
        </p:nvSpPr>
        <p:spPr>
          <a:xfrm>
            <a:off x="1800000" y="3960000"/>
            <a:ext cx="143928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9c1e8"/>
                </a:solidFill>
                <a:latin typeface="Arial"/>
                <a:ea typeface="DejaVu Sans"/>
              </a:rPr>
              <a:t>1.884 Checkpunkte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3312000" y="3960000"/>
            <a:ext cx="1151280" cy="28728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" name=""/>
          <p:cNvSpPr/>
          <p:nvPr/>
        </p:nvSpPr>
        <p:spPr>
          <a:xfrm>
            <a:off x="3312000" y="3960000"/>
            <a:ext cx="115128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9c1e8"/>
                </a:solidFill>
                <a:latin typeface="Arial"/>
                <a:ea typeface="DejaVu Sans"/>
              </a:rPr>
              <a:t>PPT-Testplan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558000" y="6264000"/>
            <a:ext cx="179928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9c1e8"/>
                </a:solidFill>
                <a:latin typeface="Arial"/>
                <a:ea typeface="DejaVu Sans"/>
              </a:rPr>
              <a:t>Stand: 01.08.2026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" name=""/>
          <p:cNvSpPr/>
          <p:nvPr/>
        </p:nvSpPr>
        <p:spPr>
          <a:xfrm>
            <a:off x="396000" y="252000"/>
            <a:ext cx="791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So testest du mit 2 Handys und 2 Laptops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396000" y="576000"/>
            <a:ext cx="7919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1300" spc="-1" strike="noStrike">
                <a:solidFill>
                  <a:srgbClr val="475569"/>
                </a:solidFill>
                <a:latin typeface="Arial"/>
                <a:ea typeface="DejaVu Sans"/>
              </a:rPr>
              <a:t>Jedes Gerät bleibt während eines Use Cases bei seiner Rolle.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396000" y="1152000"/>
            <a:ext cx="2411280" cy="1511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" name=""/>
          <p:cNvSpPr/>
          <p:nvPr/>
        </p:nvSpPr>
        <p:spPr>
          <a:xfrm>
            <a:off x="396000" y="1152000"/>
            <a:ext cx="2411280" cy="151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Handy 1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App · Sportler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Training · Feed · Ernährung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Profil · Vereinssuche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3060000" y="1152000"/>
            <a:ext cx="2411280" cy="1511280"/>
          </a:xfrm>
          <a:prstGeom prst="rect">
            <a:avLst/>
          </a:prstGeom>
          <a:solidFill>
            <a:srgbClr val="f2eafe"/>
          </a:solidFill>
          <a:ln w="126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" name=""/>
          <p:cNvSpPr/>
          <p:nvPr/>
        </p:nvSpPr>
        <p:spPr>
          <a:xfrm>
            <a:off x="3060000" y="1152000"/>
            <a:ext cx="2411280" cy="151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Handy 2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App · Trainer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Cockpit · Teams · Feedback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Plan · Anwesenheit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5724000" y="1152000"/>
            <a:ext cx="2411280" cy="1511280"/>
          </a:xfrm>
          <a:prstGeom prst="rect">
            <a:avLst/>
          </a:prstGeom>
          <a:solidFill>
            <a:srgbClr val="fff2e8"/>
          </a:solidFill>
          <a:ln w="126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" name=""/>
          <p:cNvSpPr/>
          <p:nvPr/>
        </p:nvSpPr>
        <p:spPr>
          <a:xfrm>
            <a:off x="5724000" y="1152000"/>
            <a:ext cx="2411280" cy="151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Laptop 1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Web · Verein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Mitglieder · Finanzen · Dokumente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Events · Sponsoren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8388000" y="1152000"/>
            <a:ext cx="2519280" cy="1511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5" name=""/>
          <p:cNvSpPr/>
          <p:nvPr/>
        </p:nvSpPr>
        <p:spPr>
          <a:xfrm>
            <a:off x="8388000" y="1152000"/>
            <a:ext cx="2519280" cy="151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Laptop 2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Web · Gegenkonto / Admin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Kontrolle · Moderation · Commerce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öffentliche Gegenprüfung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396000" y="3276000"/>
            <a:ext cx="1043928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300" spc="-1" strike="noStrike">
                <a:solidFill>
                  <a:srgbClr val="0f2b52"/>
                </a:solidFill>
                <a:latin typeface="Arial"/>
                <a:ea typeface="DejaVu Sans"/>
              </a:rPr>
              <a:t>Ablauf: Aktion auslösen → anderes Gerät prüfen → Erwartung dokumentieren → Testobjekt bereinigen.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396000" y="3960000"/>
            <a:ext cx="1051128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9a3412"/>
                </a:solidFill>
                <a:latin typeface="Arial"/>
                <a:ea typeface="DejaVu Sans"/>
              </a:rPr>
              <a:t>Wichtig: Auf echtem Handy niemals localhost verwenden. Emulator: 10.0.2.2 · echtes Handy: erreichbare LAN-IP.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396000" y="4680000"/>
            <a:ext cx="863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Die genaue Entwicklungsmodus- und USB-Debugging-Anleitung steht in UC-93.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1" name=""/>
          <p:cNvSpPr/>
          <p:nvPr/>
        </p:nvSpPr>
        <p:spPr>
          <a:xfrm>
            <a:off x="396000" y="252000"/>
            <a:ext cx="791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So benutzt du jede Use-Case-Folie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396000" y="576000"/>
            <a:ext cx="8639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1300" spc="-1" strike="noStrike">
                <a:solidFill>
                  <a:srgbClr val="475569"/>
                </a:solidFill>
                <a:latin typeface="Arial"/>
                <a:ea typeface="DejaVu Sans"/>
              </a:rPr>
              <a:t>Nicht nur klicken: immer Ergebnis, Gegenkonto und Nachweis kontrollieren.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396000" y="1080000"/>
            <a:ext cx="3167280" cy="863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" name=""/>
          <p:cNvSpPr/>
          <p:nvPr/>
        </p:nvSpPr>
        <p:spPr>
          <a:xfrm>
            <a:off x="396000" y="1080000"/>
            <a:ext cx="3167280" cy="86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1 · 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Verstehen, welche Nutzeraufgabe geprüft wird.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3780000" y="1080000"/>
            <a:ext cx="3167280" cy="863280"/>
          </a:xfrm>
          <a:prstGeom prst="rect">
            <a:avLst/>
          </a:prstGeom>
          <a:solidFill>
            <a:srgbClr val="f2eafe"/>
          </a:solidFill>
          <a:ln w="126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6" name=""/>
          <p:cNvSpPr/>
          <p:nvPr/>
        </p:nvSpPr>
        <p:spPr>
          <a:xfrm>
            <a:off x="3780000" y="1080000"/>
            <a:ext cx="3167280" cy="86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2 · 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Konto, Rolle, Testdaten und Geräte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7164000" y="1080000"/>
            <a:ext cx="3167280" cy="863280"/>
          </a:xfrm>
          <a:prstGeom prst="rect">
            <a:avLst/>
          </a:prstGeom>
          <a:solidFill>
            <a:srgbClr val="fff2e8"/>
          </a:solidFill>
          <a:ln w="126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8" name=""/>
          <p:cNvSpPr/>
          <p:nvPr/>
        </p:nvSpPr>
        <p:spPr>
          <a:xfrm>
            <a:off x="7164000" y="1080000"/>
            <a:ext cx="3167280" cy="86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3 · Klicken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Schritt für Schritt die angezeigten Aktionen durchführen.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396000" y="2232000"/>
            <a:ext cx="3167280" cy="86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0" name=""/>
          <p:cNvSpPr/>
          <p:nvPr/>
        </p:nvSpPr>
        <p:spPr>
          <a:xfrm>
            <a:off x="396000" y="2232000"/>
            <a:ext cx="3167280" cy="86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4 · Gegenprüfung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Auf dem zweiten Konto oder Gerät Ergebnis prüfen.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3780000" y="2232000"/>
            <a:ext cx="3167280" cy="86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2" name=""/>
          <p:cNvSpPr/>
          <p:nvPr/>
        </p:nvSpPr>
        <p:spPr>
          <a:xfrm>
            <a:off x="3780000" y="2232000"/>
            <a:ext cx="3167280" cy="86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5 ·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Status, Version, Screenshot und Fehlertext eintragen.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7164000" y="2232000"/>
            <a:ext cx="3167280" cy="863280"/>
          </a:xfrm>
          <a:prstGeom prst="rect">
            <a:avLst/>
          </a:prstGeom>
          <a:solidFill>
            <a:srgbClr val="fdecec"/>
          </a:solidFill>
          <a:ln w="126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4" name=""/>
          <p:cNvSpPr/>
          <p:nvPr/>
        </p:nvSpPr>
        <p:spPr>
          <a:xfrm>
            <a:off x="7164000" y="2232000"/>
            <a:ext cx="3167280" cy="86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6 · Bereinigen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Testposts, Dateien, Zahlungen und Konten wieder entfernen.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396000" y="3780000"/>
            <a:ext cx="7199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300" spc="-1" strike="noStrike">
                <a:solidFill>
                  <a:srgbClr val="0f2b52"/>
                </a:solidFill>
                <a:latin typeface="Arial"/>
                <a:ea typeface="DejaVu Sans"/>
              </a:rPr>
              <a:t>Statuswerte: Offen · Bestanden · Fehler · Nachtest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396000" y="4320000"/>
            <a:ext cx="1072728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9a3412"/>
                </a:solidFill>
                <a:latin typeface="Arial"/>
                <a:ea typeface="DejaVu Sans"/>
              </a:rPr>
              <a:t>UI-only beachten: Wenn ein Screen „UI bereit“ oder „API folgt“ anzeigt, als Integrationslücke markieren und nicht als echte erfolgreiche Serveraktion werten.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3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" name=""/>
          <p:cNvSpPr/>
          <p:nvPr/>
        </p:nvSpPr>
        <p:spPr>
          <a:xfrm>
            <a:off x="396000" y="252000"/>
            <a:ext cx="791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Die komplette Produktkette auf einen Blick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396000" y="576000"/>
            <a:ext cx="8639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1300" spc="-1" strike="noStrike">
                <a:solidFill>
                  <a:srgbClr val="475569"/>
                </a:solidFill>
                <a:latin typeface="Arial"/>
                <a:ea typeface="DejaVu Sans"/>
              </a:rPr>
              <a:t>Vom ersten Login bis zu Verein, Commerce, Lernen und Admin.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" name="" descr=""/>
          <p:cNvPicPr/>
          <p:nvPr/>
        </p:nvPicPr>
        <p:blipFill>
          <a:blip r:embed="rId1"/>
          <a:stretch/>
        </p:blipFill>
        <p:spPr>
          <a:xfrm>
            <a:off x="396000" y="972000"/>
            <a:ext cx="7919280" cy="4499280"/>
          </a:xfrm>
          <a:prstGeom prst="rect">
            <a:avLst/>
          </a:prstGeom>
          <a:ln w="0">
            <a:noFill/>
          </a:ln>
        </p:spPr>
      </p:pic>
      <p:sp>
        <p:nvSpPr>
          <p:cNvPr id="62" name=""/>
          <p:cNvSpPr/>
          <p:nvPr/>
        </p:nvSpPr>
        <p:spPr>
          <a:xfrm>
            <a:off x="8640000" y="1152000"/>
            <a:ext cx="3059280" cy="1115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3" name=""/>
          <p:cNvSpPr/>
          <p:nvPr/>
        </p:nvSpPr>
        <p:spPr>
          <a:xfrm>
            <a:off x="8640000" y="1152000"/>
            <a:ext cx="305928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Prüfprinzip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Jede Aktion braucht ein erwartetes Ergebnis und eine Gegenprüfung.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8640000" y="2520000"/>
            <a:ext cx="3059280" cy="1115280"/>
          </a:xfrm>
          <a:prstGeom prst="rect">
            <a:avLst/>
          </a:prstGeom>
          <a:solidFill>
            <a:srgbClr val="e8f8f1"/>
          </a:solidFill>
          <a:ln w="126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5" name=""/>
          <p:cNvSpPr/>
          <p:nvPr/>
        </p:nvSpPr>
        <p:spPr>
          <a:xfrm>
            <a:off x="8640000" y="2520000"/>
            <a:ext cx="305928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Datenfluss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Web und App greifen auf denselben Teststand zu. Änderungen müssen synchron erscheinen.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8640000" y="3888000"/>
            <a:ext cx="3059280" cy="1115280"/>
          </a:xfrm>
          <a:prstGeom prst="rect">
            <a:avLst/>
          </a:prstGeom>
          <a:solidFill>
            <a:srgbClr val="fff2e8"/>
          </a:solidFill>
          <a:ln w="126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7" name=""/>
          <p:cNvSpPr/>
          <p:nvPr/>
        </p:nvSpPr>
        <p:spPr>
          <a:xfrm>
            <a:off x="8640000" y="3888000"/>
            <a:ext cx="305928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Sicherheit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Rollen, Sichtbarkeit, Altersfreigabe und Löschung in jedem Bereich mitprüfen.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4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0" name=""/>
          <p:cNvSpPr/>
          <p:nvPr/>
        </p:nvSpPr>
        <p:spPr>
          <a:xfrm>
            <a:off x="396000" y="252000"/>
            <a:ext cx="791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Rollen- und Funktionsmatrix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396000" y="576000"/>
            <a:ext cx="7919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1300" spc="-1" strike="noStrike">
                <a:solidFill>
                  <a:srgbClr val="475569"/>
                </a:solidFill>
                <a:latin typeface="Arial"/>
                <a:ea typeface="DejaVu Sans"/>
              </a:rPr>
              <a:t>Diese Matrix zeigt, wer welchen Bereich primär prüft.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396000" y="1008000"/>
            <a:ext cx="2015280" cy="323280"/>
          </a:xfrm>
          <a:prstGeom prst="rect">
            <a:avLst/>
          </a:prstGeom>
          <a:solidFill>
            <a:srgbClr val="0f2b52"/>
          </a:solidFill>
          <a:ln w="12600">
            <a:solidFill>
              <a:srgbClr val="0f2b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3" name=""/>
          <p:cNvSpPr/>
          <p:nvPr/>
        </p:nvSpPr>
        <p:spPr>
          <a:xfrm>
            <a:off x="396000" y="1008000"/>
            <a:ext cx="201528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Bereich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2556000" y="1008000"/>
            <a:ext cx="1799280" cy="323280"/>
          </a:xfrm>
          <a:prstGeom prst="rect">
            <a:avLst/>
          </a:prstGeom>
          <a:solidFill>
            <a:srgbClr val="0f2b52"/>
          </a:solidFill>
          <a:ln w="12600">
            <a:solidFill>
              <a:srgbClr val="0f2b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5" name=""/>
          <p:cNvSpPr/>
          <p:nvPr/>
        </p:nvSpPr>
        <p:spPr>
          <a:xfrm>
            <a:off x="2556000" y="1008000"/>
            <a:ext cx="179928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ffffff"/>
                </a:solidFill>
                <a:latin typeface="Arial"/>
                <a:ea typeface="DejaVu Sans"/>
              </a:rPr>
              <a:t>Sportler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4500000" y="1008000"/>
            <a:ext cx="1799280" cy="323280"/>
          </a:xfrm>
          <a:prstGeom prst="rect">
            <a:avLst/>
          </a:prstGeom>
          <a:solidFill>
            <a:srgbClr val="0f2b52"/>
          </a:solidFill>
          <a:ln w="12600">
            <a:solidFill>
              <a:srgbClr val="0f2b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7" name=""/>
          <p:cNvSpPr/>
          <p:nvPr/>
        </p:nvSpPr>
        <p:spPr>
          <a:xfrm>
            <a:off x="4500000" y="1008000"/>
            <a:ext cx="179928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ffffff"/>
                </a:solidFill>
                <a:latin typeface="Arial"/>
                <a:ea typeface="DejaVu Sans"/>
              </a:rPr>
              <a:t>Trainer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6444000" y="1008000"/>
            <a:ext cx="2015280" cy="323280"/>
          </a:xfrm>
          <a:prstGeom prst="rect">
            <a:avLst/>
          </a:prstGeom>
          <a:solidFill>
            <a:srgbClr val="0f2b52"/>
          </a:solidFill>
          <a:ln w="12600">
            <a:solidFill>
              <a:srgbClr val="0f2b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9" name=""/>
          <p:cNvSpPr/>
          <p:nvPr/>
        </p:nvSpPr>
        <p:spPr>
          <a:xfrm>
            <a:off x="6444000" y="1008000"/>
            <a:ext cx="201528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ffffff"/>
                </a:solidFill>
                <a:latin typeface="Arial"/>
                <a:ea typeface="DejaVu Sans"/>
              </a:rPr>
              <a:t>Verein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8640000" y="1008000"/>
            <a:ext cx="2195280" cy="323280"/>
          </a:xfrm>
          <a:prstGeom prst="rect">
            <a:avLst/>
          </a:prstGeom>
          <a:solidFill>
            <a:srgbClr val="0f2b52"/>
          </a:solidFill>
          <a:ln w="12600">
            <a:solidFill>
              <a:srgbClr val="0f2b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1" name=""/>
          <p:cNvSpPr/>
          <p:nvPr/>
        </p:nvSpPr>
        <p:spPr>
          <a:xfrm>
            <a:off x="8640000" y="1008000"/>
            <a:ext cx="219528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ffffff"/>
                </a:solidFill>
                <a:latin typeface="Arial"/>
                <a:ea typeface="DejaVu Sans"/>
              </a:rPr>
              <a:t>Admin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396000" y="1404000"/>
            <a:ext cx="2015280" cy="431280"/>
          </a:xfrm>
          <a:prstGeom prst="rect">
            <a:avLst/>
          </a:prstGeom>
          <a:solidFill>
            <a:srgbClr val="f1f5f9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3" name=""/>
          <p:cNvSpPr/>
          <p:nvPr/>
        </p:nvSpPr>
        <p:spPr>
          <a:xfrm>
            <a:off x="396000" y="1404000"/>
            <a:ext cx="201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Profil &amp; Sport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2556000" y="1404000"/>
            <a:ext cx="1799280" cy="431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5" name=""/>
          <p:cNvSpPr/>
          <p:nvPr/>
        </p:nvSpPr>
        <p:spPr>
          <a:xfrm>
            <a:off x="2556000" y="1404000"/>
            <a:ext cx="1799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prüft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4500000" y="1404000"/>
            <a:ext cx="1799280" cy="431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7" name=""/>
          <p:cNvSpPr/>
          <p:nvPr/>
        </p:nvSpPr>
        <p:spPr>
          <a:xfrm>
            <a:off x="4500000" y="1404000"/>
            <a:ext cx="1799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prüft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6444000" y="1404000"/>
            <a:ext cx="2015280" cy="431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9" name=""/>
          <p:cNvSpPr/>
          <p:nvPr/>
        </p:nvSpPr>
        <p:spPr>
          <a:xfrm>
            <a:off x="6444000" y="1404000"/>
            <a:ext cx="201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sieht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8640000" y="1404000"/>
            <a:ext cx="2195280" cy="431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1" name=""/>
          <p:cNvSpPr/>
          <p:nvPr/>
        </p:nvSpPr>
        <p:spPr>
          <a:xfrm>
            <a:off x="8640000" y="1404000"/>
            <a:ext cx="219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verwaltet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396000" y="1962000"/>
            <a:ext cx="2015280" cy="431280"/>
          </a:xfrm>
          <a:prstGeom prst="rect">
            <a:avLst/>
          </a:prstGeom>
          <a:solidFill>
            <a:srgbClr val="f1f5f9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3" name=""/>
          <p:cNvSpPr/>
          <p:nvPr/>
        </p:nvSpPr>
        <p:spPr>
          <a:xfrm>
            <a:off x="396000" y="1962000"/>
            <a:ext cx="201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Training &amp; Events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2556000" y="1962000"/>
            <a:ext cx="1799280" cy="431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5" name=""/>
          <p:cNvSpPr/>
          <p:nvPr/>
        </p:nvSpPr>
        <p:spPr>
          <a:xfrm>
            <a:off x="2556000" y="1962000"/>
            <a:ext cx="1799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nimmt teil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4500000" y="1962000"/>
            <a:ext cx="1799280" cy="431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7" name=""/>
          <p:cNvSpPr/>
          <p:nvPr/>
        </p:nvSpPr>
        <p:spPr>
          <a:xfrm>
            <a:off x="4500000" y="1962000"/>
            <a:ext cx="1799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plant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6444000" y="1962000"/>
            <a:ext cx="2015280" cy="431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9" name=""/>
          <p:cNvSpPr/>
          <p:nvPr/>
        </p:nvSpPr>
        <p:spPr>
          <a:xfrm>
            <a:off x="6444000" y="1962000"/>
            <a:ext cx="201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koordiniert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8640000" y="1962000"/>
            <a:ext cx="2195280" cy="431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1" name=""/>
          <p:cNvSpPr/>
          <p:nvPr/>
        </p:nvSpPr>
        <p:spPr>
          <a:xfrm>
            <a:off x="8640000" y="1962000"/>
            <a:ext cx="219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kontrolliert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396000" y="2520000"/>
            <a:ext cx="2015280" cy="431280"/>
          </a:xfrm>
          <a:prstGeom prst="rect">
            <a:avLst/>
          </a:prstGeom>
          <a:solidFill>
            <a:srgbClr val="f1f5f9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3" name=""/>
          <p:cNvSpPr/>
          <p:nvPr/>
        </p:nvSpPr>
        <p:spPr>
          <a:xfrm>
            <a:off x="396000" y="2520000"/>
            <a:ext cx="201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Mitglieder &amp; Finanzen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2556000" y="2520000"/>
            <a:ext cx="1799280" cy="431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5" name=""/>
          <p:cNvSpPr/>
          <p:nvPr/>
        </p:nvSpPr>
        <p:spPr>
          <a:xfrm>
            <a:off x="2556000" y="2520000"/>
            <a:ext cx="1799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eigene Daten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4500000" y="2520000"/>
            <a:ext cx="1799280" cy="431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7" name=""/>
          <p:cNvSpPr/>
          <p:nvPr/>
        </p:nvSpPr>
        <p:spPr>
          <a:xfrm>
            <a:off x="4500000" y="2520000"/>
            <a:ext cx="1799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Teambezug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6444000" y="2520000"/>
            <a:ext cx="2015280" cy="431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9" name=""/>
          <p:cNvSpPr/>
          <p:nvPr/>
        </p:nvSpPr>
        <p:spPr>
          <a:xfrm>
            <a:off x="6444000" y="2520000"/>
            <a:ext cx="201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verwaltet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8640000" y="2520000"/>
            <a:ext cx="2195280" cy="431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1" name=""/>
          <p:cNvSpPr/>
          <p:nvPr/>
        </p:nvSpPr>
        <p:spPr>
          <a:xfrm>
            <a:off x="8640000" y="2520000"/>
            <a:ext cx="219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auditieren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396000" y="3078000"/>
            <a:ext cx="2015280" cy="431280"/>
          </a:xfrm>
          <a:prstGeom prst="rect">
            <a:avLst/>
          </a:prstGeom>
          <a:solidFill>
            <a:srgbClr val="f1f5f9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3" name=""/>
          <p:cNvSpPr/>
          <p:nvPr/>
        </p:nvSpPr>
        <p:spPr>
          <a:xfrm>
            <a:off x="396000" y="3078000"/>
            <a:ext cx="201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Feed, Chat &amp; Dateien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2556000" y="3078000"/>
            <a:ext cx="1799280" cy="431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5" name=""/>
          <p:cNvSpPr/>
          <p:nvPr/>
        </p:nvSpPr>
        <p:spPr>
          <a:xfrm>
            <a:off x="2556000" y="3078000"/>
            <a:ext cx="1799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erstellt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4500000" y="3078000"/>
            <a:ext cx="1799280" cy="431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7" name=""/>
          <p:cNvSpPr/>
          <p:nvPr/>
        </p:nvSpPr>
        <p:spPr>
          <a:xfrm>
            <a:off x="4500000" y="3078000"/>
            <a:ext cx="1799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moderiert Team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6444000" y="3078000"/>
            <a:ext cx="2015280" cy="431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9" name=""/>
          <p:cNvSpPr/>
          <p:nvPr/>
        </p:nvSpPr>
        <p:spPr>
          <a:xfrm>
            <a:off x="6444000" y="3078000"/>
            <a:ext cx="201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teilt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8640000" y="3078000"/>
            <a:ext cx="2195280" cy="431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1" name=""/>
          <p:cNvSpPr/>
          <p:nvPr/>
        </p:nvSpPr>
        <p:spPr>
          <a:xfrm>
            <a:off x="8640000" y="3078000"/>
            <a:ext cx="219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moderiert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396000" y="3636000"/>
            <a:ext cx="2015280" cy="431280"/>
          </a:xfrm>
          <a:prstGeom prst="rect">
            <a:avLst/>
          </a:prstGeom>
          <a:solidFill>
            <a:srgbClr val="f1f5f9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3" name=""/>
          <p:cNvSpPr/>
          <p:nvPr/>
        </p:nvSpPr>
        <p:spPr>
          <a:xfrm>
            <a:off x="396000" y="3636000"/>
            <a:ext cx="201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Kurse &amp; Marketplace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2556000" y="3636000"/>
            <a:ext cx="1799280" cy="431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5" name=""/>
          <p:cNvSpPr/>
          <p:nvPr/>
        </p:nvSpPr>
        <p:spPr>
          <a:xfrm>
            <a:off x="2556000" y="3636000"/>
            <a:ext cx="1799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lernt/kauft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4500000" y="3636000"/>
            <a:ext cx="1799280" cy="431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7" name=""/>
          <p:cNvSpPr/>
          <p:nvPr/>
        </p:nvSpPr>
        <p:spPr>
          <a:xfrm>
            <a:off x="4500000" y="3636000"/>
            <a:ext cx="1799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erstellt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6444000" y="3636000"/>
            <a:ext cx="2015280" cy="431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9" name=""/>
          <p:cNvSpPr/>
          <p:nvPr/>
        </p:nvSpPr>
        <p:spPr>
          <a:xfrm>
            <a:off x="6444000" y="3636000"/>
            <a:ext cx="201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verkauft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8640000" y="3636000"/>
            <a:ext cx="2195280" cy="431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1" name=""/>
          <p:cNvSpPr/>
          <p:nvPr/>
        </p:nvSpPr>
        <p:spPr>
          <a:xfrm>
            <a:off x="8640000" y="3636000"/>
            <a:ext cx="219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prüft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396000" y="4194000"/>
            <a:ext cx="2015280" cy="431280"/>
          </a:xfrm>
          <a:prstGeom prst="rect">
            <a:avLst/>
          </a:prstGeom>
          <a:solidFill>
            <a:srgbClr val="f1f5f9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" name=""/>
          <p:cNvSpPr/>
          <p:nvPr/>
        </p:nvSpPr>
        <p:spPr>
          <a:xfrm>
            <a:off x="396000" y="4194000"/>
            <a:ext cx="201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Sicherheit &amp; Rechte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2556000" y="4194000"/>
            <a:ext cx="1799280" cy="431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5" name=""/>
          <p:cNvSpPr/>
          <p:nvPr/>
        </p:nvSpPr>
        <p:spPr>
          <a:xfrm>
            <a:off x="2556000" y="4194000"/>
            <a:ext cx="1799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privat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4500000" y="4194000"/>
            <a:ext cx="1799280" cy="431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7" name=""/>
          <p:cNvSpPr/>
          <p:nvPr/>
        </p:nvSpPr>
        <p:spPr>
          <a:xfrm>
            <a:off x="4500000" y="4194000"/>
            <a:ext cx="1799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Teamrechte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6444000" y="4194000"/>
            <a:ext cx="2015280" cy="431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9" name=""/>
          <p:cNvSpPr/>
          <p:nvPr/>
        </p:nvSpPr>
        <p:spPr>
          <a:xfrm>
            <a:off x="6444000" y="4194000"/>
            <a:ext cx="201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Vereinsrechte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8640000" y="4194000"/>
            <a:ext cx="2195280" cy="431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1" name=""/>
          <p:cNvSpPr/>
          <p:nvPr/>
        </p:nvSpPr>
        <p:spPr>
          <a:xfrm>
            <a:off x="8640000" y="4194000"/>
            <a:ext cx="219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Plattformrechte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396000" y="5076000"/>
            <a:ext cx="9359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300" spc="-1" strike="noStrike">
                <a:solidFill>
                  <a:srgbClr val="0f2b52"/>
                </a:solidFill>
                <a:latin typeface="Arial"/>
                <a:ea typeface="DejaVu Sans"/>
              </a:rPr>
              <a:t>Für jeden Use Case steht das Testkonto in der Überschrift bzw. in den Voraussetzungen.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5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5" name=""/>
          <p:cNvSpPr/>
          <p:nvPr/>
        </p:nvSpPr>
        <p:spPr>
          <a:xfrm>
            <a:off x="396000" y="252000"/>
            <a:ext cx="287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Kapitel 01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396000" y="450000"/>
            <a:ext cx="647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Zugang, Profil und Geräte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396000" y="918000"/>
            <a:ext cx="5039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Registrierung, Login, Passwort, 2FA, Profil, Datenschutz, Push, Deep Links, Entwicklungsmodus und die Vier-Geräte-Abnahme.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396000" y="1872000"/>
            <a:ext cx="4679280" cy="2872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9" name=""/>
          <p:cNvSpPr/>
          <p:nvPr/>
        </p:nvSpPr>
        <p:spPr>
          <a:xfrm>
            <a:off x="396000" y="1872000"/>
            <a:ext cx="467928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9c1e8"/>
                </a:solidFill>
                <a:latin typeface="Arial"/>
                <a:ea typeface="DejaVu Sans"/>
              </a:rPr>
              <a:t>UC-01–04 · UC-63–66 · UC-83–85 · UC-91 · UC-93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396000" y="2664000"/>
            <a:ext cx="5111280" cy="899280"/>
          </a:xfrm>
          <a:prstGeom prst="rect">
            <a:avLst/>
          </a:prstGeom>
          <a:solidFill>
            <a:srgbClr val="ffff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1" name=""/>
          <p:cNvSpPr/>
          <p:nvPr/>
        </p:nvSpPr>
        <p:spPr>
          <a:xfrm>
            <a:off x="396000" y="2664000"/>
            <a:ext cx="511128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Klickfokus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Menü öffnen → Testaktion ausführen → anderes Gerät prüfen → Status dokumentieren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396000" y="3780000"/>
            <a:ext cx="5111280" cy="899280"/>
          </a:xfrm>
          <a:prstGeom prst="rect">
            <a:avLst/>
          </a:prstGeom>
          <a:solidFill>
            <a:srgbClr val="ffffff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3" name=""/>
          <p:cNvSpPr/>
          <p:nvPr/>
        </p:nvSpPr>
        <p:spPr>
          <a:xfrm>
            <a:off x="396000" y="3780000"/>
            <a:ext cx="511128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Sicherheitsfokus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Sichtbarkeit, Rolle, Berechtigungen, Fehlerfall und Bereinigung nicht überspringen.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4" name="" descr=""/>
          <p:cNvPicPr/>
          <p:nvPr/>
        </p:nvPicPr>
        <p:blipFill>
          <a:blip r:embed="rId1"/>
          <a:stretch/>
        </p:blipFill>
        <p:spPr>
          <a:xfrm>
            <a:off x="6192000" y="720000"/>
            <a:ext cx="5579280" cy="4391280"/>
          </a:xfrm>
          <a:prstGeom prst="rect">
            <a:avLst/>
          </a:prstGeom>
          <a:ln w="0">
            <a:noFill/>
          </a:ln>
        </p:spPr>
      </p:pic>
      <p:sp>
        <p:nvSpPr>
          <p:cNvPr id="155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6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7" name=""/>
          <p:cNvSpPr/>
          <p:nvPr/>
        </p:nvSpPr>
        <p:spPr>
          <a:xfrm>
            <a:off x="396000" y="252000"/>
            <a:ext cx="287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Kapitel 02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396000" y="450000"/>
            <a:ext cx="647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Sportler, soziale Funktionen und Gesundheit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396000" y="1219680"/>
            <a:ext cx="5039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Sportprofil, Vereinssuche, Matching, Freunde, Feed, Stories, Ernährung, Sportkarte, Sport-Apps und Reifegrad.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396000" y="1872000"/>
            <a:ext cx="4679280" cy="2872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1" name=""/>
          <p:cNvSpPr/>
          <p:nvPr/>
        </p:nvSpPr>
        <p:spPr>
          <a:xfrm>
            <a:off x="396000" y="1872000"/>
            <a:ext cx="46792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9c1e8"/>
                </a:solidFill>
                <a:latin typeface="Arial"/>
                <a:ea typeface="DejaVu Sans"/>
              </a:rPr>
              <a:t>UC-05 · UC-11 · UC-14–17 · UC-28–30 · UC-36–40 · UC-52–53 · UC-68 · UC-73 · UC-78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396000" y="2664000"/>
            <a:ext cx="5111280" cy="899280"/>
          </a:xfrm>
          <a:prstGeom prst="rect">
            <a:avLst/>
          </a:prstGeom>
          <a:solidFill>
            <a:srgbClr val="ffffff"/>
          </a:solidFill>
          <a:ln w="126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3" name=""/>
          <p:cNvSpPr/>
          <p:nvPr/>
        </p:nvSpPr>
        <p:spPr>
          <a:xfrm>
            <a:off x="396000" y="2664000"/>
            <a:ext cx="511128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Klickfokus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Menü öffnen → Testaktion ausführen → anderes Gerät prüfen → Status dokumentieren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396000" y="3780000"/>
            <a:ext cx="5111280" cy="899280"/>
          </a:xfrm>
          <a:prstGeom prst="rect">
            <a:avLst/>
          </a:prstGeom>
          <a:solidFill>
            <a:srgbClr val="ffffff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5" name=""/>
          <p:cNvSpPr/>
          <p:nvPr/>
        </p:nvSpPr>
        <p:spPr>
          <a:xfrm>
            <a:off x="396000" y="3780000"/>
            <a:ext cx="511128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Sicherheitsfokus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Sichtbarkeit, Rolle, Berechtigungen, Fehlerfall und Bereinigung nicht überspringen.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6192000" y="720000"/>
            <a:ext cx="5579280" cy="4391280"/>
          </a:xfrm>
          <a:prstGeom prst="rect">
            <a:avLst/>
          </a:prstGeom>
          <a:ln w="0">
            <a:noFill/>
          </a:ln>
        </p:spPr>
      </p:pic>
      <p:sp>
        <p:nvSpPr>
          <p:cNvPr id="16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7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9" name=""/>
          <p:cNvSpPr/>
          <p:nvPr/>
        </p:nvSpPr>
        <p:spPr>
          <a:xfrm>
            <a:off x="396000" y="252000"/>
            <a:ext cx="287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Kapitel 03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396000" y="450000"/>
            <a:ext cx="647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Trainer, Teams, Training und Events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396000" y="918000"/>
            <a:ext cx="5039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Teams, Einladungen, Kader, Trainingsplanung, Logs, Übungen, Feedback, Anwesenheit, Events und Eventchat.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396000" y="1872000"/>
            <a:ext cx="4679280" cy="2872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3" name=""/>
          <p:cNvSpPr/>
          <p:nvPr/>
        </p:nvSpPr>
        <p:spPr>
          <a:xfrm>
            <a:off x="396000" y="1872000"/>
            <a:ext cx="467928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9c1e8"/>
                </a:solidFill>
                <a:latin typeface="Arial"/>
                <a:ea typeface="DejaVu Sans"/>
              </a:rPr>
              <a:t>UC-07–10 · UC-31 · UC-50–51 · UC-71–72 · UC-89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396000" y="2664000"/>
            <a:ext cx="5111280" cy="899280"/>
          </a:xfrm>
          <a:prstGeom prst="rect">
            <a:avLst/>
          </a:prstGeom>
          <a:solidFill>
            <a:srgbClr val="ffffff"/>
          </a:solidFill>
          <a:ln w="126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5" name=""/>
          <p:cNvSpPr/>
          <p:nvPr/>
        </p:nvSpPr>
        <p:spPr>
          <a:xfrm>
            <a:off x="396000" y="2664000"/>
            <a:ext cx="511128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Klickfokus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Menü öffnen → Testaktion ausführen → anderes Gerät prüfen → Status dokumentieren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396000" y="3780000"/>
            <a:ext cx="5111280" cy="899280"/>
          </a:xfrm>
          <a:prstGeom prst="rect">
            <a:avLst/>
          </a:prstGeom>
          <a:solidFill>
            <a:srgbClr val="ffffff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7" name=""/>
          <p:cNvSpPr/>
          <p:nvPr/>
        </p:nvSpPr>
        <p:spPr>
          <a:xfrm>
            <a:off x="396000" y="3780000"/>
            <a:ext cx="511128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Sicherheitsfokus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Sichtbarkeit, Rolle, Berechtigungen, Fehlerfall und Bereinigung nicht überspringen.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" descr=""/>
          <p:cNvPicPr/>
          <p:nvPr/>
        </p:nvPicPr>
        <p:blipFill>
          <a:blip r:embed="rId1"/>
          <a:stretch/>
        </p:blipFill>
        <p:spPr>
          <a:xfrm>
            <a:off x="6192000" y="720000"/>
            <a:ext cx="5579280" cy="4391280"/>
          </a:xfrm>
          <a:prstGeom prst="rect">
            <a:avLst/>
          </a:prstGeom>
          <a:ln w="0">
            <a:noFill/>
          </a:ln>
        </p:spPr>
      </p:pic>
      <p:sp>
        <p:nvSpPr>
          <p:cNvPr id="179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8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1" name=""/>
          <p:cNvSpPr/>
          <p:nvPr/>
        </p:nvSpPr>
        <p:spPr>
          <a:xfrm>
            <a:off x="396000" y="252000"/>
            <a:ext cx="287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Kapitel 04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396000" y="450000"/>
            <a:ext cx="647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Verein, Mitglieder und Finanzen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396000" y="918000"/>
            <a:ext cx="5039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Vereinsprofil, Mitgliedsanträge, Formulare, Anforderungen, Rollen, Kommunikation, Mitgliedskarte, Beiträge, Rechnungen und Bankabgleich.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396000" y="1872000"/>
            <a:ext cx="4679280" cy="287280"/>
          </a:xfrm>
          <a:prstGeom prst="rect">
            <a:avLst/>
          </a:prstGeom>
          <a:solidFill>
            <a:srgbClr val="ea58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5" name=""/>
          <p:cNvSpPr/>
          <p:nvPr/>
        </p:nvSpPr>
        <p:spPr>
          <a:xfrm>
            <a:off x="396000" y="1872000"/>
            <a:ext cx="467928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9c1e8"/>
                </a:solidFill>
                <a:latin typeface="Arial"/>
                <a:ea typeface="DejaVu Sans"/>
              </a:rPr>
              <a:t>UC-06 · UC-20–27 · UC-31 · UC-49 · UC-74–77 · UC-80 · UC-88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396000" y="2664000"/>
            <a:ext cx="5111280" cy="899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7" name=""/>
          <p:cNvSpPr/>
          <p:nvPr/>
        </p:nvSpPr>
        <p:spPr>
          <a:xfrm>
            <a:off x="396000" y="2664000"/>
            <a:ext cx="511128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Klickfokus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Menü öffnen → Testaktion ausführen → anderes Gerät prüfen → Status dokumentieren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396000" y="3780000"/>
            <a:ext cx="5111280" cy="899280"/>
          </a:xfrm>
          <a:prstGeom prst="rect">
            <a:avLst/>
          </a:prstGeom>
          <a:solidFill>
            <a:srgbClr val="ffffff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9" name=""/>
          <p:cNvSpPr/>
          <p:nvPr/>
        </p:nvSpPr>
        <p:spPr>
          <a:xfrm>
            <a:off x="396000" y="3780000"/>
            <a:ext cx="511128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Sicherheitsfokus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Sichtbarkeit, Rolle, Berechtigungen, Fehlerfall und Bereinigung nicht überspringen.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" descr=""/>
          <p:cNvPicPr/>
          <p:nvPr/>
        </p:nvPicPr>
        <p:blipFill>
          <a:blip r:embed="rId1"/>
          <a:stretch/>
        </p:blipFill>
        <p:spPr>
          <a:xfrm>
            <a:off x="6192000" y="720000"/>
            <a:ext cx="5579280" cy="4391280"/>
          </a:xfrm>
          <a:prstGeom prst="rect">
            <a:avLst/>
          </a:prstGeom>
          <a:ln w="0">
            <a:noFill/>
          </a:ln>
        </p:spPr>
      </p:pic>
      <p:sp>
        <p:nvSpPr>
          <p:cNvPr id="191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9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3" name=""/>
          <p:cNvSpPr/>
          <p:nvPr/>
        </p:nvSpPr>
        <p:spPr>
          <a:xfrm>
            <a:off x="396000" y="252000"/>
            <a:ext cx="287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Kapitel 05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396000" y="450000"/>
            <a:ext cx="647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Feed, Posts, Chat, Dateien und Moderation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396000" y="918000"/>
            <a:ext cx="5039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Posts, Kommentare, Stories, Nachrichten, Gruppen, Dateien, Meldungen, Einsprüche, Richtlinien und Support.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396000" y="1872000"/>
            <a:ext cx="4679280" cy="287280"/>
          </a:xfrm>
          <a:prstGeom prst="rect">
            <a:avLst/>
          </a:prstGeom>
          <a:solidFill>
            <a:srgbClr val="db27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7" name=""/>
          <p:cNvSpPr/>
          <p:nvPr/>
        </p:nvSpPr>
        <p:spPr>
          <a:xfrm>
            <a:off x="396000" y="1872000"/>
            <a:ext cx="46792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9c1e8"/>
                </a:solidFill>
                <a:latin typeface="Arial"/>
                <a:ea typeface="DejaVu Sans"/>
              </a:rPr>
              <a:t>UC-11–13 · UC-28 · UC-37–39 · UC-58 · UC-62 · UC-67 · UC-69–70 · UC-79 · UC-81 · UC-91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396000" y="2664000"/>
            <a:ext cx="5111280" cy="899280"/>
          </a:xfrm>
          <a:prstGeom prst="rect">
            <a:avLst/>
          </a:prstGeom>
          <a:solidFill>
            <a:srgbClr val="ffffff"/>
          </a:solidFill>
          <a:ln w="12600">
            <a:solidFill>
              <a:srgbClr val="db2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9" name=""/>
          <p:cNvSpPr/>
          <p:nvPr/>
        </p:nvSpPr>
        <p:spPr>
          <a:xfrm>
            <a:off x="396000" y="2664000"/>
            <a:ext cx="511128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Klickfokus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Menü öffnen → Testaktion ausführen → anderes Gerät prüfen → Status dokumentieren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396000" y="3780000"/>
            <a:ext cx="5111280" cy="899280"/>
          </a:xfrm>
          <a:prstGeom prst="rect">
            <a:avLst/>
          </a:prstGeom>
          <a:solidFill>
            <a:srgbClr val="ffffff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1" name=""/>
          <p:cNvSpPr/>
          <p:nvPr/>
        </p:nvSpPr>
        <p:spPr>
          <a:xfrm>
            <a:off x="396000" y="3780000"/>
            <a:ext cx="511128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Sicherheitsfokus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Sichtbarkeit, Rolle, Berechtigungen, Fehlerfall und Bereinigung nicht überspringen.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2" name="" descr=""/>
          <p:cNvPicPr/>
          <p:nvPr/>
        </p:nvPicPr>
        <p:blipFill>
          <a:blip r:embed="rId1"/>
          <a:stretch/>
        </p:blipFill>
        <p:spPr>
          <a:xfrm>
            <a:off x="6192000" y="720000"/>
            <a:ext cx="5579280" cy="4391280"/>
          </a:xfrm>
          <a:prstGeom prst="rect">
            <a:avLst/>
          </a:prstGeom>
          <a:ln w="0">
            <a:noFill/>
          </a:ln>
        </p:spPr>
      </p:pic>
      <p:sp>
        <p:nvSpPr>
          <p:cNvPr id="203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10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5" name=""/>
          <p:cNvSpPr/>
          <p:nvPr/>
        </p:nvSpPr>
        <p:spPr>
          <a:xfrm>
            <a:off x="396000" y="252000"/>
            <a:ext cx="287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Kapitel 06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396000" y="450000"/>
            <a:ext cx="647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Kurse, Lernstudio und Zertifikate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396000" y="918000"/>
            <a:ext cx="5039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Öffentliche Kurse, Einschreibung, Lektionen, Fortschritt, Notizen, Quiz, Aufgaben, Bewertungen, Zertifikate und Studio-Reports.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396000" y="1872000"/>
            <a:ext cx="4679280" cy="28728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9" name=""/>
          <p:cNvSpPr/>
          <p:nvPr/>
        </p:nvSpPr>
        <p:spPr>
          <a:xfrm>
            <a:off x="396000" y="1872000"/>
            <a:ext cx="467928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9c1e8"/>
                </a:solidFill>
                <a:latin typeface="Arial"/>
                <a:ea typeface="DejaVu Sans"/>
              </a:rPr>
              <a:t>UC-17 · UC-36–38 · UC-46–48 · UC-60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396000" y="2664000"/>
            <a:ext cx="5111280" cy="899280"/>
          </a:xfrm>
          <a:prstGeom prst="rect">
            <a:avLst/>
          </a:prstGeom>
          <a:solidFill>
            <a:srgbClr val="ffffff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1" name=""/>
          <p:cNvSpPr/>
          <p:nvPr/>
        </p:nvSpPr>
        <p:spPr>
          <a:xfrm>
            <a:off x="396000" y="2664000"/>
            <a:ext cx="511128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Klickfokus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Menü öffnen → Testaktion ausführen → anderes Gerät prüfen → Status dokumentieren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396000" y="3780000"/>
            <a:ext cx="5111280" cy="899280"/>
          </a:xfrm>
          <a:prstGeom prst="rect">
            <a:avLst/>
          </a:prstGeom>
          <a:solidFill>
            <a:srgbClr val="ffffff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3" name=""/>
          <p:cNvSpPr/>
          <p:nvPr/>
        </p:nvSpPr>
        <p:spPr>
          <a:xfrm>
            <a:off x="396000" y="3780000"/>
            <a:ext cx="511128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Sicherheitsfokus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Sichtbarkeit, Rolle, Berechtigungen, Fehlerfall und Bereinigung nicht überspringen.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4" name="" descr=""/>
          <p:cNvPicPr/>
          <p:nvPr/>
        </p:nvPicPr>
        <p:blipFill>
          <a:blip r:embed="rId1"/>
          <a:stretch/>
        </p:blipFill>
        <p:spPr>
          <a:xfrm>
            <a:off x="6192000" y="720000"/>
            <a:ext cx="5579280" cy="4391280"/>
          </a:xfrm>
          <a:prstGeom prst="rect">
            <a:avLst/>
          </a:prstGeom>
          <a:ln w="0">
            <a:noFill/>
          </a:ln>
        </p:spPr>
      </p:pic>
      <p:sp>
        <p:nvSpPr>
          <p:cNvPr id="215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11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7" name=""/>
          <p:cNvSpPr/>
          <p:nvPr/>
        </p:nvSpPr>
        <p:spPr>
          <a:xfrm>
            <a:off x="396000" y="252000"/>
            <a:ext cx="287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Kapitel 07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396000" y="450000"/>
            <a:ext cx="647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Marketplace, Commerce und Verkäufer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396000" y="918000"/>
            <a:ext cx="5039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Suche, Filter, Wunschliste, Warenkorb, Checkout, Überweisung, Bestellung, Rückgabe, Erstattung, Produkte, Bestand, Steuern, Versand, Kampagnen und Payouts.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396000" y="1872000"/>
            <a:ext cx="4679280" cy="287280"/>
          </a:xfrm>
          <a:prstGeom prst="rect">
            <a:avLst/>
          </a:prstGeom>
          <a:solidFill>
            <a:srgbClr val="ca8a0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21" name=""/>
          <p:cNvSpPr/>
          <p:nvPr/>
        </p:nvSpPr>
        <p:spPr>
          <a:xfrm>
            <a:off x="396000" y="1872000"/>
            <a:ext cx="467928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9c1e8"/>
                </a:solidFill>
                <a:latin typeface="Arial"/>
                <a:ea typeface="DejaVu Sans"/>
              </a:rPr>
              <a:t>UC-19 · UC-41–45 · UC-86–87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396000" y="2664000"/>
            <a:ext cx="5111280" cy="899280"/>
          </a:xfrm>
          <a:prstGeom prst="rect">
            <a:avLst/>
          </a:prstGeom>
          <a:solidFill>
            <a:srgbClr val="ffffff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3" name=""/>
          <p:cNvSpPr/>
          <p:nvPr/>
        </p:nvSpPr>
        <p:spPr>
          <a:xfrm>
            <a:off x="396000" y="2664000"/>
            <a:ext cx="511128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Klickfokus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Menü öffnen → Testaktion ausführen → anderes Gerät prüfen → Status dokumentieren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396000" y="3780000"/>
            <a:ext cx="5111280" cy="899280"/>
          </a:xfrm>
          <a:prstGeom prst="rect">
            <a:avLst/>
          </a:prstGeom>
          <a:solidFill>
            <a:srgbClr val="ffffff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5" name=""/>
          <p:cNvSpPr/>
          <p:nvPr/>
        </p:nvSpPr>
        <p:spPr>
          <a:xfrm>
            <a:off x="396000" y="3780000"/>
            <a:ext cx="511128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Sicherheitsfokus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Sichtbarkeit, Rolle, Berechtigungen, Fehlerfall und Bereinigung nicht überspringen.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6" name="" descr=""/>
          <p:cNvPicPr/>
          <p:nvPr/>
        </p:nvPicPr>
        <p:blipFill>
          <a:blip r:embed="rId1"/>
          <a:stretch/>
        </p:blipFill>
        <p:spPr>
          <a:xfrm>
            <a:off x="6192000" y="720000"/>
            <a:ext cx="5579280" cy="4391280"/>
          </a:xfrm>
          <a:prstGeom prst="rect">
            <a:avLst/>
          </a:prstGeom>
          <a:ln w="0">
            <a:noFill/>
          </a:ln>
        </p:spPr>
      </p:pic>
      <p:sp>
        <p:nvSpPr>
          <p:cNvPr id="22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12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9" name=""/>
          <p:cNvSpPr/>
          <p:nvPr/>
        </p:nvSpPr>
        <p:spPr>
          <a:xfrm>
            <a:off x="396000" y="252000"/>
            <a:ext cx="287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Kapitel 08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396000" y="450000"/>
            <a:ext cx="647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Abos, Outfit und Sponsoren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396000" y="918000"/>
            <a:ext cx="5039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Persönliche und Vereinsabos, Rechnungen, Outfit-Style, Lieferungen, Sponsorprofile, Kampagnen, Leads, Ads und Website-Anfragen.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396000" y="1872000"/>
            <a:ext cx="4679280" cy="287280"/>
          </a:xfrm>
          <a:prstGeom prst="rect">
            <a:avLst/>
          </a:prstGeom>
          <a:solidFill>
            <a:srgbClr val="933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33" name=""/>
          <p:cNvSpPr/>
          <p:nvPr/>
        </p:nvSpPr>
        <p:spPr>
          <a:xfrm>
            <a:off x="396000" y="1872000"/>
            <a:ext cx="467928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9c1e8"/>
                </a:solidFill>
                <a:latin typeface="Arial"/>
                <a:ea typeface="DejaVu Sans"/>
              </a:rPr>
              <a:t>UC-18 · UC-32 · UC-54–57 · UC-61 · UC-80 · UC-92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396000" y="2664000"/>
            <a:ext cx="5111280" cy="899280"/>
          </a:xfrm>
          <a:prstGeom prst="rect">
            <a:avLst/>
          </a:prstGeom>
          <a:solidFill>
            <a:srgbClr val="ffffff"/>
          </a:solidFill>
          <a:ln w="12600">
            <a:solidFill>
              <a:srgbClr val="933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5" name=""/>
          <p:cNvSpPr/>
          <p:nvPr/>
        </p:nvSpPr>
        <p:spPr>
          <a:xfrm>
            <a:off x="396000" y="2664000"/>
            <a:ext cx="511128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Klickfokus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Menü öffnen → Testaktion ausführen → anderes Gerät prüfen → Status dokumentieren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396000" y="3780000"/>
            <a:ext cx="5111280" cy="899280"/>
          </a:xfrm>
          <a:prstGeom prst="rect">
            <a:avLst/>
          </a:prstGeom>
          <a:solidFill>
            <a:srgbClr val="ffffff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7" name=""/>
          <p:cNvSpPr/>
          <p:nvPr/>
        </p:nvSpPr>
        <p:spPr>
          <a:xfrm>
            <a:off x="396000" y="3780000"/>
            <a:ext cx="511128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Sicherheitsfokus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Sichtbarkeit, Rolle, Berechtigungen, Fehlerfall und Bereinigung nicht überspringen.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8" name="" descr=""/>
          <p:cNvPicPr/>
          <p:nvPr/>
        </p:nvPicPr>
        <p:blipFill>
          <a:blip r:embed="rId1"/>
          <a:stretch/>
        </p:blipFill>
        <p:spPr>
          <a:xfrm>
            <a:off x="6192000" y="720000"/>
            <a:ext cx="5579280" cy="4391280"/>
          </a:xfrm>
          <a:prstGeom prst="rect">
            <a:avLst/>
          </a:prstGeom>
          <a:ln w="0">
            <a:noFill/>
          </a:ln>
        </p:spPr>
      </p:pic>
      <p:sp>
        <p:nvSpPr>
          <p:cNvPr id="239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13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1" name=""/>
          <p:cNvSpPr/>
          <p:nvPr/>
        </p:nvSpPr>
        <p:spPr>
          <a:xfrm>
            <a:off x="396000" y="252000"/>
            <a:ext cx="287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Kapitel 09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396000" y="450000"/>
            <a:ext cx="647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Admin, Plattform und Governance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396000" y="918000"/>
            <a:ext cx="5039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Nutzer, Rollen, Sportarten, Badges, Gamification, Moderation, Vereinsprüfung, Mail-Zentrale, Providerkosten, Systemstatus, Support und Rechte.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396000" y="1872000"/>
            <a:ext cx="4679280" cy="28728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45" name=""/>
          <p:cNvSpPr/>
          <p:nvPr/>
        </p:nvSpPr>
        <p:spPr>
          <a:xfrm>
            <a:off x="396000" y="1872000"/>
            <a:ext cx="467928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9c1e8"/>
                </a:solidFill>
                <a:latin typeface="Arial"/>
                <a:ea typeface="DejaVu Sans"/>
              </a:rPr>
              <a:t>UC-33 · UC-55–63 · UC-78 · UC-82–84 · UC-90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396000" y="2664000"/>
            <a:ext cx="5111280" cy="899280"/>
          </a:xfrm>
          <a:prstGeom prst="rect">
            <a:avLst/>
          </a:prstGeom>
          <a:solidFill>
            <a:srgbClr val="ffffff"/>
          </a:solidFill>
          <a:ln w="126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7" name=""/>
          <p:cNvSpPr/>
          <p:nvPr/>
        </p:nvSpPr>
        <p:spPr>
          <a:xfrm>
            <a:off x="396000" y="2664000"/>
            <a:ext cx="511128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Klickfokus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Menü öffnen → Testaktion ausführen → anderes Gerät prüfen → Status dokumentieren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396000" y="3780000"/>
            <a:ext cx="5111280" cy="899280"/>
          </a:xfrm>
          <a:prstGeom prst="rect">
            <a:avLst/>
          </a:prstGeom>
          <a:solidFill>
            <a:srgbClr val="ffffff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9" name=""/>
          <p:cNvSpPr/>
          <p:nvPr/>
        </p:nvSpPr>
        <p:spPr>
          <a:xfrm>
            <a:off x="396000" y="3780000"/>
            <a:ext cx="511128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Sicherheitsfokus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Sichtbarkeit, Rolle, Berechtigungen, Fehlerfall und Bereinigung nicht überspringen.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0" name="" descr=""/>
          <p:cNvPicPr/>
          <p:nvPr/>
        </p:nvPicPr>
        <p:blipFill>
          <a:blip r:embed="rId1"/>
          <a:stretch/>
        </p:blipFill>
        <p:spPr>
          <a:xfrm>
            <a:off x="6192000" y="720000"/>
            <a:ext cx="5579280" cy="4391280"/>
          </a:xfrm>
          <a:prstGeom prst="rect">
            <a:avLst/>
          </a:prstGeom>
          <a:ln w="0">
            <a:noFill/>
          </a:ln>
        </p:spPr>
      </p:pic>
      <p:sp>
        <p:nvSpPr>
          <p:cNvPr id="251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14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3" name=""/>
          <p:cNvSpPr/>
          <p:nvPr/>
        </p:nvSpPr>
        <p:spPr>
          <a:xfrm>
            <a:off x="396000" y="252000"/>
            <a:ext cx="287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Kapitel 10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396000" y="450000"/>
            <a:ext cx="647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Öffentliche Bereiche und End-to-End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396000" y="918000"/>
            <a:ext cx="5039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Öffentliche Vereine, Events, Jobs, Blog, Marketplace, Kurse, Zertifikatsprüfung, Kontakt, vier Geräte und Abschlussbereinigung.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396000" y="1872000"/>
            <a:ext cx="4679280" cy="28728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57" name=""/>
          <p:cNvSpPr/>
          <p:nvPr/>
        </p:nvSpPr>
        <p:spPr>
          <a:xfrm>
            <a:off x="396000" y="1872000"/>
            <a:ext cx="467928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9c1e8"/>
                </a:solidFill>
                <a:latin typeface="Arial"/>
                <a:ea typeface="DejaVu Sans"/>
              </a:rPr>
              <a:t>UC-34–36 · UC-67 · UC-80 · UC-85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396000" y="2664000"/>
            <a:ext cx="5111280" cy="899280"/>
          </a:xfrm>
          <a:prstGeom prst="rect">
            <a:avLst/>
          </a:prstGeom>
          <a:solidFill>
            <a:srgbClr val="ffffff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9" name=""/>
          <p:cNvSpPr/>
          <p:nvPr/>
        </p:nvSpPr>
        <p:spPr>
          <a:xfrm>
            <a:off x="396000" y="2664000"/>
            <a:ext cx="511128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Klickfokus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Menü öffnen → Testaktion ausführen → anderes Gerät prüfen → Status dokumentieren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396000" y="3780000"/>
            <a:ext cx="5111280" cy="899280"/>
          </a:xfrm>
          <a:prstGeom prst="rect">
            <a:avLst/>
          </a:prstGeom>
          <a:solidFill>
            <a:srgbClr val="ffffff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1" name=""/>
          <p:cNvSpPr/>
          <p:nvPr/>
        </p:nvSpPr>
        <p:spPr>
          <a:xfrm>
            <a:off x="396000" y="3780000"/>
            <a:ext cx="511128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Sicherheitsfokus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Sichtbarkeit, Rolle, Berechtigungen, Fehlerfall und Bereinigung nicht überspringen.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2" name="" descr=""/>
          <p:cNvPicPr/>
          <p:nvPr/>
        </p:nvPicPr>
        <p:blipFill>
          <a:blip r:embed="rId1"/>
          <a:stretch/>
        </p:blipFill>
        <p:spPr>
          <a:xfrm>
            <a:off x="6192000" y="720000"/>
            <a:ext cx="5579280" cy="4391280"/>
          </a:xfrm>
          <a:prstGeom prst="rect">
            <a:avLst/>
          </a:prstGeom>
          <a:ln w="0">
            <a:noFill/>
          </a:ln>
        </p:spPr>
      </p:pic>
      <p:sp>
        <p:nvSpPr>
          <p:cNvPr id="263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15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5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UC-01: Neues Benutzerkonto registrieren · Teil 1/3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8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neuer Nutzer legt ein Konto an, erhält die Verifizierungsaufforderung und kann danach den Einrichtungsprozess starten.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0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Eine noch nicht verwendete Test-E-Mail-Adresse liegt vor. 2. Das Postfach kann geöffnet werden. 3. Kein aktives Konto mit dieser E-Mail ist bereits angemeldet.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3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Laptop 2 öffnen und die öffentliche Airmius-Seite aufrufen.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Auf „Registrieren“ 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Vorname und Nachname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Test-E-Mail-Adresse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Sicheres Testpasswort zweimal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5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Geburtsdatum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Pflichtfelder, Datenschutz und erforderliche Einwilligungen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Auf „Registrieren“ 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Prüfen, ob eine erfolgreiche Registrierung oder ein verständlicher Validierungsfehler erscheint.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Verifizierungs-E-Mail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7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Das Konto wird angelegt. Bei falschen oder fehlenden Angaben erscheint eine verständliche Fehlermeldung. Nach der E-Mail-Bestätigung kann sich der Nutzer anmelden und sieht den Einrichtungs- oder Rollenstartbereich.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7992000" y="4212000"/>
            <a:ext cx="3455280" cy="82764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9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16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2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UC-01: Neues Benutzerkonto registrieren · Teil 2/3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360000" y="558000"/>
            <a:ext cx="233964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6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Auf den Bestätigungslink 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Zurück zur Web-App wechseln.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Mit dem neuen Konto anmelden.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Handy 1 öffnen und die Airmius-App starten.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Auf „Registrieren“ 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8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Die Pflichtfelder genauso ausfüllen wie im Web.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Ein absichtlich leeres Pflichtfeld testen.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Prüfen, ob die App den Fehler am richtigen Feld anzeigt.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Formular mit korrekten Testdaten erneut absenden.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E-Mail verifizieren.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0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Das Konto wird angelegt. Bei falschen oder fehlenden Angaben erscheint eine verständliche Fehlermeldung. Nach der E-Mail-Bestätigung kann sich der Nutzer anmelden und sieht den Einrichtungs- oder Rollenstartbereich.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7992000" y="3276000"/>
            <a:ext cx="3455280" cy="86364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2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17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5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UC-01: Neues Benutzerkonto registrieren · Teil 3/3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360000" y="558000"/>
            <a:ext cx="233964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21–21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21–21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21. Zur App zurückkehren und anmelden.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1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Das Konto wird angelegt. Bei falschen oder fehlenden Angaben erscheint eine verständliche Fehlermeldung. Nach der E-Mail-Bestätigung kann sich der Nutzer anmelden und sieht den Einrichtungs- oder Rollenstartbereich.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3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18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6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UC-02: Benutzer meldet sich an und ab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9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vorhandener Nutzer kann sich sicher anmelden, landet in seiner richtigen Rollenansicht und kann sich wieder abmelden.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1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Konto ist angelegt und E-Mail ist bestätigt. 2. Konto ist aktiv und nicht gesperrt. 3. Testpasswort ist bekannt.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4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Laptop 2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Airmius-Webseite aufrufen.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Auf „Anmelden“ 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E-Mail des Sportlerkontos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Passwort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6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Auf „Anmelden“ 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Prüfen, ob „Mein Sport“ oder „Feed“ als Sportlerstartseite erscheint.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Oben rechts das Benutzerprofil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„Abmelden“ 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Prüfen, dass wieder die öffentliche Seite oder Login-Seite erscheint.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8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Das Konto wird angemeldet, die passende Rollenansicht wird angezeigt und nach dem Abmelden ist kein geschützter Bereich mehr erreichbar.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7992000" y="4212000"/>
            <a:ext cx="3455280" cy="82764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0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19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3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UC-02: Benutzer meldet sich an und ab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360000" y="558000"/>
            <a:ext cx="215964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11–17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11–17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7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Handy 1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E-Mail und Passwort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Auf „Anmelden“ 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Prüfen, ob unten „Training“, „Vereine &amp; Teams“, „Feed“, „Ernährung“ und „Profil“ erscheinen.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Auf das Profil-Symbol 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9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„Abmelden“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Abmeldung bestätigen.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1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Das Konto wird angemeldet, die passende Rollenansicht wird angezeigt und nach dem Abmelden ist kein geschützter Bereich mehr erreichbar.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7992000" y="3276000"/>
            <a:ext cx="3455280" cy="86364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3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20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6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UC-03: Passwort wiederherstellen und Sicherheit prüfen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8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Nutzer kann ein vergessenes Passwort zurücksetzen und seine Kontosicherheit verwalten.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40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Zugriff auf die Test-E-Mail. 2. Ein aktives Testkonto.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43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Login-Seite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„Passwort vergessen“ 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Test-E-Mail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„Link senden“ 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E-Mail öffnen und den Link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45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Neues Testpasswort zweimal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Passwort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Zur Login-Seite zurückkehren.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Mit dem neuen Passwort anmelden.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„Einstellungen“ &gt; „Sicherheit“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47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alte Zugang funktioniert nicht mehr, das neue Passwort funktioniert. Sicherheits- und Sitzungseinstellungen werden verständlich angezeigt.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7992000" y="4212000"/>
            <a:ext cx="3455280" cy="100764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49" name=""/>
          <p:cNvSpPr/>
          <p:nvPr/>
        </p:nvSpPr>
        <p:spPr>
          <a:xfrm>
            <a:off x="7992000" y="4212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Fehlertext: ____________________.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21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52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UC-03: Passwort wiederherstellen und Sicherheit prüfen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360000" y="558000"/>
            <a:ext cx="251964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11–18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11–18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56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Passwortänderung erneut mit einem zweiten Testpasswort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Zwei-Faktor-Authentifizierung prüfen, wenn sie für die Umgebung aktiviert ist.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Andere Browser-Sitzungen anzeigen und gegebenenfalls abmelden.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Login-Bildschirm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„Passwort vergessen“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58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E-Mail senden und den Link aus dem Postfach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Neues Passwort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Zur App zurückkehren und anmelden.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60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alte Zugang funktioniert nicht mehr, das neue Passwort funktioniert. Sicherheits- und Sitzungseinstellungen werden verständlich angezeigt.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7993440" y="3276000"/>
            <a:ext cx="3455280" cy="91044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62" name=""/>
          <p:cNvSpPr/>
          <p:nvPr/>
        </p:nvSpPr>
        <p:spPr>
          <a:xfrm>
            <a:off x="7992000" y="3276000"/>
            <a:ext cx="3455280" cy="10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Fehlertext: ____________________.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22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65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UC-04: Profil und Sportprofil vervollständigen · Teil 1/3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68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Sportler vervollständigt persönliche Daten, Sportarten, Skills, Ziele und Sichtbarkeit.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70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Sportler ist angemeldet. 2. Mindestens eine Test-Sportart ist verfügbar.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73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Oben rechts das Profil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„Einstellungen“ 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Tab „Profil“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Name, Profilbild und Beschreibung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„Speichern“ 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75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Tab „Adresse“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Nur Testadresse eintragen und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Tab „Sportprofil“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„Sportart hinzufügen“ 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Sportart und Disziplin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77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Alle gespeicherten Werte bleiben nach Neuladen erhalten. Private Kennzahlen sind für andere Konten nicht sichtbar.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7992000" y="4212000"/>
            <a:ext cx="3455280" cy="82764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79" name=""/>
          <p:cNvSpPr/>
          <p:nvPr/>
        </p:nvSpPr>
        <p:spPr>
          <a:xfrm>
            <a:off x="7992000" y="4212000"/>
            <a:ext cx="3455280" cy="10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23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82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UC-04: Profil und Sportprofil vervollständigen · Teil 2/3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360000" y="558000"/>
            <a:ext cx="216000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86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Erfahrungslevel, Status und Ziel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Eine Leistungskennzahl als Testwert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Sichtbarkeit der Kennzahl auf „privat“ setzen.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Sportprofil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Öffentliche Profilansicht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88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Prüfen, dass die private Kennzahl nicht öffentlich sichtbar ist.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Unten „Profil“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„Einstellungen“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„Sportprofil“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Sportart, Disziplin, Level und Ziel anlegen.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90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Alle gespeicherten Werte bleiben nach Neuladen erhalten. Private Kennzahlen sind für andere Konten nicht sichtbar.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92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24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95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UC-04: Profil und Sportprofil vervollständigen · Teil 3/3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21–23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21–23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360000" y="97272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9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21. Sichtbarkeit auf privat setzen.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22.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23. Profil neu laden und die Werte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01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Alle gespeicherten Werte bleiben nach Neuladen erhalten. Private Kennzahlen sind für andere Konten nicht sichtbar.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03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25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06" name=""/>
          <p:cNvSpPr/>
          <p:nvPr/>
        </p:nvSpPr>
        <p:spPr>
          <a:xfrm rot="21598800">
            <a:off x="360000" y="195840"/>
            <a:ext cx="1134036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UC-05: Sportler sucht einen Verein und stellt einen Mitgliedsantrag · Teil 1/3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08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Sportler findet einen Verein, prüft dessen Profil und stellt eine Mitgliedschaftsanfrage.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10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Sportlerkonto ist angemeldet. 2. Testverein ist öffentlich sichtbar oder über die Suche erreichbar. 3. Sportler ist noch nicht Mitglied oder hat eine offene Testanfrage.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13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Laptop 2 mit dem Sportlerkonto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Oben rechts in das Suchfeld 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„Airmius Testverein“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Warten, bis Suchergebnisse erscheinen.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Das Ergebnis mit dem Typ „Verein“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15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Vereinsname, Beschreibung, Sportarten, Standort und öffentliche Daten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Zum Bereich „Mitglied werden“ oder „Beitreten“ gehen.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„Mitgliedschaft anfragen“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Falls vorhanden, Team und Nachricht auswählen/eingeben.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Antrag absenden.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17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Verein wird gefunden. Der Antrag wird einmalig gespeichert und steht im Status „In Prüfung“. Der Verein erhält eine neue Anfrage beziehungsweise Benachrichtigung.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19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26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22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UC-05: Sportler sucht einen Verein und stellt einen Mitgliedsantrag · Teil 2/3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26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Erfolgsnachricht und Status „In Prüfung“ dokumentieren.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„Vereine &amp; Teams“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Prüfen, ob der Testverein unter eigenen Anfragen erscheint.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Antrag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„Anfrage zurückziehen“ nur als separaten Test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28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Handy 1 öffnen und als Sportler anmelden.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Unten „Vereine &amp; Teams“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Im Suchfeld „Airmius Testverein“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Testverein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Profil und Teams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30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Verein wird gefunden. Der Antrag wird einmalig gespeichert und steht im Status „In Prüfung“. Der Verein erhält eine neue Anfrage beziehungsweise Benachrichtigung.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32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27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35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UC-05: Sportler sucht einen Verein und stellt einen Mitgliedsantrag · Teil 3/3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21–24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21–24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3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21. „Mitgliedschaft anfragen“ oder „Beitreten“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22. Team auswählen, wenn eine Auswahl erscheint.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23. Nachricht eingeben und absenden.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24. Status der Anfrage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1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Verein wird gefunden. Der Antrag wird einmalig gespeichert und steht im Status „In Prüfung“. Der Verein erhält eine neue Anfrage beziehungsweise Benachrichtigung.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3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28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6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UC-06: Verein prüft und akzeptiert den Mitgliedsantrag · Teil 1/3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9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Verein entscheidet über den Antrag und der Sportler erhält den neuen Mitgliedsstatus.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1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UC-05 ist erfolgreich abgeschlossen. 2. Verein-Admin besitzt Berechtigung für Mitglieder.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4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Laptop 1 öffnen und mit dem Verein-Admin anmelden.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Seitenleiste „Vereinsverwaltung“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„Mitglieder &amp; Finanzen“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Testverein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Tab „Anfragen“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6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Offenen Antrag des Sportlers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Profil und Anfrage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„Annehmen“ 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Vereinsrolle „Mitglied“ bestätigen.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Falls angeboten, Team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8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Antrag verschwindet aus den offenen Anfragen. Der Sportler ist aktives Vereinsmitglied und erhält eine Benachrichtigung.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60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29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63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UC-06: Verein prüft und akzeptiert den Mitgliedsantrag · Teil 2/3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67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Entscheidung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Tab „Mitglieder“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Sportler suchen.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Status „Vereinsmitglied“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Handy 2 oder Vereins-App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69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„Vereins-Cockpit“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„Anfragen“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Sportlerantrag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„Annehmen“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Rolle und Team bestätigen.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71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Antrag verschwindet aus den offenen Anfragen. Der Sportler ist aktives Vereinsmitglied und erhält eine Benachrichtigung.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73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30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76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UC-06: Verein prüft und akzeptiert den Mitgliedsantrag · Teil 3/3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21–21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21–21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80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21. Mitgliederliste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8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Antrag verschwindet aus den offenen Anfragen. Der Sportler ist aktives Vereinsmitglied und erhält eine Benachrichtigung.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84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31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87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UC-07: Trainer erstellt ein Team und lädt Personen ein · Teil 1/3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90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Trainer erstellt ein Team, weist Rollen zu und lädt einen Sportler ein.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92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Trainer ist dem Testverein zugeordnet. 2. Trainer besitzt Team-Berechtigung. 3. Sportlerkonto und Testverein existieren.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95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Laptop 2 mit dem Trainerkonto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Seitenleiste „Trainer &amp; Team“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„Teams“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„Team erstellen“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Verein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97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Teamname „Airmius Testteam“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Sportart und Beschreibung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Saison oder Zeitraum eintragen, falls vorhanden.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Testlogo hochladen.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„Team speichern“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99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Das Team erscheint im Verein. Der Sportler erhält eine Einladung mit dem Teamnamen, Verein und der Rolle.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01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32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04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UC-07: Trainer erstellt ein Team und lädt Personen ein · Teil 2/3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08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Teamprofil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„Mitglieder einladen“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Sportlerkonto oder Sportler-E-Mail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Rolle „Player“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„Einladung senden“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10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Handy 2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Unten „Vereine &amp; Teams“ oder Menü &gt; „Teams“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„Team erstellen“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Verein, Teamname, Sportart und Beschreibung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1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Das Team erscheint im Verein. Der Sportler erhält eine Einladung mit dem Teamnamen, Verein und der Rolle.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14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33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17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UC-07: Trainer erstellt ein Team und lädt Personen ein · Teil 3/3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21–24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21–24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21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21. Team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22. „Einladen“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23. Sportler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24. Rolle „Player“ wählen und Einladung 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2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Das Team erscheint im Verein. Der Sportler erhält eine Einladung mit dem Teamnamen, Verein und der Rolle.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25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34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28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UC-08: Teammitglied nimmt Einladung an und Rolle wird geändert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31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eingeladener Sportler tritt dem Team bei; der Trainer kann die Teamrolle kontrollieren.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33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UC-07 hat eine offene Einladung erzeugt.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36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Handy 1 als Sportler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Glocke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Team-Einladung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Verein und Team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„Annehmen“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38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„Vereine &amp; Teams“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Team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Teamprofil und Rolle „Player“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Laptop 2 als Trainer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„Trainer &amp; Team“ &gt; „Teams“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40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Einladung, Eintritt, Kaderzugehörigkeit und Rollenänderung sind auf beiden Geräten konsistent.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42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35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45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UC-08: Teammitglied nimmt Einladung an und Rolle wird geändert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11–17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11–17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4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„Airmius Testteam“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Mitgliederliste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Sportler und Rolle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Rolle auf „Captain“ ändern, wenn die Rolle für den Test freigegeben ist.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„Speichern“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51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Sportlergerät aktualisieren und neue Rolle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Rolle wieder auf „Player“ zurückstellen.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5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Einladung, Eintritt, Kaderzugehörigkeit und Rollenänderung sind auf beiden Geräten konsistent.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55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36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58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UC-09: Trainer erstellt Trainingsplan und Sportler dokumentiert Training · Teil 1/3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61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Trainer plant eine Einheit. Der Sportler sieht sie, dokumentiert die Durchführung und der Trainer gibt Feedback.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63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Trainer und Sportler sind im selben Team. 2. Testteam ist aktiv.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66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Laptop 2 mit dem Trainerkonto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„Trainer &amp; Team“ &gt; „Trainingsplanung“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„Trainingsplan erstellen“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Titel und Ziel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Testteam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68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Zeitraum und Hinweise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„Plan speichern“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„Einheit hinzufügen“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Datum, Dauer und Intensität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Eine Testübung aus der Übungsbibliothek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70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Plan ist beim Sportler sichtbar. Der Trainingslog ist beim Trainer sichtbar. Feedback wird beim Sportler als offen oder gelesen angezeigt.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72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37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75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UC-09: Trainer erstellt Trainingsplan und Sportler dokumentiert Training · Teil 2/3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7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Einheit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Plan dem Sportler oder Team zuweisen.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Handy 1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Unten „Training“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Geplante Testeinheit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1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Übungen, Dauer und Hinweise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„Training dokumentieren“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Dauer und Belastung/RPE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Notiz „Test durchgeführt“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Training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Plan ist beim Sportler sichtbar. Der Trainingslog ist beim Trainer sichtbar. Feedback wird beim Sportler als offen oder gelesen angezeigt.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5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38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8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UC-09: Trainer erstellt Trainingsplan und Sportler dokumentiert Training · Teil 3/3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21–26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21–26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2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21. Trainingslog öffnen und gespeicherte Werte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22. Trainergerät aktualisieren.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23. „Trainer-Cockpit“ &gt; „Feedback“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24. Den neuen Trainingslog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25. Feedback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4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26. Feedback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6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Plan ist beim Sportler sichtbar. Der Trainingslog ist beim Trainer sichtbar. Feedback wird beim Sportler als offen oder gelesen angezeigt.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8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39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01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UC-10: Trainer erstellt Event und Sportler sagt zu · Teil 1/3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04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Trainer erstellt einen Termin. Sportler antworten darauf und der Trainer sieht die Anwesenheit.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06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Trainer besitzt Event-Berechtigung. 2. Ein Team oder Verein ist verfügbar.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09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Laptop 2 als Trainer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„Events &amp; Anwesenheit“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„Event erstellen“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Schritt „Grunddaten“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Titel, Sportart, Verein und Testteam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11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Schritt „Zeit“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Start, Ende und Zeitzone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Schritt „Details“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Ort, Beschreibung und Teilnahmeoptionen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Schritt „Review“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13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Event, RSVP und Anwesenheit sind auf Sportler-, Trainer- und Vereinsansicht konsistent.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15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40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18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UC-10: Trainer erstellt Event und Sportler sagt zu · Teil 2/3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22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Angaben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Event speichern und veröffentlichen.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Handy 1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Menü &gt; „Events &amp; Training“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Testevent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24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Datum, Uhrzeit, Ort und Team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„Zusage“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Optional Kommentar oder Rückfrage schreiben.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Event schließen und erneut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Zusagestatus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26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Event, RSVP und Anwesenheit sind auf Sportler-, Trainer- und Vereinsansicht konsistent.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28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41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31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UC-10: Trainer erstellt Event und Sportler sagt zu · Teil 3/3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21–26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21–26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35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21. Trainergerät aktualisieren.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22. Event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23. Anwesenheitsliste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24. Sportler mit „Zusage“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25. Bei einem Testtermin Anwesenheit markieren.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37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26.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39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Event, RSVP und Anwesenheit sind auf Sportler-, Trainer- und Vereinsansicht konsistent.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41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42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44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UC-11: Sportler erstellt Feed-Beitrag und reagiert auf Inhalt · Teil 1/3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47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Nutzer veröffentlicht einen Beitrag, kommentiert, liked, markiert hilfreich und meldet einen Testinhalt.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49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Sportler ist angemeldet. 2. Feed-Berechtigung ist vorhanden.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52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Laptop 2 als Sportler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Seitenleiste „Mein Sport“ &gt; „Feed“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Im Composer den Testtext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Testbild oder ungefährliche Datei anhängen.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„Veröffentlichen“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54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Eigenen Beitrag suchen.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Beitrag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„Bearbeiten“ anklicken, Text ändern und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Beitrag liken.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„Hilfreich“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56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Beitrag ist sichtbar, Bearbeiten/Löschen betrifft nur eigene Inhalte, Reaktionen werden gezählt und eine Meldung wird an die Moderation weitergegeben.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58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43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61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UC-11: Sportler erstellt Feed-Beitrag und reagiert auf Inhalt · Teil 2/3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65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Kommentar schreiben und absenden.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Kommentar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Kommentar löschen.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Beitrag über das Drei-Punkte-Menü löschen.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Löschbestätigung bestätigen.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67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Handy 1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Unten „Feed“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Testbeitrag schreiben und veröffentlichen.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Beitrag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Like, hilfreich und Kommentar testen.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69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Beitrag ist sichtbar, Bearbeiten/Löschen betrifft nur eigene Inhalte, Reaktionen werden gezählt und eine Meldung wird an die Moderation weitergegeben.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71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44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74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UC-11: Sportler erstellt Feed-Beitrag und reagiert auf Inhalt · Teil 3/3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21–22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21–22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78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21. Über das Beitragsmenü einen Testbeitrag melden.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22. Testgrund auswählen und absenden.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80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Beitrag ist sichtbar, Bearbeiten/Löschen betrifft nur eigene Inhalte, Reaktionen werden gezählt und eine Meldung wird an die Moderation weitergegeben.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82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45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85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UC-12: Trainer und Sportler schreiben im Chat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88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Zwei Nutzer tauschen eine Nachricht aus und sehen den Lesestatus sowie den Ungelesen-Zähler.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90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Sportler und Trainer sind aktiv. 2. Beide Konten dürfen Nachrichten verwenden.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93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Handy 1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Oben auf „Nachrichten“ 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Vorhandenen Trainerchat öffnen oder neue Unterhaltung starten.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Nachricht „Testnachricht Sportler“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Senden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95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Prüfen, ob die Nachricht im Chat erscheint.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Laptop 2 als Trainer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Oben das Nachrichten-Symbol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Den Chat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Nachricht lesen.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97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Nachrichten werden dem richtigen Gespräch zugeordnet. Ungelesen-Zähler und Lesestatus aktualisieren sich.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99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46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02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UC-12: Trainer und Sportler schreiben im Chat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11–12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11–12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06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„Testantwort Trainer“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Antwort 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08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Nachrichten werden dem richtigen Gespräch zugeordnet. Ungelesen-Zähler und Lesestatus aktualisieren sich.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10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47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13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UC-13: Verein teilt eine Datei mit dem Team · Teil 1/3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16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Verein lädt ein Dokument hoch, teilt es mit einem Team und Sportler/Trainer können es öffnen.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18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Verein und Team existieren. 2. Test-PDF oder Testbild liegt bereit.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21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Laptop 1 öffnen und als Verein-Admin anmelden.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Seitenleiste „Dateien“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Bereich „Verein“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„Ordner erstellen“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Ordnername „Testdokumente“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23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Ordner speichern und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„Datei hochladen“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Testdatei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Upload abwarten.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Datei öffnen oder Vorschau anzeigen.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25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Nur freigegebene Personen sehen das Dokument. Umbenennen, Teilen und Löschen funktionieren gemäß Berechtigung.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27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48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30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UC-13: Verein teilt eine Datei mit dem Team · Teil 2/3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34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„Teilen“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Zieltyp „Team“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Testteam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Freigabe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Handy 2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36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Menü &gt; „Dateien“ oder „Teamdateien“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Testteam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Ordner „Testdokumente“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Datei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Inhalt oder Vorschau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38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Nur freigegebene Personen sehen das Dokument. Umbenennen, Teilen und Löschen funktionieren gemäß Berechtigung.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0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49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3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UC-13: Verein teilt eine Datei mit dem Team · Teil 3/3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21–25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21–25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7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21. Handy 1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22. „Vereine &amp; Teams“ &gt; Testteam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23. Teamdateien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24. Datei anzeigen.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25. Datei herunterladen, falls angeboten.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9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Nur freigegebene Personen sehen das Dokument. Umbenennen, Teilen und Löschen funktionieren gemäß Berechtigung.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51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50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54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UC-14: Sportler findet Sportpartner und verwaltet Freunde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57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Sportler sucht einen passenden Sportpartner, sendet eine Anfrage und nimmt eine Freundschaftsanfrage an.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59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Zwei Sportler-Testkonten existieren. 2. Sportart, Ort und Testprofile sind angelegt.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62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Handy 1 als Sportler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Menü &gt; „Sport-Matching“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Modus „Sportpartner“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Sportart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Radius und Niveau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64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„Suchen“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Ergebnis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Anfrage 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Zweites Sportlerkonto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Anfrage annehmen oder ablehnen.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66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Matching-Anfragen und Freundschaften erscheinen beim richtigen Empfänger und erzeugen Benachrichtigungen.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68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51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71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UC-14: Sportler findet Sportpartner und verwaltet Freunde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11–18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11–18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75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Web oder App &gt; „Freunde“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E-Mail des zweiten Testkontos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„Einladen“ anklicken oder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Zweites Konto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Freundschaftsanfrage annehmen.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77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Freundesliste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Freundschaft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Menü der Freundschaft öffnen und Meldung/Entfernen nur mit Testdaten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79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Matching-Anfragen und Freundschaften erscheinen beim richtigen Empfänger und erzeugen Benachrichtigungen.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81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52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84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UC-15: Sportler erfasst Ernährung und Wasser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87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Sportler erfasst Mahlzeit, Wasser und ein Ernährungsziel; die Tagesübersicht wird aktualisiert.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89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92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Laptop 2 als Sportler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„Mein Sport“ &gt; „Ernährung“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„Schnell erfassen“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Titel „Testmahlzeit“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Menge und Kalorien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94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Makronährstoffe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Mahlzeit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„Wasser“ oder „Trinken“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Testmenge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Wasserziel öffnen und Testziel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96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Die Tageswerte erhöhen sich nach dem Speichern und verringern sich nach dem Löschen. Ziel und Einträge bleiben nach erneutem Öffnen erhalten.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98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53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01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UC-15: Sportler erfasst Ernährung und Wasser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11–19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11–19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05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„Lebensmittel finden“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Testlebensmittel suchen und Ergebnis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Mahlzeit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Mahlzeit wieder löschen.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Handy 1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07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Unten „Ernährung“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Mahlzeit anlegen und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Wasser über „Trinken“ hinzufügen.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Tageszusammenfassung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09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Die Tageswerte erhöhen sich nach dem Speichern und verringern sich nach dem Löschen. Ziel und Einträge bleiben nach erneutem Öffnen erhalten.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11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54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14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UC-16: Sportler plant eine Route und prüft Live-Tracking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17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Sportler plant eine Teststrecke, speichert sie und prüft Standort-/Tracking-Funktionen.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19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Handy hat Standortfreigabe nur für die App-Testdauer. 2. Eine sichere Testumgebung ohne Veröffentlichung privater Orte.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22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„Mein Sport“ &gt; „Sportkarte“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„Route planen“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Zwei oder mehr Testpunkte auf der Karte setzen.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Einen Punkt entfernen.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Route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24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Namen „Teststrecke“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Gespeicherte Route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Route bearbeiten oder löschen, falls angeboten.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Handy 1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Menü &gt; „Sportkarte“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26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Kartenpunkte, Route, Track und Live-Werte werden korrekt angezeigt. Nach dem Stoppen läuft das Tracking nicht weiter.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28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55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31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UC-16: Sportler plant eine Route und prüft Live-Tracking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11–17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11–17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35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„Live-Tracking“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Standortberechtigung nur während der Nutzung erlauben.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Tracking starten.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Position, Zeit und Distanz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Tracking stoppen.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37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Ergebnis speichern oder verwerfen.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Route oder Track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39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Kartenpunkte, Route, Track und Live-Werte werden korrekt angezeigt. Nach dem Stoppen läuft das Tracking nicht weiter.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41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56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44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UC-17: Sportler nimmt an Kurs teil und erhält Badge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47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Nutzer startet einen Kurs, speichert Fortschritt und sieht Badges/Zertifikate.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49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52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Web oder App &gt; „Meine Kurse“ beziehungsweise Menü &gt; „Kurse“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Testkurs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Kursdetails und Anbieter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„Kurs starten“ anklicken oder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Erste Lektion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54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Inhalt bis zum Ende lesen beziehungsweise testen.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Lektion als abgeschlossen markieren.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Zur Kursübersicht zurückkehren.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Fortschrittsbalken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„Meine Badges“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56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Lernfortschritt wird gespeichert. Badge und Zertifikat erscheinen nur bei den vorgesehenen Bedingungen.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58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57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61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UC-17: Sportler nimmt an Kurs teil und erhält Badge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11–12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11–12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65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Badge und Fortschritt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Bei abgeschlossenem Kurs Zertifikat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67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Lernfortschritt wird gespeichert. Badge und Zertifikat erscheinen nur bei den vorgesehenen Bedingungen.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69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58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72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UC-18: Sportler verwaltet ein Outfit-Abo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75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Sportler pflegt das Style-Profil und prüft Pause, Fortsetzen und Kündigung eines Test-Abos.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77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80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Seitenleiste oder App-Menü „Outfit-Abo“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Style-Profil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Größen, Farben und Präferenzen mit Testwerten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Style-Profil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Lieferübersicht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82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Testlieferung und Status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Abo-Details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„Pausieren“ auswählen und bestätigen.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Status „Pausiert“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„Fortsetzen“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84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Style-Profil und Abo-Status bleiben nach Neuladen erhalten. Aktionen zeigen eine eindeutige Bestätigung.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86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59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89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UC-18: Sportler verwaltet ein Outfit-Abo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11–12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11–12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93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Status „Aktiv“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Kündigung nur bei einem Test-Abo öffnen und Bestätigungsdialog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95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Style-Profil und Abo-Status bleiben nach Neuladen erhalten. Aktionen zeigen eine eindeutige Bestätigung.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97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60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00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UC-19: Käufer legt ein Marketplace-Produkt in den Warenkorb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03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Käufer findet ein Angebot, legt es in den Warenkorb und prüft den Bestellstatus mit einer Testzahlung.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05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08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Web oder App &gt; „Marketplace“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Testprodukt oder Testkurs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Produktbild, Beschreibung, Preis, Anbieter und Hinweise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„In den Warenkorb“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Warenkorb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10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Menge prüfen und gegebenenfalls ändern.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Checkout starten.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Test-Zahlungsart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Zahlungs- und Bestellübersicht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Bestellung bestätigen.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12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Warenkorb, Checkout, Bestellung und Status gehören zum richtigen Konto. Bei abgebrochenem Checkout wird keine Bestellung fälschlich als bezahlt angezeigt.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14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61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17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UC-19: Käufer legt ein Marketplace-Produkt in den Warenkorb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11–13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11–13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21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Erfolgsseite oder Überweisungsanweisung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Bestellstatus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Bestellung und E-Mail-Bestätigung prüfen, falls eingerichtet.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2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Warenkorb, Checkout, Bestellung und Status gehören zum richtigen Konto. Bei abgebrochenem Checkout wird keine Bestellung fälschlich als bezahlt angezeigt.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25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62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28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UC-20: Verein erstellt und veröffentlicht sein Profil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31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Verein legt Basisdaten, Bilder, Sichtbarkeit und öffentliche Vorschau an.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2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33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Verein-Admin darf Vereine erstellen. 2. Testlogo und Testtitelbild liegen vor.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36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Laptop 1 als Verein-Admin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„Vereine &amp; Teams“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„Verein registrieren“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Vereinsname und Kurzname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Kontakt- und Standortdaten als Testdaten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38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Sportarten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Beschreibung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Sichtbarkeit auf öffentlich setzen.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Vereinslogo und Titelbild hochladen.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Vereinsnummer als Testnummer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40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Verein ist intern vollständig und öffentlich korrekt dargestellt.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42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63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45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UC-20: Verein erstellt und veröffentlicht sein Profil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6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7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4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„Verein erstellen“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Vereinsprofil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Änderungen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Öffentliche Vorschau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Prüfen, ob nur freigegebene Daten sichtbar sind.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0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51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Vereins-App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„Vereins-Cockpit“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„Profil bearbeiten“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Basisdaten und Testbild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Profilvorschau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5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Verein ist intern vollständig und öffentlich korrekt dargestellt.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55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6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64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58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UC-21: Verein fügt ein Mitglied per E-Mail hinzu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61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Verein erfasst ein externes Mitglied und versendet eine Einladung zur Verknüpfung.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63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Verein-Admin öffnet „Mitglieder &amp; Finanzen“. 2. Test-E-Mail ist verfügbar.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4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5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66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Laptop 1 mit dem Vereins-Admin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„Vereinsverwaltung“ &gt; „Mitglieder &amp; Finanzen“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Testverein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Tab „Mitglieder“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„Mitglied hinzufügen“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68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Name und Test-E-Mail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Vereinsrolle „Mitglied“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Status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Mitgliedsnummer und Beitrag als Testwerte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„Einladung senden“ aktivieren.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70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Das externe Mitglied wird angelegt. Einladung und Verknüpfung sind nachvollziehbar; es entsteht kein doppeltes Mitglied.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1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72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65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75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UC-21: Verein fügt ein Mitglied per E-Mail hinzu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11–16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7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11–16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8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7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Mitglied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Externe-Mitglieder-Liste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Testpostfach öffnen und Einladungslink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Mit dem Testkonto anmelden oder Konto verknüpfen.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Zur Vereinsverwaltung zurückkehren.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0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81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Verknüpfung und Mitgliedsstatus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8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Das externe Mitglied wird angelegt. Einladung und Verknüpfung sind nachvollziehbar; es entsteht kein doppeltes Mitglied.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85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66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88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UC-22: Verein importiert mehrere Mitglieder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91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Verein lädt eine Vorlage herunter, importiert Testmitglieder und prüft die Validierung.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93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96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„Mitglieder &amp; Finanzen“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„Excel-Vorlage“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Vorlage herunterladen.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Zwei oder drei Testzeilen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Eine absichtlich fehlerhafte Zeile ergänzen.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98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Datei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„Importieren“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Datei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Vorschau und Warnungen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Fehlerhafte Zeile korrigieren.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00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Fehlerhafte Zeilen werden verständlich gemeldet. Korrekte Zeilen werden einmalig importiert. Die Personen erscheinen in der Mitgliederliste.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02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67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05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UC-22: Verein importiert mehrere Mitglieder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11–16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11–16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8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0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Import erneut starten.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„Einladungen senden“ nur mit Test-E-Mail aktivieren.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Import bestätigen.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Tab „Mitglieder“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Alle importierten Personen suchen.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0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11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Status, Rolle und Beitrag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1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Fehlerhafte Zeilen werden verständlich gemeldet. Korrekte Zeilen werden einmalig importiert. Die Personen erscheinen in der Mitgliederliste.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4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15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6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68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18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UC-23: Verein bearbeitet Beitrittsanfrage und Mitgliedsdaten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9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0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21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Verein entscheidet über eine Anfrage und pflegt Status, Mitgliedsnummer, Lizenznummer und Beitrag.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2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23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26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Sportler mit Handy 1 eine Vereinsanfrage senden lassen.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Laptop 1 als Verein-Admin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„Mitglieder &amp; Finanzen“ &gt; „Anfragen“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Anfrage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„Annehmen“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7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28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Tab „Mitglieder“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Sportlerzeile suchen.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Bearbeiten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Mitgliedsnummer als Testnummer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Lizenznummer als Testnummer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30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Die Mitgliedsdaten sind vollständig und die Änderung ist im Audit sichtbar.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1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32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69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35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UC-23: Verein bearbeitet Beitrittsanfrage und Mitgliedsdaten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11–16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7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11–16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3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Beitrag und Intervall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Nächstes Rechnungsdatum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Eintrittsdatum und interne Notiz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Status „Vereinsmitglied“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Zeile erneut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41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Alle Werte kontrollieren.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4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Die Mitgliedsdaten sind vollständig und die Änderung ist im Audit sichtbar.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4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45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6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70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48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UC-24: Verein legt Mitgliedschaftstyp und Beitragsregel an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9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0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51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Verein definiert einen Mitgliedschaftstyp und einen wiederkehrenden Beitrag.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2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53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4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5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56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„Mitglieder &amp; Finanzen“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Tab „Beitragsregeln“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„Mitgliedschaftstyp hinzufügen“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Name „Test Standardmitgliedschaft“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Beschreibung und Sichtbarkeit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58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„Typ speichern“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„Neue Beitragsregel“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Mitgliedschaftstyp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Gültigkeitsbeginn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Intervall „monatlich“ oder „jährlich“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9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60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Typ und die Regel erscheinen in der richtigen Liste. Die Regel ist nur innerhalb ihrer Gültigkeit aktiv.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1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62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3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71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65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UC-24: Verein legt Mitgliedschaftstyp und Beitragsregel an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6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11–15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7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11–15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8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6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Testbetrag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Altersbereich nur mit Testwerten füllen.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Regel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Aktive und historische Regeln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Testmitglied dem neuen Typ zuordnen.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0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71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Typ und die Regel erscheinen in der richtigen Liste. Die Regel ist nur innerhalb ihrer Gültigkeit aktiv.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2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73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72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76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UC-25: Verein erstellt Rechnung, erfasst Zahlung und sendet Erinnerung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7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79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Verein erstellt eine Testrechnung, erfasst eine Zahlung, prüft Status und versendet eine Erinnerung.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0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81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84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„Mitglieder &amp; Finanzen“ &gt; „Mitglieder“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Testmitglied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„Rechnung erstellen“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Titel, Betrag, Zeitraum und Fälligkeit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Rechnung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5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86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Tab „Rechnungen“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Neue Rechnung suchen.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Status „Offen“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Rechnung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„Zahlung erfassen“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88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Rechnung und Zahlung werden korrekt verknüpft. Eine bezahlte Rechnung wird nicht erneut als offen angezeigt. Erinnerung wird protokolliert.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90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1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73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93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UC-25: Verein erstellt Rechnung, erfasst Zahlung und sendet Erinnerung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4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11–17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5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11–17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6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97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Testbetrag, Datum und Zahlungsmethode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Zahlung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Status „Bezahlt“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Für eine zweite Testrechnung Status „Überfällig“ setzen.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„Erinnerung/Mahnung senden“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8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99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Bestätigungsnachricht und Benachrichtigung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Sportlerkonto öffnen und Rechnungsinformation prüfen, falls freigegeben.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0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01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Rechnung und Zahlung werden korrekt verknüpft. Eine bezahlte Rechnung wird nicht erneut als offen angezeigt. Erinnerung wird protokolliert.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03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4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74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06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UC-26: Verein prüft Finanzen, Bankabgleich, SEPA und DATEV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7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09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Verein kontrolliert Kassenbuch, Bankimport und planabhängige Exporte mit anonymisierten Testdaten.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0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11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Keine echten Bankdaten verwenden. 2. Abo-Plan und verfügbare Berechtigungen vorher notieren.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2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14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15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16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Buchungen werden korrekt gespeichert. Planabhängige Funktionen zeigen bei fehlender Freischaltung einen verständlichen Hinweis und führen keinen unvollständigen Export aus.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18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9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75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21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UC-27: Verein prüft Audit-Log und Planlimits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3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24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Vereinsaktionen sind nachvollziehbar und Limit-/Premium-Hinweise sind verständlich.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5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26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7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8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29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Eine Teständerung an einem Mitglied durchführen.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Eine Testrechnung anlegen.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Eine Testzahlung erfassen.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„Mitglieder &amp; Finanzen“ &gt; „Audit“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Alle drei Aktionen suchen.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0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31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Zeitpunkt und handelndes Konto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„Vereins-Cockpit“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Mitgliederlimit, Teamlimit und Speicherverbrauch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Eine planabhängige Funktion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Prüfen, ob ein Upgrade-Hinweis statt eines unklaren Fehlers erscheint.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2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33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Änderungen sind mit Zeit und Konto nachvollziehbar. Limits und gesperrte Funktionen werden verständlich angezeigt.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35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6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76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38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UC-28: Benachrichtigung führt zum richtigen Ziel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9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0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41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Nutzer erhält eine Benachrichtigung zu Einladung, Antrag, Chat, Event oder Rechnung und gelangt über den Link zum richtigen Bereich.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43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4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5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46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Testevent oder Testnachricht mit dem Trainerkonto erzeugen.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Sportlergerät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Glocke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Neue Benachrichtigung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Zielseite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7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48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Zurück zur Benachrichtigungsliste gehen.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Einzelne Meldung als gelesen markieren.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Eine zweite Meldung erzeugen.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„Alle als gelesen markieren“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Zähler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9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50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Jede Benachrichtigung öffnet genau den auslösenden Kontext. Der Ungelesen-Zähler ändert sich korrekt.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1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52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3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77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55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UC-28: Benachrichtigung führt zum richtigen Ziel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6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11–11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7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11–11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8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5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Web-Topbar öffnen und denselben Test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0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61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Jede Benachrichtigung öffnet genau den auslösenden Kontext. Der Ungelesen-Zähler ändert sich korrekt.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2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63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4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78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66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UC-29: Sportler verwaltet Einstellungen, Sprache, Datenschutz und Integrationen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7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8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69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Persönliche Einstellungen werden gespeichert und sensible Daten bleiben geschützt.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0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71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2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3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74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„Einstellungen“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Tab „Sprache“ öffnen und Deutsch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Optional Englisch auswählen und prüfen, ob sichtbare Navigation übersetzt wird.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Tab „Design“ öffnen und hell/dunkel wechseln.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Tab „Datenschutz“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5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76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Profil- und Sportdaten-Sichtbarkeit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Privatsphäre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Tab „Sport-Apps &amp; Gesundheitsdaten“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Testprovider verbinden oder vorhandene Verbindung anzeigen.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Synchronisation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7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78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Sprache, Design, Datenschutz und Integration bleiben nach Neuladen erhalten. Trennen entfernt den Zugriff, sofern vorgesehen.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9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80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1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79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83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UC-29: Sportler verwaltet Einstellungen, Sprache, Datenschutz und Integrationen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4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11–15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5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11–15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6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87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Testaktivität importieren.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Verbindung trennen, falls ein Testprovider verwendet wurde.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Tab „Aktivitäten“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Importierte Aktivität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Aktivität bearbeiten und löschen.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89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Sprache, Design, Datenschutz und Integration bleiben nach Neuladen erhalten. Trennen entfernt den Zugriff, sofern vorgesehen.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0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91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2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80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94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UC-30: Minderjähriger Nutzer und Elternzustimmung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5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6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97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minderjähriger Nutzer wird geschützt, bis ein Elternteil die Einwilligung erteilt oder ablehnt.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8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99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Minderjährigen-Testkonto mit Test-Geburtsdatum. 2. Eltern-Test-E-Mail. 3. Keine echten Familien- oder Gesundheitsdaten verwenden.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0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1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02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Registrierung mit Test-Geburtsdatum starten.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Eltern-E-Mail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Registrierung abschließen.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Warteseite „Elternzustimmung“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Versuchen, eine soziale Funktion zu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3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04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Prüfen, ob sie bis zur Zustimmung geschützt bleibt.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Elternzustimmungs-E-Mail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Link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Kind, Einwilligungstext und Version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„Zustimmen“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5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06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Ohne Zustimmung bleiben geschützte Funktionen eingeschränkt. Zustimmung und Widerruf ändern den Status nachvollziehbar.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7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08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9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81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11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UC-30: Minderjähriger Nutzer und Elternzustimmung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2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11–13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3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11–13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4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15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Optional Elternlogin per Zugangscode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Verknüpftes Kind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Benachrichtigungen und Zustimmungsstatus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6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17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Ohne Zustimmung bleiben geschützte Funktionen eingeschränkt. Zustimmung und Widerruf ändern den Status nachvollziehbar.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8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19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0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82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22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UC-31: Verein veröffentlicht Beitrag, Event und Vereinsdokument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3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4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25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Verein kommuniziert eine Nachricht über Feed, Event und Dokumente an die richtigen Personen.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6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27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8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9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30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Laptop 1 als Verein-Admin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Feed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Vereinsbeitrag „Test Vereinsnews“ schreiben.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Beitrag veröffentlichen.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„Events &amp; Anwesenheit“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1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32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Vereins- oder Teamevent mit Testdaten anlegen.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Event veröffentlichen.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„Dateien“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Testdokument in Vereinsbereich hochladen.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Dokument mit Team teilen.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3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34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Vereinsinhalte erscheinen nur in den freigegebenen Zielgruppen. Event und Dokument sind nicht automatisch für private oder fremde Vereine sichtbar.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5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36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83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39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UC-31: Verein veröffentlicht Beitrag, Event und Vereinsdokument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0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11–14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1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11–14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2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43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Handy 1 als Sportler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Feedbeitrag, Event und Dokument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Trainergerät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Teamzugriff und Dokument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45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Vereinsinhalte erscheinen nur in den freigegebenen Zielgruppen. Event und Dokument sind nicht automatisch für private oder fremde Vereine sichtbar.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6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47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8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84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50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UC-32: Sponsoring- oder Commerce-Angebot als Entwurf anlegen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1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2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53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Verein oder Anbieter erstellt ein Testangebot beziehungsweise eine Kampagne, ohne es versehentlich live zu schalten.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4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55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6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7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58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„Sponsoren“ oder „Commerce“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„Kampagne/Angebot erstellen“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Titel, Beschreibung und Test-Ziel-URL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Budget oder Preis nur als Testwert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Laufzeit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9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60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Status „Entwurf“ oder „In Prüfung“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Vorschau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Keine Live-Aktivierung ausführen.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Testentwurf wieder löschen oder deaktivieren.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1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62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Entwurf bleibt unsichtbar für die Öffentlichkeit, bis eine ausdrücklich erforderliche Freigabe erfolgt.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3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64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5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85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67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UC-33: Plattform-Admin prüft Nutzer, Rollen und Moderation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8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9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70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Plattform-Admin kann Verwaltung und Moderation öffnen; normale Nutzer können diese Bereiche nicht öffnen.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1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72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Plattform-Admin-Testkonto ist vorhanden. 2. Moderations-Testmeldung existiert.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3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4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75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Mit Plattform-Admin anmelden.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Seitenleiste „Admin“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„Users“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Sportlerkonto suchen.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Profil und Status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6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77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„Rollen &amp; Rechte“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Testrolle und Berechtigung nur anzeigen oder mit Testwert ändern.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„Moderation“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Testmeldung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Status und Entscheidung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8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79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Adminfunktionen sind rollen- und berechtigungsabhängig geschützt. Entscheidungen werden protokolliert.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0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81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2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86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84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UC-33: Plattform-Admin prüft Nutzer, Rollen und Moderation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5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11–16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6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11–16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7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88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„Vereinsprüfung“, „Sportarten“, „Badges“ und „Gamification“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Nur Testobjekte anlegen oder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App mit Plattform-Admin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Menü-Symbol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„Admin“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9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90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„Nutzer“, „Rollen &amp; Rechte“ oder „Moderation“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1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9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Adminfunktionen sind rollen- und berechtigungsabhängig geschützt. Entscheidungen werden protokolliert.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3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94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5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87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97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UC-34: Vollständiger Paralleltest über vier Geräte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8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9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00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Ende-zu-Ende-Ablauf verbindet Sportler-App, Trainer-App, Vereins-Web und Gegenkonto-Web.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1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02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3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4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05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06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07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Alle Aktionen werden zwischen Web und App korrekt synchronisiert. Keine Aktion erscheint beim falschen Verein, Team oder Benutzer.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8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09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0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88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12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UC-35: Fehler sauber aufnehmen und Nachtest durchführen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3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4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15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Jeder Fehler wird so dokumentiert, dass er reproduziert und erneut geprüft werden kann.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6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17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8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9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20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Use-Case-Nummer notieren.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Rolle und E-Mail-Testkonto notieren.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Gerät und Betriebssystem notieren.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Browsername oder App-Version notieren.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Internet/WLAN und API-Umgebung notieren.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1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22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Exakten Klickweg notieren.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Erwartetes Ergebnis notieren.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Tatsächliches Ergebnis notieren.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Fehlertext wörtlich kopieren.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Screenshot oder Bildschirmaufnahme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3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24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Ergebnis und Status dokumentieren.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5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26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89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29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UC-35: Fehler sauber aufnehmen und Nachtest durchführen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0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11–16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1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11–16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2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3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Uhrzeit und Zeitpunkt des letzten erfolgreichen Versuchs notieren.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Fehler einmal mit einem zweiten Konto wiederholen.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Fehler einmal in Web und einmal in App vergleichen.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Fehlerstatus auf „Fehler“ setzen.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Nach der Korrektur denselben Klickweg wiederholen.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4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5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Ergebnis auf „Bestanden“ oder „Nachtest“ setzen.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6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7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Ergebnis und Status dokumentieren.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8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9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0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90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42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UC-36: Gast besucht die öffentlichen Bereiche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3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4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45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nicht angemeldeter Besucher kann die öffentlichen Funktionen ansehen und findet den Weg zu Registrierung, Login oder Kontakt.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6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47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8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9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50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Browser im privaten Fenster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Startseite öffnen und Logo, Hauptversprechen und Einstiegsschaltflächen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„Preise“ oder „Abos“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Zielgruppen Sportler und Verein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„Vereine“ öffnen und nach einem Testverein suchen.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1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52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„Veranstaltungen“ öffnen und öffentliche Events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„Marketplace“ öffnen und Produktliste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Ein Marketplace-Produkt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Anbieterprofil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„Blog“ öffnen und Artikelliste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3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54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Öffentliche Inhalte sind ohne Login erreichbar. Geschützte Aktionen verlangen Anmeldung. Links, Sprache und rechtliche Seiten funktionieren.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5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56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91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59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UC-36: Gast besucht die öffentlichen Bereiche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0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1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2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63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Blogartikel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„Jobs“ öffnen und Stellenliste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„E-Learning“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„Gamification“ und „Top-Inhalte“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„Sponsoren“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4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65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„Werbeagentur für Vereine“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Kontakt-/Meldeformular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Sprache wechseln.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Impressum, Datenschutz, AGB, Community-Richtlinien, Jugendschutz, Cookies und Widerruf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Von jeder Seite „Registrieren“ oder „Anmelden“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6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67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Öffentliche Inhalte sind ohne Login erreichbar. Geschützte Aktionen verlangen Anmeldung. Links, Sprache und rechtliche Seiten funktionieren.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8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69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0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92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72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UC-37: Besucher liest Blogartikel und verwendet öffentliche Inhalte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3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4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75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Besucher findet, filtert und öffnet Blogartikel und kann einen Artikel über eine direkte URL wieder aufrufen.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6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77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8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9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80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Öffentliche Seite „Blog“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Kategorien oder Filter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Suchfeld verwenden, falls vorhanden.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Artikelkarte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Titel, Autor, Datum, Kategorie, Vorschaubild und Inhalt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1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82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Bilder im Artikel öffnen oder vergrößern.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Externe Links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Zurück zur Blogliste gehen.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Einen Artikel über seine direkte URL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Nicht vorhandenen Slug öffnen und Fehlerseite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3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84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Artikel, Bilder und Kategorien werden korrekt geladen. Ein ungültiger Artikel führt zu einer verständlichen Fehlerseite und nicht zu einem Serverfehler.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5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86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93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89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UC-37: Besucher liest Blogartikel und verwendet öffentliche Inhalte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0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11–11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1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11–11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2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93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Artikel auf Handy-Browser oder App-Gastbereich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95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Artikel, Bilder und Kategorien werden korrekt geladen. Ein ungültiger Artikel führt zu einer verständlichen Fehlerseite und nicht zu einem Serverfehler.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6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97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8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94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00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UC-38: Admin erstellt Kategorie und Blogartikel · Teil 1/3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1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2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03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Die Redaktion kann Kategorien und Blogartikel als Entwurf anlegen, Vorschau prüfen, bearbeiten und löschen.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4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05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Plattformkonto mit Blog-Berechtigung. 2. Testbild und Testtext.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6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7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08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Als Admin anmelden.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Seitenleiste „Admin“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„Blog-Kategorien“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„Kategorie erstellen“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Name, Slug, Beschreibung und Aktivstatus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9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10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Kategorie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Kategorie bearbeiten und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„Blogs“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„Neuen Blogbeitrag erstellen“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Titel, Slug, Teaser und Hauptinhalt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1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12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Entwurf, Vorschau und öffentlicher Artikel unterscheiden sich korrekt. Löschen erfordert die passende Berechtigung und Bestätigung.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3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14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5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95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17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UC-38: Admin erstellt Kategorie und Blogartikel · Teil 2/3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8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9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0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21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Kategorie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Beitragsbild hochladen.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Über „Content-Bild hochladen“ ein Testbild in den Inhalt einfügen.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Status als Entwurf oder geplant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Vorschau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2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23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Vorschau auf Desktop und Mobilbreite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Beitrag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Beitrag veröffentlichen, wenn die Oberfläche den Status anbietet.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Öffentliche Blogseite öffnen und Beitrag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Testbeitrag löschen.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25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Entwurf, Vorschau und öffentlicher Artikel unterscheiden sich korrekt. Löschen erfordert die passende Berechtigung und Bestätigung.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6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27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8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96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30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UC-38: Admin erstellt Kategorie und Blogartikel · Teil 3/3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1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21–21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2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21–21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3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34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21. Testkategorie löschen, sofern sie nicht mehr verwendet wird.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5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36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Entwurf, Vorschau und öffentlicher Artikel unterscheiden sich korrekt. Löschen erfordert die passende Berechtigung und Bestätigung.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7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38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9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97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41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UC-39: Feed-Story erstellen, ansehen, reagieren und löschen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2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3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44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Nutzer erstellt eine Story, ein anderer Nutzer sieht sie, reagiert darauf und die Story kann ablaufen oder gelöscht werden.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5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46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7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8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49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Sportler-App oder Web-Feed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Story-Composer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Testbild oder kurzen Testtext einfügen.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Story veröffentlichen.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Story-Leiste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0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51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Eigene Story ansehen.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Zur nächsten Story wechseln.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Story als angesehen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Reaktion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Mit dem zweiten Konto den Feed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2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53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Stories, Aufrufe und Reaktionen werden dem richtigen Nutzer zugeordnet. Löschen entfernt nur die eigene Teststory.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4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55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6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98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58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UC-39: Feed-Story erstellen, ansehen, reagieren und löschen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9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11–14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0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11–14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1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62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Story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Reaktion und Aufrufstatus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Eigene Teststory löschen.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Prüfen, dass sie nicht mehr in der Story-Leiste erscheint.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6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Stories, Aufrufe und Reaktionen werden dem richtigen Nutzer zugeordnet. Löschen entfernt nur die eigene Teststory.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5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66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99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69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UC-40: Profile folgen, blockieren und empfehlen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0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1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72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Nutzer kann ein anderes Profil ansehen, folgen, entfolgen, blockieren und eine Empfehlung oder Skill-Bestätigung abgeben.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3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74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5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6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77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Mit dem Sportlerkonto die globale Suche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Testprofil suchen.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Profilseite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Sichtbare Sportarten und Skills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„Folgen“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8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79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Feed oder Profil aktualisieren und Followstatus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„Entfolgen“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Einen Skill auswählen und „Bestätigen“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Empfehlung schreiben und absenden.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Mit dem Empfängerkonto Empfehlung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0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81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Follow, Empfehlung, Skill-Bestätigung, Blockierung und Aufhebung ändern den jeweiligen Status und erzeugen nur berechtigte Benachrichtigungen.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2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83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4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100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86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UC-40: Profile folgen, blockieren und empfehlen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7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11–14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8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11–14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90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Empfehlung annehmen.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Mit einem dritten Testprofil das ursprüngliche Profil blockieren.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Prüfen, ob Profil und soziale Aktionen gemäß Schutzregeln verborgen werden.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Blockierung wieder aufheben.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1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9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Follow, Empfehlung, Skill-Bestätigung, Blockierung und Aufhebung ändern den jeweiligen Status und erzeugen nur berechtigte Benachrichtigungen.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3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94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5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101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97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UC-41: Marketplace durchsuchen, Wunschliste und Anbieterprofil prüfen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8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9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00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Besucher oder Käufer findet Produkte, filtert sie, speichert einen Wunsch und öffnet das Anbieterprofil.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1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02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3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4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05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Öffentliche Seite „Marketplace“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Produktarten wie Produkt, Kurs und Camp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Suchfeld verwenden.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Kategorie- und Preisfilter verwenden, falls vorhanden.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Sortierung wechseln.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6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07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Produktdetail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Bilder, Beschreibung, Preis, Liefer-/Teilnahmeinformationen und Anbieter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Herz-/Wunschlisten-Schaltfläche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„Wunschliste“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Produkt aus der Wunschliste entfernen.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8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09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Filter, Produktdetails, Wunschliste und Anbieterprofil bleiben konsistent. Ein Gast kann ansehen, für Kauf oder Wunschliste wird gegebenenfalls Login verlangt.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0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11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2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102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14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UC-41: Marketplace durchsuchen, Wunschliste und Anbieterprofil prüfen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5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11–17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6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11–17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7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18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Anbieterprofil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Anbieterbeschreibung und weitere Angebote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Menü &gt; „Marketplace“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Produkt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Produkt speichern oder zur Wunschliste hinzufügen, falls sichtbar.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9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20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Anbieterprofil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Zur Produktliste zurückkehren.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1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2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Filter, Produktdetails, Wunschliste und Anbieterprofil bleiben konsistent. Ein Gast kann ansehen, für Kauf oder Wunschliste wird gegebenenfalls Login verlangt.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3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24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5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103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27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UC-42: Marketplace-Kauf, Gast-Checkout, Überweisung und Bestellstatus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8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9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30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Käufer führt einen Testkauf durch, prüft Erfolg, Abbruch, Überweisung und den öffentlichen Bestellstatus.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1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32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3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4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35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Testprodukt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„Kaufen“ oder „Checkout“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Käuferdaten und Test-Liefer-/Kontaktadresse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Preis, Steuer, Versand und Gesamtbetrag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Testzahlung auswählen oder Überweisung starten.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6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37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Kauf bestätigen.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Erfolgsseite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Bestellnummer notieren.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Überweisungsseite öffnen, falls diese Zahlungsart gewählt wurde.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Bankdaten und Verwendungszweck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8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39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Erfolg, Abbruch, Überweisung, Status und Rückgabe unterscheiden sich korrekt. Es wird kein doppelter Auftrag erzeugt.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0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41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2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104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44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UC-42: Marketplace-Kauf, Gast-Checkout, Überweisung und Bestellstatus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5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11–18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6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11–18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7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48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Bestellstatus über den erhaltenen Link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Status „offen“, „bezahlt“ oder „in Bearbeitung“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Einen zweiten Testcheckout starten.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Checkout abbrechen.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Prüfen, dass der abgebrochene Auftrag nicht als bezahlt erscheint.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9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50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Als Gast den Retouren-/Rückgabeweg öffnen, wenn das Produkt ihn anbietet.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Rückgabegrund als Testwert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Rückgabe 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1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5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Erfolg, Abbruch, Überweisung, Status und Rückgabe unterscheiden sich korrekt. Es wird kein doppelter Auftrag erzeugt.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3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54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5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105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57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UC-43: Marketplace-Verkäufer bewirbt sich und reicht ein Produkt ein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8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9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60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Anbieter beantragt Verkäuferzugang, reicht ein Produkt ein und verfolgt den Prüfstatus.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1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62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Konto mit Anbieterfunktion oder Testkonto. 2. Testproduktdaten und Testbilder.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3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4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65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„Marketplace“ oder „Commerce“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„Verkäufer werden“ oder Verkäuferbereich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Anbietername, Beschreibung, Kontakt und Auszahlungsdaten als Testdaten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Verkäuferantrag absenden.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Status „In Prüfung“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6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67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Als Admin „Admin“ &gt; „Commerce“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Verkäuferantrag suchen.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Antrag öffnen und Status ändern.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Als Anbieter aktualisieren.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„Eigenes Produkt einreichen“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8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69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Antrag und Produktstatus sind getrennt nachvollziehbar. Entwürfe sind nicht öffentlich, solange keine Freigabe erfolgt.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0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71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2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106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74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UC-43: Marketplace-Verkäufer bewirbt sich und reicht ein Produkt ein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5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11–16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6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11–16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7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78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Titel, Kategorie, Beschreibung, Preis, Steuer, Bestand und Versand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Produktbilder und Testdokumente hochladen.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Produkt als Entwurf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Produkt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Zur Prüfung einreichen.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9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80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Admin-Ansicht aktualisieren und Produktstatus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1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8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Antrag und Produktstatus sind getrennt nachvollziehbar. Entwürfe sind nicht öffentlich, solange keine Freigabe erfolgt.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3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84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5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107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87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UC-44: Admin-Commerce verwaltet Produkt, Bestand, Steuer, Versand und Coupon · Teil 1/3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8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9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90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Admin konfiguriert Marketplace-Betrieb und überprüft die Auswirkungen im Checkout.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1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92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3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4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95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Als Plattform-Admin „Admin“ &gt; „Commerce“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Marketplace-Visuals prüfen und Teständerung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Marketplace-Provisionen prüfen und Testwert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„Produkt anlegen“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Titel, Typ, Preis und Status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6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97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Bestand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Produkt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Bestand erhöhen.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Bestand verringern.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Produkt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8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99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Bestand, Versand, Steuer, Coupon, Provision und Visuals wirken nachvollziehbar im öffentlichen Kaufprozess. Deaktivierte Produkte können nicht neu gekauft werden.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0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01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2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108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04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UC-44: Admin-Commerce verwaltet Produkt, Bestand, Steuer, Versand und Coupon · Teil 2/3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5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6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7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08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Produkt deaktivieren oder löschen, wenn es ein Testprodukt ist.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Versandrate anlegen.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Versandrate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Steuerrate anlegen.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Steuerrate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9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10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Coupon anlegen.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Couponwert, Gültigkeit und Bedingungen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Coupon speichern und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Commerce-Einstellungen öffnen und Testeinstellung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CSV-Export öffnen und Download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1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1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Bestand, Versand, Steuer, Coupon, Provision und Visuals wirken nachvollziehbar im öffentlichen Kaufprozess. Deaktivierte Produkte können nicht neu gekauft werden.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3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14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5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109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17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UC-44: Admin-Commerce verwaltet Produkt, Bestand, Steuer, Versand und Coupon · Teil 3/3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8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21–22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9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21–22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0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21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21. Öffentlichen Checkout mit Testprodukt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22. Versand, Steuer und Coupon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2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Bestand, Versand, Steuer, Coupon, Provision und Visuals wirken nachvollziehbar im öffentlichen Kaufprozess. Deaktivierte Produkte können nicht neu gekauft werden.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4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25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6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110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28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UC-45: Admin-Commerce bearbeitet Bestellung, Rückgabe und Auszahlung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9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0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31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Eine Bestellung wird verwaltet, bezahlt, versendet, bei Problemen bearbeitet, erstattet und als Auszahlung vorbereitet.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2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33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Testbestellung aus UC-42 existiert. 2. Keine echten Zahlungen oder Auszahlungen verwenden.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4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5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36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Admin &gt; „Commerce“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Bestellung suchen.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Bestellansicht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Rechnung herunterladen.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Gutschrift-Testdokument öffnen, falls eine Gutschrift vorliegt.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7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38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Überweisung als bezahlt markieren, falls zutreffend.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Versandstatus und Tracking-Testwert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Bestellung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Eine Testproblemmeldung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Issue-Status ändern.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9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40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Bestellung, Versand, Problem, Rückgabe, Erstattung und Auszahlung besitzen getrennte nachvollziehbare Status. Dokumente laden mit der richtigen Bestellnummer.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1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42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3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111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45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UC-45: Admin-Commerce bearbeitet Bestellung, Rückgabe und Auszahlung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6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11–19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7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11–19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8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4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Antwort an den Käufer schreiben.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Rückgabeantrag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Rückgabestatus ändern.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Erstattung nur als Testaktion ausführen.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Auszahlungsempfänger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0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51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Payout-Profil als Testprofil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Auszahlung anlegen.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Auszahlung als bezahlt markieren.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Admin-Commerce erneut laden und Audit-/Statuswerte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5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Bestellung, Versand, Problem, Rückgabe, Erstattung und Auszahlung besitzen getrennte nachvollziehbare Status. Dokumente laden mit der richtigen Bestellnummer.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4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55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6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112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58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UC-46: Kursteilnehmer absolviert Kurs mit Lektion, Notiz, Quiz, Aufgabe und Bewertung · Teil 1/3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9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0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61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Lernender nimmt an einem Kurs teil und nutzt alle Teilnehmerfunktionen.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2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63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Öffentlicher oder geschützter Testkurs existiert. 2. Kurs enthält Lektion, Quiz und Aufgabe.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4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5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66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„Meine Kurse“ oder „Kurse“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Testkurs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Kursdetails, Preis und Voraussetzungen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„Einschreiben“ oder „Kurs starten“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Lektion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7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68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Fortschritt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Lektion als abgeschlossen markieren.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Notiz zur Lektion schreiben.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Lernkommentar schreiben.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Quiz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9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70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Einschreibung, Fortschritt, Notizen, Kommentare, Quiz, Aufgabe, Bewertung und Zertifikat werden am Kurs gespeichert und dem richtigen Lernenden zugeordnet.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1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72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3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113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75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UC-46: Kursteilnehmer absolviert Kurs mit Lektion, Notiz, Quiz, Aufgabe und Bewertung · Teil 2/3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6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7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8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7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Antworten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Quiz absenden.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Ergebnis und Wiederholungsstatus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Aufgabe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Testantwort oder Testdatei einreichen.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0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81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Abgabe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Eine Bewertung mit Teststernen und Testtext abgeben.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Kursübersicht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Fortschrittsanzeige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Zertifikat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8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Einschreibung, Fortschritt, Notizen, Kommentare, Quiz, Aufgabe, Bewertung und Zertifikat werden am Kurs gespeichert und dem richtigen Lernenden zugeordnet.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4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85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6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114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88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UC-46: Kursteilnehmer absolviert Kurs mit Lektion, Notiz, Quiz, Aufgabe und Bewertung · Teil 3/3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9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21–22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0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21–22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1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92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21. Zertifikat herunterladen.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22. Öffentliche Zertifikatsprüfung mit Code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9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Einschreibung, Fortschritt, Notizen, Kommentare, Quiz, Aufgabe, Bewertung und Zertifikat werden am Kurs gespeichert und dem richtigen Lernenden zugeordnet.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5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96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115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99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UC-47: Trainer oder Redaktion erstellt Kurs im Lernstudio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0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1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02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berechtigter Nutzer baut einen Kurs mit Abschnitten, Lektionen, Medien und Reihenfolge auf.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3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04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Berechtigung für „Sportschule“, „Lernstudio“ oder Content-Management. 2. Testbilder, Testvideo oder Test-PDF.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5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6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07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„Sportschule“ oder „Lernstudio“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„Kurs erstellen“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Titel, Beschreibung, Zielgruppe und Status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Kurs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Abschnitt hinzufügen.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8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09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Abschnittstitel und Beschreibung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Lektion hinzufügen.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Lektionstyp, Titel und Inhalt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Testasset hochladen.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Lektion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0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11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Kurs, Abschnitt, Lektion, Asset und Reihenfolge werden korrekt gespeichert. Entwurf bleibt nicht öffentlich.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2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13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4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116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16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UC-47: Trainer oder Redaktion erstellt Kurs im Lernstudio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7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11–19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8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11–19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20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Zweite Lektion hinzufügen.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Lektionen per Drag-and-drop oder „Reihenfolge“ umsortieren.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Eine Lektion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Eine Testlektion löschen.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Kursvorschau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1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22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Kursstatus als Entwurf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Testeinschreibung vergeben.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Einschreibung wieder entziehen.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Kursreport als CSV herunterladen.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2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Kurs, Abschnitt, Lektion, Asset und Reihenfolge werden korrekt gespeichert. Entwurf bleibt nicht öffentlich.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5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26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117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29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UC-48: Lernstudio verwaltet Quiz, Aufgaben, Kommentare und Coupon · Teil 1/3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0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1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32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Kursautor erstellt Bewertungs- und Kommunikationsfunktionen sowie einen Kurscoupon.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3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34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5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6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37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Testkurs im Lernstudio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Quiz hinzufügen.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Frage und Antwortoptionen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Richtige Antwort und Punkte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Quizvorschau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8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39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Testquiz als Teilnehmer absolvieren.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Aufgabe hinzufügen.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Aufgabe, Abgabefrist und Bewertungslogik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Testeinreichung als Teilnehmer 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Im Lernstudio Aufgabe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0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41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Quiz, Aufgaben, Bewertung, Kommentare und Coupons sind sichtbar, korrekt verknüpft und nur für berechtigte Personen bearbeitbar.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2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43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4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118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46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UC-48: Lernstudio verwaltet Quiz, Aufgaben, Kommentare und Coupon · Teil 2/3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7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8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50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Abgabe bewerten.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Punktzahl und Feedback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Teilnehmerkommentar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Kommentar beantworten.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Kommentar als erledigt markieren.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1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52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Kurscoupon erstellen.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Code, Rabatt und Gültigkeit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Coupon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Coupon im Checkout testen.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Kursqualität oder Review-Status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5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Quiz, Aufgaben, Bewertung, Kommentare und Coupons sind sichtbar, korrekt verknüpft und nur für berechtigte Personen bearbeitbar.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5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56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119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59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UC-48: Lernstudio verwaltet Quiz, Aufgaben, Kommentare und Coupon · Teil 3/3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0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21–21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1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21–21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2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63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21. Admin-Qualitätsstatus ändern, falls die Berechtigung vorhanden ist.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65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Quiz, Aufgaben, Bewertung, Kommentare und Coupons sind sichtbar, korrekt verknüpft und nur für berechtigte Personen bearbeitbar.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6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67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8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120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70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UC-49: Verein veröffentlicht Ankündigung, Umfrage und Vereinsdokument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1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2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73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Verein informiert Mitglieder, lässt abstimmen und stellt Richtlinien-/Zustimmungsdokumente bereit.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4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75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6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7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78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Vereins-Cockpit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„Kommunikation“ oder „Ankündigungen“ öffnen, falls sichtbar.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Testankündigung erstellen.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Zielgruppe Verein oder Team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Titel, Text und optional Testbild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9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80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Ankündigung veröffentlichen.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„Umfrage“ oder „Survey“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Frage und Antwortoptionen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Ablaufdatum als Testdatum setzen.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Umfrage veröffentlichen.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1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82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Ankündigung, Umfrage, Dokument und Zustimmung erreichen nur die ausgewählte Zielgruppe. Stimmen und Zustimmungen werden versioniert oder nachvollziehbar angezeigt, wenn dies die Funktion vorsieht.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3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84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5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121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87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UC-49: Verein veröffentlicht Ankündigung, Umfrage und Vereinsdokument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8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11–19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9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11–19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0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91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Sportlerkonto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Ankündigung lesen.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Umfrage beantworten.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Ergebnis oder eigene Stimme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Vereinsverwaltung &gt; „Dokumente/Policy“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2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93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Testrichtlinie hochladen.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Dokument als sichtbar oder erforderlich markieren.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Mitgliedskonto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Dokument öffnen und Zustimmung abgeben, falls erforderlich.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95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Ankündigung, Umfrage, Dokument und Zustimmung erreichen nur die ausgewählte Zielgruppe. Stimmen und Zustimmungen werden versioniert oder nachvollziehbar angezeigt, wenn dies die Funktion vorsieht.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6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97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8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122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00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UC-50: Team verwaltet Anwesenheit, Verfügbarkeit und Straf-/Gebührenregeln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1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2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03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Trainer oder Teammanager prüfen Anwesenheit, Abwesenheit und Testgebühren eines Teams.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4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05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6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7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08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Trainerkonto &gt; „Teams“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Testteam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Anwesenheitsstatistik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Zeitraum oder Event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Anwesenheitswerte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9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10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„Verfügbarkeit/Abwesenheit“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Testabwesenheit für einen Sportler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Zeitraum und Grund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Teamregeln oder „Strafen“ öffnen, falls die Funktion angezeigt wird.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1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12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Statistik, Abwesenheit, Regel, Gebühr, Bezahlt- und Storniertstatus werden getrennt und richtig dargestellt.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3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14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5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123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17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UC-50: Team verwaltet Anwesenheit, Verfügbarkeit und Straf-/Gebührenregeln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8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11–17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9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11–17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0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21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Testregel anlegen.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Regeltyp, Betrag und Auslöser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Regel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Testgebühr für ein Mitglied anlegen.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Gebühr als bezahlt markieren.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2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23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Zweite Gebühr stornieren.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Teamübersicht aktualisieren.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25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Statistik, Abwesenheit, Regel, Gebühr, Bezahlt- und Storniertstatus werden getrennt und richtig dargestellt.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6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27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8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124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30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UC-51: Eventchat und Fahrgemeinschaft vollständig testen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1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2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33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Teilnehmer kommunizieren im Eventchat und organisieren eine Fahrt.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4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35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6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7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38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Testevent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„Eventchat“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Testfrage schreiben.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Trainer antwortet.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Nachricht als gelesen und optional Reaktion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9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40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„Fahrgemeinschaften“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„Fahrt anbieten“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Start, Ziel, Zeit, Plätze und Treffpunkt als Testdaten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Fahrt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Sportlerkonto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1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42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Eventchat, Fahranfrage, Annahme, Teilnehmerliste, Verlassen und Löschen funktionieren nachvollziehbar.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3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44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5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125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47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UC-51: Eventchat und Fahrgemeinschaft vollständig testen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8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11–17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9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11–17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0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51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Fahrt suchen.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„Mitfahren“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Fahrer/Teammanager öffnet Anfrage.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Anfrage annehmen.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Teilnehmerliste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2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53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Mitglied entfernen oder Fahrt verlassen.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Fahrt bearbeiten oder löschen.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55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Eventchat, Fahranfrage, Annahme, Teilnehmerliste, Verlassen und Löschen funktionieren nachvollziehbar.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6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57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8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126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60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UC-52: Sport-App-Integration synchronisiert und importiert Aktivität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1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2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63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Sportler verbindet einen Testprovider, synchronisiert Aktivitäten, importiert eine Aktivität und trennt die Verbindung.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4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65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6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7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68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„Einstellungen“ &gt; „Sport-Apps &amp; Gesundheitsdaten“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Verfügbare Provider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Einen Testprovider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„Verbinden“ oder „Anfrage senden“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Providerfreigabe mit Testkonto durchführen.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9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70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Zurück zu Airmius wechseln.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Verbundenes Konto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„Synchronisieren“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Synchronisationsstatus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Eine Testaktivität importieren.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1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72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Verbindung, Synchronisation, Import, Bearbeitung, Löschung und Trennung sind nachvollziehbar. Fehlende Provider zeigen keinen unklaren Erfolg an.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3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74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5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127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77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UC-52: Sport-App-Integration synchronisiert und importiert Aktivität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8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11–16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9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11–16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0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81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„Aktivitäten“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Titel, Typ, Dauer, Distanz und Kalorien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Aktivität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Aktivität löschen.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Integration trennen.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2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83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Prüfen, dass Konto und Importstatus entfernt oder inaktiv angezeigt werden.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85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Verbindung, Synchronisation, Import, Bearbeitung, Löschung und Trennung sind nachvollziehbar. Fehlende Provider zeigen keinen unklaren Erfolg an.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6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87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8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128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90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UC-53: Sportkarte verwaltet Orte, Routen und Tracks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1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2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93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Sportler speichert Sportorte, bearbeitet Routen und verwaltet Tracks vollständig.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4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95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6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7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98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„Sportkarte“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Testort auf der Karte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„Ort speichern“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Titel, Kategorie und Beschreibung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Ort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9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00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Ort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Ort löschen.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„Route planen“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Punkte setzen.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Routen-Generator/Vorschlag öffnen, falls sichtbar.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1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02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Ort, Route und Track werden nicht verwechselt. Bearbeiten und Löschen betreffen nur das ausgewählte Testobjekt.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3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04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5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129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07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UC-53: Sportkarte verwaltet Orte, Routen und Tracks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8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11–18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9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11–18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0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11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Route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Route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Route löschen.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„Tracks“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Trackpunkte setzen oder importieren.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2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13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Track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Track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Track löschen.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15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Ort, Route und Track werden nicht verwechselt. Bearbeiten und Löschen betreffen nur das ausgewählte Testobjekt.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6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17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8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130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20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UC-54: Persönliches Abo, Checkout, Rechnung und Kündigung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1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2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23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Sportler oder Verein wählt einen Plan, startet Checkout, prüft Rechnung und kündigt oder verlängert das Test-Abo.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4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25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6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7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28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Öffentliche Seite „Preise/Abos“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Zielgruppe Sportler oder Verein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Planvergleich und Feature-Limits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Testplan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Checkout starten.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9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30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Test-Zahlungsart wählen: Testzahlung oder Überweisung.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Rechnungsdaten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Checkout bestätigen.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Erfolgs- oder Überweisungsseite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„Abos &amp; Rechnungen“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1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32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Plan, Checkout, Rechnung, Status, Providerportal, Kündigung und Verlängerung haben konsistente Zustände. Eine abgebrochene Zahlung aktiviert kein Abo.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3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34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5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131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37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UC-54: Persönliches Abo, Checkout, Rechnung und Kündigung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8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11–17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9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11–17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0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41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Aktiven Plan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Abo-Rechnung öffnen und herunterladen.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Provider-Portal öffnen, falls vorhanden.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Abo kündigen oder zum Periodenende beenden.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Status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2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43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Abo als Admin oder über Testdaten erneuern.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Offene Testzahlung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45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Plan, Checkout, Rechnung, Status, Providerportal, Kündigung und Verlängerung haben konsistente Zustände. Eine abgebrochene Zahlung aktiviert kein Abo.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6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47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8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132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50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UC-55: Admin verwaltet Abo-Pläne und Abo-Rechnungen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1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2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53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Plattform-Admin pflegt Pläne, weist sie Nutzern/Vereinen zu und bearbeitet Rechnungsstatus.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4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55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6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7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58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Admin &gt; „Abos“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Plan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Zielgruppe, Preis, Limits, Badge, CTA und Sichtbarkeit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Einen Testwert ändern und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Verein einem Plan zuweisen.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9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60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Testnutzer einem Plan zuweisen.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Vereinsabo zum Periodenende kündigen.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Vereinsabo manuell verlängern.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Nutzerabo kündigen.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Nutzerabo verlängern.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1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62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Planzuweisung und Rechnung verändern nur das ausgewählte Konto. Planlimits wirken im jeweiligen Nutzer-/Vereinsbereich.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3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64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5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133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67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UC-55: Admin verwaltet Abo-Pläne und Abo-Rechnungen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8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11–15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9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11–15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0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71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„Abo-Rechnungen“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Rechnung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Rechnung herunterladen.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Überweisung als bezahlt markieren.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Status und Aktivierung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7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Planzuweisung und Rechnung verändern nur das ausgewählte Konto. Planlimits wirken im jeweiligen Nutzer-/Vereinsbereich.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4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75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6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134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78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UC-56: Admin verwaltet Outfit-Pläne, Lieferungen und Zahlungsstatus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9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0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81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Admin verwaltet Outfit-Pläne und bearbeitet Lieferung, Probleme und Zahlungen.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2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83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4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5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86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Admin &gt; „Outfit-Abos“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Outfit-Plan erstellen.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Name, Preis, Beschreibung und Sichtbarkeit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Plan speichern und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Plan löschen oder deaktivieren.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7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88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Outfit-Visuals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Testkunde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Zahlungsstatus auf bezahlt setzen.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Zahlungsstatus auf offen/nicht bezahlt setzen.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Zahlungserinnerung 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9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90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Plan-, Abonnement-, Zahlungs-, Liefer- und Problemstatus bleiben getrennt nachvollziehbar.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1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92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3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135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95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UC-56: Admin verwaltet Outfit-Pläne, Lieferungen und Zahlungsstatus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6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11–17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7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11–17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8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9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Lieferadresse als Testadresse ändern.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Lieferung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Status „Versendet“ setzen.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Status „Geliefert“ setzen.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Testproblem erfassen.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0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01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Problem aktualisieren.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Lieferung löschen, sofern es ein Testobjekt ist.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0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Plan-, Abonnement-, Zahlungs-, Liefer- und Problemstatus bleiben getrennt nachvollziehbar.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4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05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6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136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08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UC-57: Sponsorprofil, Kampagne und Werbeagentur-Anfrage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9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0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11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Sponsor pflegt sein Profil, erstellt eine Kampagne und ein Verein stellt eine Website-/Werbeagentur-Anfrage.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2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13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4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5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16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Sponsor-Cockpit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Sponsorprofil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Name, Logo, Beschreibung und Kontakt mit Testdaten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„Kampagnen &amp; Angebote“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Testkampagne anlegen.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7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18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Ziel-URL, Zielgruppe, Budget und Laufzeit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Kampagne als Entwurf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Kampagne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Öffentliche Sponsorenseite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Sichtbarkeit und Paket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9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20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Sponsorprofil und Kampagne erscheinen erst nach vorgesehenem Status öffentlich. Website-Anfrage hat einen nachvollziehbaren Bearbeitungsstatus.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1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22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3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137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25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UC-57: Sponsorprofil, Kampagne und Werbeagentur-Anfrage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6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11–16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7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11–16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8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2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„Werbeagentur für Vereine“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Vereinsdaten und Kontakt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Website-/Werbeanfrage absenden.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Admin &gt; Commerce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Website-Anfrage suchen.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0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31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Status ändern und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3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Sponsorprofil und Kampagne erscheinen erst nach vorgesehenem Status öffentlich. Website-Anfrage hat einen nachvollziehbaren Bearbeitungsstatus.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4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35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6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138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38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UC-58: Admin verwaltet Moderation, Meldung und Einspruch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9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0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41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Eine Meldung wird erstellt, geprüft, entschieden und ein möglicher Einspruch bearbeitet.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2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43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4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5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46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Sportler erstellt eine Testmeldung zu Beitrag, Profil, Kommentar oder Freund.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Admin &gt; „Moderation“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Meldung suchen.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Inhalt und Meldegrund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Meldungsstatus ändern.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7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48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Maßnahme oder Entscheidung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Bei Testmeldung einen Einspruch erzeugen, falls der Flow dies vorsieht.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Einspruch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Einspruch annehmen oder ablehnen.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9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50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Meldungen, Flags, Entscheidungen und Einsprüche bleiben getrennt nachvollziehbar. Normale Nutzer können keine Moderationsentscheidung ändern.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1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52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3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139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55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UC-58: Admin verwaltet Moderation, Meldung und Einspruch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6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11–12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7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11–12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8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5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Moderationslog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Prüfen, dass Zeit, Fall und Entscheidung protokolliert sind.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0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61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Meldungen, Flags, Entscheidungen und Einsprüche bleiben getrennt nachvollziehbar. Normale Nutzer können keine Moderationsentscheidung ändern.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2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63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4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140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66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UC-59: Admin verwaltet Nutzer, Rollen, Sportarten und Badges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7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8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69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Admin legt einen Testnutzer, eine Testrolle, eine Sportart und ein Badge an und prüft deren Zugriff.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0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71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2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3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74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Admin &gt; „Users/Nutzer“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„Nutzer erstellen“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Testname, Test-E-Mail und Status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Nutzer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Nutzer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5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76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Rolle zuweisen.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Admin &gt; „Rollen &amp; Rechte“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Testrolle oder Testberechtigung anzeigen/erstellen.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Berechtigung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Als Testnutzer anmelden.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7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78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Rolle, Berechtigung, Sportart und Badge wirken nur dort, wo sie vorgesehen sind. Konto ohne Berechtigung erhält keinen Zugriff.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9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80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1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141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83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UC-59: Admin verwaltet Nutzer, Rollen, Sportarten und Badges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4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11–19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5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11–19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6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87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Sichtbare Menüs und gesperrte Aktionen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Admin &gt; „Sportarten“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Test-Sportart oder Disziplin anlegen.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Sportart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Sportlerprofil öffnen und Sportart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8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89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Admin &gt; „Badges“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Testbadge anlegen.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Badge bearbeiten und Fortschrittsregel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Testbadge löschen oder deaktivieren.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0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91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Rolle, Berechtigung, Sportart und Badge wirken nur dort, wo sie vorgesehen sind. Konto ohne Berechtigung erhält keinen Zugriff.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2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93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4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142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96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UC-60: Admin verwaltet Gamification und Badges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7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8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99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XP-Regeln, Badge-Regeln und Fortschritt werden angezeigt und als Testwerte geändert.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0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01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2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3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04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Admin &gt; „Gamification“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Regelübersicht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Testregel oder vorhandene Testregel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Kategorie, Auslöser, XP und Tageslimit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Regel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5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06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Mit einem Testkonto die Aktion ausführen, die XP auslöst.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„Meine Badges“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XP- und Badge-Fortschritt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Admin &gt; „Badges“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Testbadge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7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08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XP und Badges werden nicht mehrfach unzulässig vergeben. Regeländerung und Status sind nachvollziehbar.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9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10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1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143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13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UC-60: Admin verwaltet Gamification und Badges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4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11–11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5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11–11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6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17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Testregel zurücksetzen oder Testbadge deaktivieren.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8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19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XP und Badges werden nicht mehrfach unzulässig vergeben. Regeländerung und Status sind nachvollziehbar.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0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21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2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144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24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UC-61: Admin verwaltet Rechnungen, Zahlungen und Betriebskosten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5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6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27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Plattform-Admin kontrolliert interne Rechnungen, Zahlungen und laufende Betriebskosten.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8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29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0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1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32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Admin &gt; „Invoices“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Testrechnung erstellen.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Rechnung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Status auf offen, bezahlt, überfällig oder storniert setzen.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Rechnung löschen, nur wenn Testobjekt.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3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34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Admin &gt; „Payments“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Testzahlung erfassen.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Zahlung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Zahlung löschen, nur wenn Testobjekt.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Admin &gt; „Betriebskosten“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5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36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Rechnungen, Zahlungen, Verträge und Providerkosten sind getrennt erfasst und nur für berechtigte Admins sichtbar.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7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38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9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145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41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UC-61: Admin verwaltet Rechnungen, Zahlungen und Betriebskosten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2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11–16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3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11–16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4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45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Testvertrag anlegen.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Kosten, Anbieter, Zeitraum und Status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Vertrag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Vertrag löschen, nur wenn Testobjekt.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Provider-Kosten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6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47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Kostenübersicht und Zeitraum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8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49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Rechnungen, Zahlungen, Verträge und Providerkosten sind getrennt erfasst und nur für berechtigte Admins sichtbar.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0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51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2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146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54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UC-62: Admin verwaltet Mail-Zentrale und Zustellstatus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5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6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57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Admin prüft Mailpräferenzen, Absender, Testversand, fehlgeschlagene Zustellungen und erneuten Versand.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8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59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0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1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62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Admin &gt; „Mail-Zentrale“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Mailpräferenzen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Testsender-Kategorie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Test-Absender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„Test senden“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3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64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Testpostfach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Mailzustellung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Status erfolgreich/fehlgeschlagen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Fehlgeschlagene Testmail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„Erneut senden“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5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66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Mailstatus und Retry bleiben nachvollziehbar. Fehler werden nicht als erfolgreich angezeigt.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7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68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9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147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71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UC-62: Admin verwaltet Mail-Zentrale und Zustellstatus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2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11–12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3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11–12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4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75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Lieferung als erledigt markieren.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Versand- und Fehlerdetails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6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77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Mailstatus und Retry bleiben nachvollziehbar. Fehler werden nicht als erfolgreich angezeigt.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8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79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0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148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82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UC-63: Datenschutz, Export, Korrektur, Einwilligungen und Konto löschen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3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4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85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Nutzer kann seine Datenschutzrechte und sichere Kontolöschung ausführen.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6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87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8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9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90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„Einstellungen“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Datenschutzbereich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Datenexport anfordern.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Export herunterladen oder Status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Korrekturanfrage für Testdaten 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1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92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Einwilligungen anzeigen.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Einwilligung widerrufen.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Prüfen, welche Funktion dadurch eingeschränkt wird.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Kontolöschung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Löschcode anfordern.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3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94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Export, Korrektur, Widerruf und Löschung verlangen die richtigen Sicherheitsbestätigungen. Keine fremden Daten werden angezeigt.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5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96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149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99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UC-63: Datenschutz, Export, Korrektur, Einwilligungen und Konto löschen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0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11–14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1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11–14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2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03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Code aus Test-E-Mail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Löschung bestätigen.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Abmelden.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Erneut anmelden und prüfen, dass das Konto gelöscht, anonymisiert oder gesperrt ist, wie es die Umgebung vorsieht.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05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Export, Korrektur, Widerruf und Löschung verlangen die richtigen Sicherheitsbestätigungen. Keine fremden Daten werden angezeigt.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6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07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8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150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10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UC-64: Mobile App prüft Push, Deep Link, Sync und Offline-Status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1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2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13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Die mobile App synchronisiert Rollen-/Featuredaten, registriert Push, öffnet Deep Links und zeigt Offline-Zustände verständlich.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4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15" name=""/>
          <p:cNvSpPr/>
          <p:nvPr/>
        </p:nvSpPr>
        <p:spPr>
          <a:xfrm>
            <a:off x="6012000" y="720000"/>
            <a:ext cx="5435280" cy="72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Android-Testgerät oder iOS-Testgerät. 2. Push-Berechtigung darf für den Test erteilt werden. 3. Für lokale API keine localhost-Adresse auf einem echten Handy verwenden.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6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7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18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App installieren oder aktualisieren.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App öffnen und Berechtigungs-Onboarding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Benachrichtigungen erlauben.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Standort, Kamera und Dateien nur bei Bedarf erlauben.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Anmelden.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9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20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Rolle und freigeschaltete Module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Push-Gerät registrieren lassen.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Mit dem zweiten Konto eine Testnachricht oder Einladung erzeugen.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Push antippen.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Prüfen, ob die App direkt das richtige Ziel öffnet.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1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22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Push und Deep Link führen zum richtigen Objekt. Offline-/Fehlerzustände sind verständlich und eine Wiederherstellung erzeugt keine doppelten Aktionen.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3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24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5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151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27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UC-64: Mobile App prüft Push, Deep Link, Sync und Offline-Status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8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11–19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9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11–19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0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31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App schließen und erneut über den Deep Link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App-Sync ausführen oder App neu starten.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Datenstand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Netzwerk trennen.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Eine unterstützte Offline-Aktion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2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33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Netzwerk wiederherstellen.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Synchronisation und mögliche Warteschlange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Abmelden.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Prüfen, dass private Daten nach dem Logout nicht im falschen Konto sichtbar sind.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35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Push und Deep Link führen zum richtigen Objekt. Offline-/Fehlerzustände sind verständlich und eine Wiederherstellung erzeugt keine doppelten Aktionen.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6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37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8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152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40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UC-65: Mobile Navigation und Web-Parität prüfen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1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2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43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Die wichtigsten Funktionen sind in Web und App erreichbar und die rollenabhängigen Menüs stimmen.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4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45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6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7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48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Sportler-Web und Sportler-App gleichzeitig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Startseite vergleichen.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Feed in Web und App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Vereine &amp; Teams in Web und App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Training in Web und App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9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50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Ernährung in Web und App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Profil und Einstellungen in Web und App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Trainer-Web und Trainer-App gleichzeitig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Trainer-Cockpit, Teams, Training, Events, Dateien und Nachrichten vergleichen.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Verein-Web und Vereins-App gleichzeitig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1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52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Web und App verwenden dieselben Daten und zeigen entsprechend der Rolle die richtigen Module. Unterschiede sind dokumentiert und begründet.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3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54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5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153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57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UC-65: Mobile Navigation und Web-Parität prüfen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8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11–14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9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11–14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0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61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Vereins-Cockpit, Teams, Events, Dateien, Mitglieder und Finanzen vergleichen.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Admin-Web und Admin-App vergleichen, sofern die Module freigegeben sind.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Fehlende Funktion notieren und prüfen, ob sie nur Web-only oder App-only vorgesehen ist.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Falsche Rollenfreigabe als Sicherheitsfehler markieren.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6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Web und App verwenden dieselben Daten und zeigen entsprechend der Rolle die richtigen Module. Unterschiede sind dokumentiert und begründet.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4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65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6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154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7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68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UC-66: Alternative Anmeldung, E-Mail-Code und Zwei-Faktor-Sicherheit · Teil 1/3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9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0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71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Alle vorgesehenen Anmeldewege funktionieren und ein Konto bleibt auch bei falschem oder fehlendem Sicherheitscode geschützt.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2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73" name=""/>
          <p:cNvSpPr/>
          <p:nvPr/>
        </p:nvSpPr>
        <p:spPr>
          <a:xfrm>
            <a:off x="6012000" y="720000"/>
            <a:ext cx="5435280" cy="72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Ein Testkonto mit bestätigter E-Mail-Adresse verwenden. 2. Zugriff auf das Testpostfach und auf die hinterlegte Authenticator-App oder Test-2FA-Konfiguration sicherstellen. 3. Google-/Microsoft-Testkonto nur verwende…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4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5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76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Abmelden und die Login-Seite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„Mit Google anmelden“ oder „Mit Microsoft anmelden“ anklicken, sofern der Button angezeigt wird.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Das Testkonto des Providers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Die Einwilligung prüfen und den Rücksprung zu Airmius abwarten.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Prüfen, dass kein zweites Airmius-Konto versehentlich angelegt wird.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7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78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Abmelden und erneut mit E-Mail und Passwort anmelden.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2FA in „Profil“ &gt; „Einstellungen“ &gt; „Sicherheit“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Zwei-Faktor-Authentifizierung aktivieren.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QR-Code oder Einrichtungsschlüssel mit der Test-Authenticator-App hinterlegen.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Den Bestätigungscode eingeben und Recovery-Codes sicher als Testnachweis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9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80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Provider-Login, E-Mail-Login, 2FA, Fehlerfall und Recovery-Codes verhalten sich sicher und konsistent. Sensible Codes werden nicht im Klartext angezeigt oder in Fehlermeldungen protokolliert.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1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82" name=""/>
          <p:cNvSpPr/>
          <p:nvPr/>
        </p:nvSpPr>
        <p:spPr>
          <a:xfrm>
            <a:off x="7992000" y="4212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Provider: ________. 2FA: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3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155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85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UC-66: Alternative Anmeldung, E-Mail-Code und Zwei-Faktor-Sicherheit · Teil 2/3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6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7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8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8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Abmelden und erneut anmelden.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Einen falschen 2FA-Code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Prüfen, dass eine verständliche Fehlermeldung erscheint und kein Login erfolgt.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Den richtigen Code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Einen Recovery-Code einmal verwenden.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0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91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Prüfen, dass ein verbrauchter Recovery-Code kein zweites Mal funktioniert.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Einen neuen Satz Recovery-Codes erzeugen, falls die Funktion vorhanden ist.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2FA wieder deaktivieren und die Sicherheitsbestätigung durchführen.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Die App auf dem Handy öffnen und „Anmelden“ oder „Registrieren“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Den alternativen Provider-Button testen, falls er angezeigt wird.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9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Provider-Login, E-Mail-Login, 2FA, Fehlerfall und Recovery-Codes verhalten sich sicher und konsistent. Sensible Codes werden nicht im Klartext angezeigt oder in Fehlermeldungen protokolliert.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4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95" name=""/>
          <p:cNvSpPr/>
          <p:nvPr/>
        </p:nvSpPr>
        <p:spPr>
          <a:xfrm>
            <a:off x="7992000" y="3276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Provider: ________. 2FA: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6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156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98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UC-66: Alternative Anmeldung, E-Mail-Code und Zwei-Faktor-Sicherheit · Teil 3/3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9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21–25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0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21–25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1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02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21. Nach erfolgreicher Rückkehr prüfen, ob der richtige Nutzername und die richtige Rolle geladen werden.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22. Unter „Profil“ &gt; „Einstellungen“ &gt; „Sicherheit“ den 2FA-Status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23. Einrichtung, falschen Code, richtigen Code und Recovery-Code wie im Web testen.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24. Die App vollständig beenden und erneut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25. Prüfen, dass die Sitzung und der Sicherheitsstatus korrekt wiederhergestellt werden.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0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Provider-Login, E-Mail-Login, 2FA, Fehlerfall und Recovery-Codes verhalten sich sicher und konsistent. Sensible Codes werden nicht im Klartext angezeigt oder in Fehlermeldungen protokolliert.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5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06" name=""/>
          <p:cNvSpPr/>
          <p:nvPr/>
        </p:nvSpPr>
        <p:spPr>
          <a:xfrm>
            <a:off x="7992000" y="3276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Provider: ________. 2FA: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157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09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UC-67: Öffentliche Seiten, Jobs, Kontakt, Events und Zertifikatsprüfung · Teil 1/3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0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1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12" name=""/>
          <p:cNvSpPr/>
          <p:nvPr/>
        </p:nvSpPr>
        <p:spPr>
          <a:xfrm>
            <a:off x="360000" y="720000"/>
            <a:ext cx="5435280" cy="72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nicht angemeldeter Besucher kann alle öffentlichen Einstiege öffnen, Informationen lesen, eine Kontaktanfrage senden und ein öffentlich prüfbares Zertifikat kontrollieren.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3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14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5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6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17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Ein privates Browserfenster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Die Startseite ohne Login aufrufen.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„Vereine“ öffnen und nach einem Testverein suchen.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Das öffentliche Vereinsprofil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„Veranstaltungen“ öffnen und Liste, Filter und Detailseite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8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19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„Jobs“ öffnen und eine Stellenbeschreibung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Interesse an der Teststelle anklicken und die vorgesehenen Kontaktdaten ausfüllen.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Absenden und Bestätigung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„Blog“ öffnen und eine Kategorie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Einen Artikel öffnen und RSS-/öffentliche Linkdarstellung prüfen, falls vorhanden.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0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21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Öffentliche Inhalte sind ohne Login erreichbar, geschützte Inhalte bleiben geschützt. Formulare zeigen Validierung und eine eindeutige Erfolgsbestätigung; Zertifikatscodes werden korrekt als gültig oder ungültig angezeigt.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2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23" name=""/>
          <p:cNvSpPr/>
          <p:nvPr/>
        </p:nvSpPr>
        <p:spPr>
          <a:xfrm>
            <a:off x="7992000" y="4212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Öffentliche URL: ____________________.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4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158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5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26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UC-67: Öffentliche Seiten, Jobs, Kontakt, Events und Zertifikatsprüfung · Teil 2/3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7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8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30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„Kurse“ oder „E-Learning“ öffnen und einen öffentlichen Kurs ansehen.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„Marketplace“ öffnen und ein Produktdetail sowie einen Anbieter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„Sponsoren“ oder „Werbeagentur“ öffnen und öffentliche Inhalte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„Kontakt“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Ein Pflichtfeld leer lassen und absenden.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1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32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Prüfen, dass der Fehler am richtigen Feld erscheint.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Die Kontaktanfrage mit Testdaten absenden.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Einen Test-Zertifikatscode in „Zertifikat prüfen“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Einen gültigen und anschließend einen ungültigen Code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Zurück zur öffentlichen Startseite gehen und sicherstellen, dass keine privaten Daten sichtbar sind.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3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Öffentliche Inhalte sind ohne Login erreichbar, geschützte Inhalte bleiben geschützt. Formulare zeigen Validierung und eine eindeutige Erfolgsbestätigung; Zertifikatscodes werden korrekt als gültig oder ungültig angezeigt.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5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36" name=""/>
          <p:cNvSpPr/>
          <p:nvPr/>
        </p:nvSpPr>
        <p:spPr>
          <a:xfrm>
            <a:off x="7992000" y="3276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Öffentliche URL: ____________________.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159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39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UC-67: Öffentliche Seiten, Jobs, Kontakt, Events und Zertifikatsprüfung · Teil 3/3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0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21–27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1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21–27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2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43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21. Die App ohne Login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22. „Blog &amp; Medien“, „Marketplace“, „Kurse“ oder „öffentliche Inhalte“ auswählen, sofern diese Bereiche im Gastmodus angeboten werden.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23. Einen öffentlichen Eintrag öffnen und den Zurückweg testen.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24. „Support kontaktieren“ oder „Kontakt“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25. Pflichtfeld- und Erfolgsfall testen.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4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45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26. Die Zertifikatsprüfung öffnen und gültigen/ungültigen Code testen.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27. Prüfen, dass ein Gast keinen geschützten Vereins-, Chat- oder Mitgliederbereich öffnen kann.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6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47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Öffentliche Inhalte sind ohne Login erreichbar, geschützte Inhalte bleiben geschützt. Formulare zeigen Validierung und eine eindeutige Erfolgsbestätigung; Zertifikatscodes werden korrekt als gültig oder ungültig angezeigt.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8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49" name=""/>
          <p:cNvSpPr/>
          <p:nvPr/>
        </p:nvSpPr>
        <p:spPr>
          <a:xfrm>
            <a:off x="7992000" y="3276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Öffentliche URL: ____________________.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0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160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1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52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UC-68: Nutzerstatus, Profilverbindungen und Empfehlungen verwalten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3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4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55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Nutzer kann seinen Status, Beziehungen zu anderen Profilen und Empfehlungen nachvollziehbar verwalten.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6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57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Zwei Testkonten auf Laptop 1 und Laptop 2 oder auf zwei Handys anmelden. 2. Die Profile der beiden Konten dürfen sich gegenseitig sehen.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8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9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60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Profilmenü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Den Nutzerstatus auf „online“, „offline“, „im Training“ oder „abwesend“ setzen, sofern angeboten.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Speichern und das Profil mit dem zweiten Konto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Prüfen, ob nur die freigegebene Statusinformation erscheint.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Im Profil des zweiten Kontos „Folgen“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1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62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Mit dem ersten Konto die Benachrichtigung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„Folgen“ wieder aufheben und den Unterschied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Das Profil blockieren.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Mit dem zweiten Konto prüfen, dass geschützte Interaktionen und Kontaktaufnahme entsprechend eingeschränkt sind.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Blockierung wieder aufheben.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3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64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Status, Follow, Unfollow, Block, Unblock, Empfehlung und Skill-Bestätigung aktualisieren beide Konten korrekt und respektieren die Privatsphäre.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5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66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161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69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UC-68: Nutzerstatus, Profilverbindungen und Empfehlungen verwalten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0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11–16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1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11–16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2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73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Eine Profil-Empfehlung oder Skill-Empfehlung 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Mit dem zweiten Konto die Empfehlung annehmen.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Eine zweite Empfehlung ablehnen.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Einen Skill bestätigen oder „Endorsement“ ausführen, falls vorhanden.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Die öffentliche Profilansicht, Sichtbarkeit und Aktivitätsstatus vergleichen.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4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75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Prüfen, dass der Nutzer nicht doppelt in Listen oder Empfehlungen erscheint.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6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77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Status, Follow, Unfollow, Block, Unblock, Empfehlung und Skill-Bestätigung aktualisieren beide Konten korrekt und respektieren die Privatsphäre.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8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79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0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162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82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UC-69: Chat vollständig verwalten · Teil 1/3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3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4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85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Nutzer erstellt Einzel- und Gruppenchats, verwaltet Teilnehmer, Lesestatus, Stummschaltung, Reaktionen und Nachrichtenlebenszyklus.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6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87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Drei Testkonten bereithalten: Sportler, Trainer und Verein. 2. Die Konten dürfen miteinander chatten.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8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9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90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„Nachrichten“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„Neue Unterhaltung“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Ein Einzelgespräch mit dem Trainerkonto erstellen.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Eine Testnachricht 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Mit dem Trainerkonto die Nachricht öffnen und als gelesen markieren.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1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92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Mit dem Sportlerkonto den Lesestatus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Auf die Nachricht reagieren.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Eine weitere Nachricht verbergen und eine eigene Testnachricht löschen.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Eine Unterhaltung als stummgeschaltet markieren.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Einen Gruppenchats mit Verein, Trainer und Sportler anlegen.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3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94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Alle Chataktionen aktualisieren Zähler, Lesestatus, Teilnehmer und Berechtigungen ohne doppelte Nachrichten oder Zugriff nach dem Verlassen.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5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96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163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99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UC-69: Chat vollständig verwalten · Teil 2/3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0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1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2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03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Gruppennamen und Beschreibung ändern.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Einen Teilnehmer hinzufügen.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Einen Teilnehmer entfernen.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Den Eigentümer auf ein anderes berechtigtes Konto übertragen.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Mit dem neuen Eigentümer prüfen, ob die Verwaltungsaktionen verfügbar sind.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4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05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Eine Chat-Einladung annehmen.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Eine zweite Chat-Einladung ablehnen.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„Tippt gerade“ oder Präsenzstatus prüfen, falls im UI sichtbar.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Den Chat mit einem Konto verlassen.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Prüfen, dass nur berechtigte Konten die Nachrichten weiter sehen können.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6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07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Alle Chataktionen aktualisieren Zähler, Lesestatus, Teilnehmer und Berechtigungen ohne doppelte Nachrichten oder Zugriff nach dem Verlassen.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8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09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0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164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1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12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UC-69: Chat vollständig verwalten · Teil 3/3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3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21–27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4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21–27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5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16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21. Oben auf das Nachrichten-Symbol tippen.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22. Einzelchat und Gruppenchat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23. Nachricht senden, lesen, reagieren, verbergen und löschen.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24. Über das Drei-Punkte-Menü Chat stummschalten.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25. Teilnehmer hinzufügen, entfernen und Chat verlassen.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7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18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26. Chat-Einladung im Benachrichtigungsbereich annehmen und ablehnen.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27. App schließen, neu öffnen und prüfen, dass der ungelesene Zähler korrekt ist.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9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20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Alle Chataktionen aktualisieren Zähler, Lesestatus, Teilnehmer und Berechtigungen ohne doppelte Nachrichten oder Zugriff nach dem Verlassen.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1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22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3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165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25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UC-70: Dateien, Ordner, Vorschau, Download und Freigaben · Teil 1/3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6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7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28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Nutzer lädt Dateien hoch, organisiert sie in Ordnern, teilt sie gezielt und prüft Vorschau, Download und Löschung.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9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30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Eine harmlose Testdatei, ein Testbild und ein Test-PDF bereithalten. 2. Einen Empfänger mit eingeschränkter Berechtigung verwenden.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1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2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33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„Dateien“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Einen neuen Ordner „Test 2026“ erstellen.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Den Ordner umbenennen.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Eine Testdatei hochladen.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Das Testbild in den Ordner verschieben, falls Verschieben angeboten wird.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4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35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Dateiname und Beschreibung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Bild und PDF über „Vorschau“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Jede Datei herunterladen und die Datei im Downloadordner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Eine Datei für ein anderes Konto freigeben.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Den Freigabebereich auf Nutzer, Team, Verein oder Event einschränken, sofern auswählbar.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6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37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Dateien und Ordner sind nur für berechtigte Personen sichtbar. Vorschau, Download, Freigabeänderung, Löschung und Fehlermeldungen funktionieren nachvollziehbar.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8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39" name=""/>
          <p:cNvSpPr/>
          <p:nvPr/>
        </p:nvSpPr>
        <p:spPr>
          <a:xfrm>
            <a:off x="7992000" y="4212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Testdatei anschließend löschen: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0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166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1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42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UC-70: Dateien, Ordner, Vorschau, Download und Freigaben · Teil 2/3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3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4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5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46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Mit dem Empfängerkonto die Datei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Prüfen, dass eine nicht freigegebene Datei nicht angezeigt wird.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Freigabe widerrufen.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Einen Ordner teilen und danach die Ordnerfreigabe ändern.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Einen Ordner mit Testinhalt löschen.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7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48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Eine Datei löschen und den Papierkorb-/Bestätigungsdialog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Einen öffentlichen oder tokenbasierten Download öffnen, falls vorhanden.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Einen abgelaufenen oder falschen Download-Link testen.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Drawer &gt; „Dateien“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Ordner anlegen, umbenennen und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9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50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Dateien und Ordner sind nur für berechtigte Personen sichtbar. Vorschau, Download, Freigabeänderung, Löschung und Fehlermeldungen funktionieren nachvollziehbar.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1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52" name=""/>
          <p:cNvSpPr/>
          <p:nvPr/>
        </p:nvSpPr>
        <p:spPr>
          <a:xfrm>
            <a:off x="7992000" y="3276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Testdatei anschließend löschen: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3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167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55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UC-70: Dateien, Ordner, Vorschau, Download und Freigaben · Teil 3/3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6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21–26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7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21–26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8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5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21. Datei über Kamera, Galerie oder Dateiauswahl hochladen, falls die App die Quelle anbietet.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22. Datei öffnen, Vorschau und Download testen.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23. Teilen auswählen und Empfänger sowie Sichtbarkeit festlegen.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24. Mit dem zweiten Konto die Freigabe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25. Freigabe entziehen und Datei löschen.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0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61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26. Netzwerkfehler während Upload simulieren und prüfen, ob ein erneuter Upload möglich ist.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6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Dateien und Ordner sind nur für berechtigte Personen sichtbar. Vorschau, Download, Freigabeänderung, Löschung und Fehlermeldungen funktionieren nachvollziehbar.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4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65" name=""/>
          <p:cNvSpPr/>
          <p:nvPr/>
        </p:nvSpPr>
        <p:spPr>
          <a:xfrm>
            <a:off x="7992000" y="3276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Testdatei anschließend löschen: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6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168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68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UC-71: Event vollständig erstellen, bearbeiten, abstimmen und abschließen · Teil 1/3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9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0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71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Verein oder Trainer erstellt ein Event, veröffentlicht es, sammelt Teilnahme- und Entscheidungsdaten und schließt es sauber ab.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2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73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4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5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76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„Events“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Persönliche Eventfilter oder Standardfilter öffnen und einen Testfilter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„Event erstellen“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Titel, Beschreibung, Sportart, Ort, Start, Ende und Sichtbarkeit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Team auswählen und Wiederholung testen, falls angeboten.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7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78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Event speichern und Detailseite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Mit dem Sportlerkonto „Teilnehmen“, „Vielleicht“ oder „Absagen“ testen.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Teilnahme wieder verlassen und erneut beitreten.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Mit dem Veranstalterkonto Eventdaten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Einen Kommentar schreiben und mit dem anderen Konto beantworten.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9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80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Eventstatus, Teilnehmerliste, Abstimmung, Anwesenheit, Kommentare, Chat und Benachrichtigungen bleiben über Web und App synchron.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1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82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3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169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85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UC-71: Event vollständig erstellen, bearbeiten, abstimmen und abschließen · Teil 2/3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6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7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8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8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Eine Entscheidung/Abstimmung für das Event erstellen.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Mit den Teilnehmerkonten abstimmen.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Abstimmung schließen und Ergebnis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Anwesenheitsliste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Für Testteilnehmer anwesend, abwesend oder entschuldigt setzen.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0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91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Eventchat öffnen und eine Nachricht 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Event absagen und die Benachrichtigung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Ein reines Testevent löschen und die Sicherheitsabfrage bestätigen.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Bottom-Navigation oder Drawer &gt; „Events &amp; Training“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Eventliste, Filter und Detailansicht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9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Eventstatus, Teilnehmerliste, Abstimmung, Anwesenheit, Kommentare, Chat und Benachrichtigungen bleiben über Web und App synchron.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4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95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6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170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7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98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UC-71: Event vollständig erstellen, bearbeiten, abstimmen und abschließen · Teil 3/3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9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21–25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0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21–25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1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02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21. Testevent erstellen oder ein vorhandenes Event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22. Teilnahme ändern, Kommentar schreiben, Abstimmung öffnen und abstimmen.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23. Eventchat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24. Als Trainer/Verein Anwesenheit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25. Event absagen und prüfen, ob Status und Push aktualisiert werden.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0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Eventstatus, Teilnehmerliste, Abstimmung, Anwesenheit, Kommentare, Chat und Benachrichtigungen bleiben über Web und App synchron.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5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06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171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09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UC-72: Training mit Übungen, Verfügbarkeit, AI-Plan und Analytics · Teil 1/3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0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1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12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Sportler und Trainer testen den vollständigen Trainingszyklus von Übung und Planung bis Log, Feedback, Verfügbarkeit und Analyse.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3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14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Sportler- und Trainerkonto sind demselben Testteam zugeordnet. 2. Eine kurze Testwoche verwenden, damit keine echten Trainingsdaten entstehen.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5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6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17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„Trainer-Cockpit“ oder „Trainingsplanung“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Übungsbibliothek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Eine Testübung anlegen und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Übung bearbeiten und anschließend nur das Testobjekt löschen.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Einen Trainingsplan erstellen.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8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19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Die Testübung als Planposition hinzufügen.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Dauer, Intensität und Notiz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Eine Planposition duplizieren, ändern und eine Position als verpasst markieren.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Plan als Vorlage speichern oder aus einer Vorlage erzeugen, sofern verfügbar.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Plan veröffentlichen.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0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21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Übungen, Planpositionen, Duplikate, Vorlagen, Veröffentlichung, AI-Vorschau, Verfügbarkeit, Entwurf, Log, Feedback, Fehltermin und Analytics sind rollenrichtig und synchron.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2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23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4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172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26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UC-72: Training mit Übungen, Verfügbarkeit, AI-Plan und Analytics · Teil 2/3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7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8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30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Plan an das Testteam 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AI-Planer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Eine Vorschau mit Testziel erzeugen.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Die Vorschau prüfen und nur bei Bedarf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Einen Trainingsfeedback-Eintrag an den Sportler 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1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32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„Training“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Den veröffentlichten Plan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Verfügbarkeit oder Abwesenheit für einen Testtag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Eine Einheit starten und Aktivität, Dauer, Belastung und Notiz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Entwurf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3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Übungen, Planpositionen, Duplikate, Vorlagen, Veröffentlichung, AI-Vorschau, Verfügbarkeit, Entwurf, Log, Feedback, Fehltermin und Analytics sind rollenrichtig und synchron.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5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36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173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39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UC-72: Training mit Übungen, Verfügbarkeit, AI-Plan und Analytics · Teil 3/3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0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21–29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1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21–29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2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43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21. Entwurf bearbeiten und absenden.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22. Feedback vom Trainer öffnen und beantworten.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23. Eine Einheit als verpasst markieren.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24. Trainingsanalyse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25. Prüfen, dass Wochenwerte, Fortschritt und Belastungsdaten plausibel angezeigt werden.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4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45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26. Bottom-Navigation &gt; „Training“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27. Plan, Übung, Log-Entwurf, Feedback und Analytics nacheinander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28. Den Trainingsstatus ändern und App neu laden.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29. Prüfen, dass der veröffentlichte Plan und der Log auf allen Geräten sichtbar sind.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6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47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Übungen, Planpositionen, Duplikate, Vorlagen, Veröffentlichung, AI-Vorschau, Verfügbarkeit, Entwurf, Log, Feedback, Fehltermin und Analytics sind rollenrichtig und synchron.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8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49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0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174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1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52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UC-73: Ernährung mit Suche, Barcode und Bildanalyse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3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4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55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Sportler erfasst Ernährung und Wasser sowohl manuell als auch mit den vorhandenen Such- und Analysefunktionen.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6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57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8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9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60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„Ernährung“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Tagesziel für Kalorien oder Makros als Testwert festlegen.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Eine Mahlzeit manuell erstellen.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Einen Lebensmittelbegriff suchen.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Suchergebnis auswählen und Menge ändern.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1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62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Eine Mahlzeit bearbeiten und löschen.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Wasseraufnahme in mehreren kleinen Einträgen erfassen.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Tagesübersicht aktualisieren.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Barcode-Scanner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Einen Testbarcode scannen oder eine Testnummer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3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64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Manuelle Erfassung, Suche, Barcode, Bildanalyse, Wasser, Zieländerung und Löschung erzeugen korrekte Tageswerte. Fehler oder fehlende Treffer werden verständlich angezeigt.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5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66" name=""/>
          <p:cNvSpPr/>
          <p:nvPr/>
        </p:nvSpPr>
        <p:spPr>
          <a:xfrm>
            <a:off x="7992000" y="4212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Kamera-/Fotoeinwilligung: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175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69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UC-73: Ernährung mit Suche, Barcode und Bildanalyse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0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11–16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1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11–16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2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73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Treffer, kein Treffer und ungültigen Barcode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Fotoanalyse für eine Testmahlzeit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Nur ein nicht sensibles Testbild verwenden.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Erkanntes Ergebnis prüfen und vor dem Speichern korrigieren.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Analyse abbrechen und prüfen, dass kein falscher Eintrag angelegt wird.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4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75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Ziel ändern und prüfen, dass die Auswertung neu berechnet wird.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6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77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Manuelle Erfassung, Suche, Barcode, Bildanalyse, Wasser, Zieländerung und Löschung erzeugen korrekte Tageswerte. Fehler oder fehlende Treffer werden verständlich angezeigt.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8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79" name=""/>
          <p:cNvSpPr/>
          <p:nvPr/>
        </p:nvSpPr>
        <p:spPr>
          <a:xfrm>
            <a:off x="7992000" y="3276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Kamera-/Fotoeinwilligung: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0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176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82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UC-74: Vereins-Onboarding, Mitgliedsformulare und Anforderungen · Teil 1/3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3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4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85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Verein konfiguriert seinen Vereinsbereich, Mitgliedsarten, Aufnahmeformulare, Anforderungen und Rollenrechte.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6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87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Verein-Admin oder Vereinsbesitzer verwenden. 2. Nur Testfelder und Testdokumente anlegen.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8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9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90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„Vereins-Cockpit“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Vereinsprofil, Logo, Bilder, Beschreibung und Kontaktdaten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Sichtbarkeitseinstellungen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Öffentliche Darstellung und Vorschau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„Mitglieder &amp; Finanzen“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1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92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Eine Mitgliedsart „Test Jugend“ anlegen.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Beitrag, Zahlungsintervall und Status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Beitragsregel mit Start-/Enddatum erstellen.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Mitgliedschaftsformular-Builder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Ein Pflichtfeld, ein Auswahlfeld und ein Einwilligungsfeld hinzufügen.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3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94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Vereinsprofil, öffentliche Sichtbarkeit, Mitgliedsart, Regeln, Formulare, Anforderungen, Onboarding und Rechte arbeiten zusammen. Pflichtangaben blockieren unvollständige Anträge.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5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96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177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99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UC-74: Vereins-Onboarding, Mitgliedsformulare und Anforderungen · Teil 2/3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0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1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2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03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Feldreihenfolge ändern und Formular veröffentlichen.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Anforderungs-Builder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Testdokument oder Zustimmung als Anforderung definieren.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Onboarding mit einem neuen Testmitglied starten.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Formular unvollständig absenden und Validierung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4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05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Formular vollständig absenden.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Mit dem Verein die Anfrage öffnen und fehlende Anforderungen kontrollieren.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Rollen &amp; Rechte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Eine Testrolle anlegen oder bestehende Rechte ansehen.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Ein Recht vorübergehend ändern und mit dem betroffenen Testkonto kontrollieren.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6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07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Vereinsprofil, öffentliche Sichtbarkeit, Mitgliedsart, Regeln, Formulare, Anforderungen, Onboarding und Rechte arbeiten zusammen. Pflichtangaben blockieren unvollständige Anträge.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8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09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0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178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12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UC-74: Vereins-Onboarding, Mitgliedsformulare und Anforderungen · Teil 3/3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3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21–21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4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21–21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5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16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21. Testrecht zurücksetzen.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7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18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Vereinsprofil, öffentliche Sichtbarkeit, Mitgliedsart, Regeln, Formulare, Anforderungen, Onboarding und Rechte arbeiten zusammen. Pflichtangaben blockieren unvollständige Anträge.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9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20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1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179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2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23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UC-75: Vereinsankündigung, Umfrage, Richtliniendokument und Mitgliedskarte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4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5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26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Verein informiert Mitglieder, lässt sie abstimmen, stellt Richtlinien bereit und prüft eine digitale Mitgliedskarte.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7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28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9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0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31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Vereins-Cockpit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„Ankündigungen“ oder Vereinskommunikation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Eine Testankündigung mit Titel, Text, Zielgruppe und optionalem Anhang erstellen.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Veröffentlichen.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Eine Testumfrage mit mindestens zwei Antwortoptionen erstellen.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2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33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Umfrage öffnen und Laufzeit setzen.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Richtliniendokument hochladen oder verknüpfen.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Dokumentversion und Sichtbarkeit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Digitale Mitgliedskarte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Mitgliedsnummer und Kartendaten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4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35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Zielgruppen sehen nur die für sie freigegebenen Inhalte. Gelesenstatus, eine einmalige Abstimmung, Dokumentversion, QR-Prüfung und Kartenrotation sind nachvollziehbar.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6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37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8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180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9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40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UC-75: Vereinsankündigung, Umfrage, Richtliniendokument und Mitgliedskarte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1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2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3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44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QR-Code anzeigen.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QR-Code mit dem zweiten Gerät scannen oder den Prüfdialog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Karte rotieren, falls ein Sicherheitswechsel angeboten wird.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Mit dem Sportlerkonto „Benachrichtigungen“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Ankündigung lesen und als gelesen markieren.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5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46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Umfrage öffnen und abstimmen.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Prüfen, dass eine zweite Stimme nicht möglich ist.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Richtliniendokument öffnen und herunterladen.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Mitgliedskarte öffnen und QR-Code anzeigen.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Einen falschen oder abgelaufenen Code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7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48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Zielgruppen sehen nur die für sie freigegebenen Inhalte. Gelesenstatus, eine einmalige Abstimmung, Dokumentversion, QR-Prüfung und Kartenrotation sind nachvollziehbar.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9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50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1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181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53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UC-76: Vereinsmitglieder, Import, externe Personen und Mitgliedslebenszyklus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4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5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56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Verein verwaltet interne und externe Mitglieder inklusive Import, Einladung, Rollen, Nummern, Pause, Kündigung und Austritt.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7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58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9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0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61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„Mitglieder &amp; Finanzen“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Ein externes Testmitglied manuell anlegen.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E-Mail-Einladung 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Mit dem Empfängerkonto Einladung annehmen.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Einladung mit einem zweiten Testdatensatz ablehnen.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2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63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Importvorlage herunterladen.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Eine anonymisierte Test-CSV mit gültiger und ungültiger Zeile vorbereiten.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Importvorschau öffnen und Fehlerzeile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Nur die gültige Testzeile importieren.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Mitgliedsnummer vergeben und ändern.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4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65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Importvalidierung, Einladungen, Mitgliedsnummer, Rollen, Berechtigungen, Pause, Kündigung, Einspruch und Austritt ändern nur den vorgesehenen Datensatz und erzeugen passende Benachrichtigungen.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6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67" name=""/>
          <p:cNvSpPr/>
          <p:nvPr/>
        </p:nvSpPr>
        <p:spPr>
          <a:xfrm>
            <a:off x="7992000" y="4212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Testdatensätze entfernt: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8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182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9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70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UC-76: Vereinsmitglieder, Import, externe Personen und Mitgliedslebenszyklus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1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11–18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2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11–18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3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74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Mitgliedstyp und Rolle ändern.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Berechtigungen des Mitglieds öffnen und ein Testrecht setzen.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Status auf Pause setzen und Pauseanfrage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Kündigungs- oder Beendigungsanfrage als Testfall erstellen.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Einspruch gegen eine Entfernung als Testfall 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5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76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Austritt durchführen oder den Testdatensatz entfernen.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Prüfen, dass das ehemalige Mitglied keinen Vereinsbereich mehr öffnen kann.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Keine echten Personen- oder Bankdaten importieren.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7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78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Importvalidierung, Einladungen, Mitgliedsnummer, Rollen, Berechtigungen, Pause, Kündigung, Einspruch und Austritt ändern nur den vorgesehenen Datensatz und erzeugen passende Benachrichtigungen.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9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80" name=""/>
          <p:cNvSpPr/>
          <p:nvPr/>
        </p:nvSpPr>
        <p:spPr>
          <a:xfrm>
            <a:off x="7992000" y="3276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Testdatensätze entfernt: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1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183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83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UC-77: Vereinsfinanzen mit Vorauszahlung, Spende, Kassenbuch und Bankabgleich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4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5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86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Verein testet alle finanziellen Erfassungen ohne echte Zahlungsdaten.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7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88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9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0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91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„Mitglieder &amp; Finanzen“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Eine Test-Mitgliedsrechnung erzeugen.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Zahlung als offen, bezahlt und überfällig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Mahnung versenden und Versandstatus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Eine Testzahlung erfassen und zuordnen.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2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93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Eine Vorauszahlung anlegen.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Eine Testspende anlegen.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Kassenbuch-/Finance-Eintrag anlegen und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Einen anonymisierten Bank-CSV-Import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Importvorschau und fehlerhafte Zeile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4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95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Rechnungen, Zahlungen, Mahnungen, Vorauszahlungen, Spenden, Kassenbuch, Bankabgleich, SEPA und DATEV sind getrennt nachvollziehbar; keine echte Zahlung wird ausgelöst.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6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97" name=""/>
          <p:cNvSpPr/>
          <p:nvPr/>
        </p:nvSpPr>
        <p:spPr>
          <a:xfrm>
            <a:off x="7992000" y="4212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Keine Echtzahlung ausgelöst: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8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184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9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00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UC-77: Vereinsfinanzen mit Vorauszahlung, Spende, Kassenbuch und Bankabgleich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1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11–16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2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11–16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3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04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Eine Testtransaktion bestätigen.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SEPA-Einstellungen prüfen und einen Export nur als Testdatei erzeugen.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DATEV-Einstellungen prüfen und einen Export nur als Testdatei erzeugen.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Einen offenen Eintrag stornieren oder den Status korrigieren.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Prüfen, dass nur Verein-Admins Finanzdaten sehen.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5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06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Testdateien und Testbuchungen nach dem Test entfernen.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7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08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Rechnungen, Zahlungen, Mahnungen, Vorauszahlungen, Spenden, Kassenbuch, Bankabgleich, SEPA und DATEV sind getrennt nachvollziehbar; keine echte Zahlung wird ausgelöst.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9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10" name=""/>
          <p:cNvSpPr/>
          <p:nvPr/>
        </p:nvSpPr>
        <p:spPr>
          <a:xfrm>
            <a:off x="7992000" y="3276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Keine Echtzahlung ausgelöst: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1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185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2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13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UC-78: Altersfreigabe, Reifegrad, Sicherheit und Guardian-Gates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4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5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16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Alters- und Sicherheitsregeln verhindern ungeeignete Inhalte und ermöglichen korrekte Elternzustimmung.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7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18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Ein erwachsenes Sportlerkonto, ein Minderjährigen-Testkonto und ein Elternkonto bereitstellen. 2. Testinhalte mit unterschiedlichen Altersfreigaben verwenden.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9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0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21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Minderjährigenkonto anmelden und Onboarding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Altersgruppe und Content-Gate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„Eltern &amp; Jugendschutz“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Elternkontakt eintragen oder Einladung versenden.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Elternkonto öffnen und Zustimmung annehmen.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2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23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Mit dem Kind prüfen, welche Funktionen nun freigeschaltet sind.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Elternzustimmung widerrufen.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Prüfen, dass eingeschränkte Bereiche wieder blockiert werden.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Elternkonto öffnen und Kinderübersicht anzeigen.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Kinderdaten und Freigabestatus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4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25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Jugendschutz, Elternzustimmung, Widerruf, Kinderzugriff, Content-Gates und Sicherheitsansichten respektieren Alter und Berechtigung. Fremde Kinderinformationen bleiben unsichtbar.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6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27" name=""/>
          <p:cNvSpPr/>
          <p:nvPr/>
        </p:nvSpPr>
        <p:spPr>
          <a:xfrm>
            <a:off x="7992000" y="4212000"/>
            <a:ext cx="345528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Zustimmung widerrufen oder Testkonto bereinigt: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8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186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30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UC-78: Altersfreigabe, Reifegrad, Sicherheit und Guardian-Gates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1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11–16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2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11–16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3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34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Zustimmung erneut 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Mit einem nicht berechtigten Konto versuchen, Kinderinformationen zu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„Altersfreigaben“ oder „Reifegrad“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Übersicht, Motivation, Challenges, Trending/Discovery, Coach-Woche und Sicherheitsbereich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Route-Analytics oder personalisierte Empfehlungen öffnen, sofern Daten vorhanden sind.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5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36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Ungeeigneten Inhalt melden.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7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38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Jugendschutz, Elternzustimmung, Widerruf, Kinderzugriff, Content-Gates und Sicherheitsansichten respektieren Alter und Berechtigung. Fremde Kinderinformationen bleiben unsichtbar.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9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40" name=""/>
          <p:cNvSpPr/>
          <p:nvPr/>
        </p:nvSpPr>
        <p:spPr>
          <a:xfrm>
            <a:off x="7992000" y="3276000"/>
            <a:ext cx="345528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Zustimmung widerrufen oder Testkonto bereinigt: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1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187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2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43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UC-79: Support kontaktieren, Ticket erstellen und Ticketstatus verfolgen · Teil 1/3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4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5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46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Nutzer kann aus Web und App Hilfe anfordern; Support oder Admin kann das Ticket bearbeiten und der Nutzer sieht den Status.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7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48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9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0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51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Profilmenü oder Hilfe-Schaltfläche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„Support kontaktieren“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Kategorie, Betreff und Testbeschreibung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Ein optionales Testbild anhängen.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Pflichtfeld leer lassen und Validierung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2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53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Ticket absenden.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Ticketnummer und Status notieren.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„Meine Tickets“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Ticketdetail und Verlauf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Eine Rückfrage ergänzen, falls verfügbar.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4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55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Ticketstatus, Verlauf, Benachrichtigungen, Anhänge und Berechtigungen bleiben über die Rollen hinweg korrekt.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6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57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8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188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9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60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UC-79: Support kontaktieren, Ticket erstellen und Ticketstatus verfolgen · Teil 2/3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1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2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3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64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Support- oder Adminbereich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Offene Tickets filtern.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Das Testticket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Priorität, Kategorie und Status ändern.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Eine interne Notiz und eine Antwort hinterlegen, falls vorgesehen.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5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66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Ticket schließen.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Mit dem Nutzerkonto Benachrichtigung und neuen Status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Ein geschlossenes Testticket erneut öffnen, falls das Produkt dies erlaubt.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Topbar oder Drawer &gt; „Support“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Ticket erstellen, Status ansehen und Antwort 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7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68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Ticketstatus, Verlauf, Benachrichtigungen, Anhänge und Berechtigungen bleiben über die Rollen hinweg korrekt.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9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70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1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189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2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73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UC-79: Support kontaktieren, Ticket erstellen und Ticketstatus verfolgen · Teil 3/3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4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21–21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5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21–21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6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77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21. App neu starten und prüfen, dass die Ticketnummer erhalten bleibt.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8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79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Ticketstatus, Verlauf, Benachrichtigungen, Anhänge und Berechtigungen bleiben über die Rollen hinweg korrekt.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0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81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2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190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84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UC-80: Verein erstellt Jobs und Admin prüft Vereine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5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6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87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Verein kann eine Teststelle veröffentlichen und verwalten; der Plattform-Admin kann eine Vereinsprüfung freigeben oder ablehnen.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8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89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0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1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92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Vereins-Cockpit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Bereich „Jobs“ oder „Stellenangebote“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Teststelle mit Titel, Beschreibung, Ort, Kontakt und Bewerbungsfrist anlegen.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Stelle veröffentlichen.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Öffentliche Stellenansicht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3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94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Stelle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Stelle schließen oder löschen, nur wenn Testobjekt.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Eingegangene Interessen prüfen, sofern eine Testanfrage vorhanden ist.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Mit Admin-Konto anmelden.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„Vereinsprüfung“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5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96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Stellenstatus, öffentliche Darstellung, Vereinsprüfung, Begründung und Benachrichtigung stimmen überein.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7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98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9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191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0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01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UC-80: Verein erstellt Jobs und Admin prüft Vereine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2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11–16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3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11–16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4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05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Testverein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Unterlagen, Profil und Prüfstatus ansehen.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Einen Testverein freigeben.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Einen zweiten Testverein ablehnen und Begründung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Mit dem Vereinskonto Status und Benachrichtigung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6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07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Prüfen, dass ein abgelehnter Verein keine nicht freigegebenen Funktionen erhält.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8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09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Stellenstatus, öffentliche Darstellung, Vereinsprüfung, Begründung und Benachrichtigung stimmen überein.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0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11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2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192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3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14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UC-81: Medienrichtlinien, Bildrechte und Inhaltsmeldung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5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6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17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Uploads und veröffentlichte Inhalte prüfen Richtlinien, Einwilligungen, Altersfreigabe und Meldewege.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8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19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0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1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22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„Medienrichtlinien“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Uploadregeln, Bildrechte, Einwilligungsregel und Altersfreigabe lesen.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Eine Datei ohne erforderliche Einwilligung als Testfall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Upload in Feed, Dateiablage oder Kurs testen.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Prüfen, ob Warnung, Blockierung oder Zustimmungsschritt erscheint.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3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24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Einen zulässigen Testupload durchführen.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Sichtbarkeit und Zielgruppe kontrollieren.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Post, Kommentar oder Bild über „Melden“ melden.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Kategorie und Begründung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Meldung absenden.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5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26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Richtlinien sind erreichbar und Upload-, Alters-, Einwilligungs- und Meldeentscheidungen sind sichtbar und rollenrichtig umgesetzt.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7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28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9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193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0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31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UC-81: Medienrichtlinien, Bildrechte und Inhaltsmeldung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2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11–15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3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11–15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4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35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Mit Moderationskonto den Fall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Inhalt freigeben, ausblenden oder entfernen.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Einspruch als Testfall 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Status und Benachrichtigung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Testmedien und Testmeldungen nach dem Test löschen oder schließen.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6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37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Richtlinien sind erreichbar und Upload-, Alters-, Einwilligungs- und Meldeentscheidungen sind sichtbar und rollenrichtig umgesetzt.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8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39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0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194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1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42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UC-82: Arbeitsbereiche wechseln und Rechtegrenzen zwischen Rollen prüfen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3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4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45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Nutzer mit mehreren Rollen kann den Arbeitsbereich wechseln; jede Rolle sieht nur die vorgesehenen Daten und Aktionen.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6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47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Ein Testkonto mit mindestens zwei Arbeitsbereichen oder Rollen verwenden. 2. Ein zweites Konto ohne Admin-/Vereinsrechte bereithalten.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8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9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50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Einloggen und „Arbeitsbereiche“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Arbeitsbereich Sportler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Feed, Training, Profil und private Daten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Auf „Arbeitsbereiche“ wechseln.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Trainer-Arbeitsbereich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1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52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Trainer-Cockpit, Teamdaten und Feedback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Vereins-Arbeitsbereich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Mitglieder und Finanzen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Zu jedem Wechsel URL, Titel, Navigation und Datenstand notieren.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Admin-URL direkt in einem Nicht-Admin-Konto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3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54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Arbeitsbereichwechsel ändert Kontext und Berechtigungen vollständig. Ein Rollenwechsel führt nicht zu Datenlecks oder veralteten Schreibrechten.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5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56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195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59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UC-82: Arbeitsbereiche wechseln und Rechtegrenzen zwischen Rollen prüfen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0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11–19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1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11–19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2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63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Prüfen, dass Zugriff verweigert oder sinnvoll umgeleitet wird.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Eine verbotene Schreibaktion versuchen.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Prüfen, dass weder UI noch API die Aktion akzeptiert.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Topbar- oder Drawer-Menü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„Arbeitsbereiche“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4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65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Jede freigegebene Rolle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Prüfen, dass Bottom-Navigation, Module und Startseite aktualisiert werden.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Ein nicht freigegebenes Modul über Suche oder Deep Link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Zugriffsschutz dokumentieren.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6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67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Arbeitsbereichwechsel ändert Kontext und Berechtigungen vollständig. Ein Rollenwechsel führt nicht zu Datenlecks oder veralteten Schreibrechten.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8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69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0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196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72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UC-83: Sprache, Design, Benachrichtigungen und persönliche Einstellungen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3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4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75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Persönliche Einstellungen werden gespeichert, übersetzen sichtbare Texte und steuern Benachrichtigungen sowie Darstellung.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6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77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8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9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80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„Einstellungen“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Sprache auf Deutsch ändern und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Sprache auf Englisch ändern und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Hauptnavigation, Fehlermeldung und Buttontexte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Design/Theme oder Dark Mode umstellen, sofern vorhanden.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1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82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App/Web neu laden.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Benachrichtigungseinstellungen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Eine Kategorie deaktivieren und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Mit dem zweiten Konto eine passende Testaktion erzeugen.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Prüfen, dass die deaktivierte Benachrichtigung nicht erscheint, während andere Kategorien weiter funktionieren.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3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84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Einstellungen werden dauerhaft und kontobezogen gespeichert. Übersetzungen, Theme, Benachrichtigungen, Privatsphäre und Zeitdarstellung wirken in den relevanten Ansichten.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5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86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197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89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UC-83: Sprache, Design, Benachrichtigungen und persönliche Einstellungen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0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11–13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1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11–13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2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93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Datenschutzsichtbarkeit für Profil, Aktivität und Sportdaten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Zeitzone oder Region prüfen, falls verfügbar.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Sprache und Theme auf Teststandard zurücksetzen.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95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Einstellungen werden dauerhaft und kontobezogen gespeichert. Übersetzungen, Theme, Benachrichtigungen, Privatsphäre und Zeitdarstellung wirken in den relevanten Ansichten.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6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97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8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198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9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00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UC-84: Datenfehler, Ladezustand, Berechtigungsfehler und Wiederholungsaktion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1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2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03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Alle kritischen Bereiche behandeln leere Daten, langsame Verbindung, abgelaufene Sitzung und Serverfehler verständlich.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4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05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6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7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08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Einen Bereich ohne Datensätze öffnen, z. B. leere Wunschliste, leeres Training oder neue Dateien.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Empty State und angebotene nächste Aktion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Netzwerk während des Ladens trennen.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Ladeindikator und Fehlermeldung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„Erneut versuchen“ ausführen.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9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10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Netzwerk wiederherstellen und erneut laden.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Sitzung in einem zweiten Browser abmelden oder ablaufen lassen.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Im ersten Browser eine geschützte Aktion ausführen.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Prüfen, dass Login oder Weiterleitung erscheint und die Aktion nicht doppelt gespeichert wird.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Ein Formular mit ungültigen Werten absenden.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1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12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Leere, langsame, abgelaufene und fehlerhafte Zustände sind verständlich, wiederholbar und sicher. Keine doppelte Erstellung und kein Datenverlust durch erneutes Laden.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3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14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5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199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17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UC-84: Datenfehler, Ladezustand, Berechtigungsfehler und Wiederholungsaktion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8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11–14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9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11–14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0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21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Validierung am richtigen Feld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Zurück- und Vorwärtsnavigation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App vollständig beenden und wieder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Prüfen, dass kein Spinner dauerhaft hängen bleibt und kein privater Inhalt im falschen Konto erscheint.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2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Leere, langsame, abgelaufene und fehlerhafte Zustände sind verständlich, wiederholbar und sicher. Keine doppelte Erstellung und kein Datenverlust durch erneutes Laden.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4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25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6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200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7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28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UC-85: Vier-Geräte-End-to-End-Abnahme · Teil 1/3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9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0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31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Die vom Nutzer vorgesehene parallele Prüfung auf zwei Handys und zwei Laptops wird als zusammenhängender Ablauf durchgeführt.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2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33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4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5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36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Handy 1: App Sportler.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Handy 2: App Trainer.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Laptop 1: Web Verein.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Laptop 2: Web Sportler oder Admin.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Alle vier Geräte mit dem vorgesehenen Konto anmelden.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7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38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Auf Handy 1 ein Sportprofil und einen Testbeitrag erstellen.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Auf Laptop 2 den Beitrag öffnen, kommentieren und melden, falls der Meldetest vorgesehen ist.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Auf Handy 1 Kommentar und Benachrichtigung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Auf Laptop 1 ein Testevent erstellen.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Auf Handy 1 teilnehmen.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9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40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auf einem Gerät ausgelöster Vorgang ist auf den anderen Geräten zeitnah, korrekt und ohne Berechtigungsüberschreitung sichtbar.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1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42" name=""/>
          <p:cNvSpPr/>
          <p:nvPr/>
        </p:nvSpPr>
        <p:spPr>
          <a:xfrm>
            <a:off x="7992000" y="4212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Geräte/Versionen: ____________________.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3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201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45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UC-85: Vier-Geräte-End-to-End-Abnahme · Teil 2/3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6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7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8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4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Auf Handy 2 Anwesenheit oder Traineransicht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Auf Laptop 1 die Teilnahme bestätigen.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Auf Handy 1 eine Testnachricht im Eventchat 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Auf Handy 2 antworten.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Auf Laptop 1 eine Datei im Team teilen.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0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51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Auf Handy 2 die Datei öffnen und herunterladen.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Auf Laptop 2 eine Marketplace-Testbestellung oder Kursaktion ausführen, falls vorbereitet.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Auf dem zuständigen Gerät Status und Benachrichtigung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Alle Geräte neu laden oder App neu starten.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Daten, Benachrichtigungen, Zähler, Rollen und Berechtigungen vergleichen.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2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5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auf einem Gerät ausgelöster Vorgang ist auf den anderen Geräten zeitnah, korrekt und ohne Berechtigungsüberschreitung sichtbar.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4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55" name=""/>
          <p:cNvSpPr/>
          <p:nvPr/>
        </p:nvSpPr>
        <p:spPr>
          <a:xfrm>
            <a:off x="7992000" y="3276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Geräte/Versionen: ____________________.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6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202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7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58" name=""/>
          <p:cNvSpPr/>
          <p:nvPr/>
        </p:nvSpPr>
        <p:spPr>
          <a:xfrm>
            <a:off x="360000" y="198000"/>
            <a:ext cx="107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UC-85: Vier-Geräte-End-to-End-Abnahme · Teil 3/3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9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21–22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0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21–22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1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62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21. Alle Testobjekte löschen oder auf Teststatus zurücksetzen.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22. Auf allen Geräten abmelden.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6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auf einem Gerät ausgelöster Vorgang ist auf den anderen Geräten zeitnah, korrekt und ohne Berechtigungsüberschreitung sichtbar.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5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66" name=""/>
          <p:cNvSpPr/>
          <p:nvPr/>
        </p:nvSpPr>
        <p:spPr>
          <a:xfrm>
            <a:off x="7992000" y="3276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Geräte/Versionen: ____________________.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203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69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UC-86: Warenkorb, Produktbewertungen, Bestellung stornieren und Dokumente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0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1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72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Käufer testet den vollständigen Warenkorb- und Bestelllebenszyklus inklusive Menge, Entfernen, Bewertung, Rechnung, Gutschrift und Stornierung.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3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74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5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6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77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„Marketplace“ öffnen und ein Testprodukt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Produktmenge auf zwei ändern und den Warenkorb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Prüfen, ob Zwischensumme, Steuer, Versand und Gesamtbetrag neu berechnet werden.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Ein zweites Produkt hinzufügen.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Menge wieder auf eins reduzieren.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8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79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Ein Produkt aus dem Warenkorb entfernen.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Warenkorb schließen und erneut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„Zur Kasse“ anklicken.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Coupon aus UC-44 testen, falls für das Produkt gültig.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Checkout abbrechen und prüfen, dass der Warenkorb erhalten bleibt oder der vorgesehene Status angezeigt wird.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0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81" name=""/>
          <p:cNvSpPr/>
          <p:nvPr/>
        </p:nvSpPr>
        <p:spPr>
          <a:xfrm>
            <a:off x="360000" y="4212000"/>
            <a:ext cx="7487280" cy="72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Warenkorb, Preise, Coupon, Checkout, Abbruch, Bestellung, Stornierung, Rechnung, Gutschrift und Produktbewertung werden getrennt und korrekt gespeichert. Keine fremde Bewertung oder Bestellung kann geändert werden.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2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83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4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204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86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UC-86: Warenkorb, Produktbewertungen, Bestellung stornieren und Dokumente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7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8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90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Checkout mit Testzahlung oder Überweisung abschließen.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„Meine Bestellungen“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Bestellung öffnen und Status, Rechnung und Dokumente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Bestellung stornieren, sofern der Status dies erlaubt.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Stornierungsgrund als Testwert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1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92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Rechnung herunterladen.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Gutschrift oder Rückgabedokument öffnen, falls erzeugt.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Nach erfolgreichem Testkauf eine Produktbewertung mit Testtext abgeben.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Bewertung mit dem Anbieter- oder Admin-Konto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Nicht berechtigte Änderung an fremder Bewertung testen.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94" name=""/>
          <p:cNvSpPr/>
          <p:nvPr/>
        </p:nvSpPr>
        <p:spPr>
          <a:xfrm>
            <a:off x="360000" y="3276000"/>
            <a:ext cx="7487280" cy="72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Warenkorb, Preise, Coupon, Checkout, Abbruch, Bestellung, Stornierung, Rechnung, Gutschrift und Produktbewertung werden getrennt und korrekt gespeichert. Keine fremde Bewertung oder Bestellung kann geändert werden.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5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96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205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99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UC-87: Verkäufer-Commerce mit Import, Standort, Kampagne und Auszahlung · Teil 1/3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0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1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02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Verkäufer nutzt alle operativen Funktionen außerhalb des einfachen Produkts: Import, Anbieterprofil, Standorte, Kampagnen, Website-Anfrage und Auszahlung.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3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04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1. Verkäuferkonto oder freigegebener Testanbieter. 2. Nur Testdaten und keine echten Kontoverbindungen verwenden.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5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6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07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„Commerce“ &gt; „Meine Produkte“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Importvorlage herunterladen.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Eine Test-CSV mit einer gültigen und einer fehlerhaften Produktzeile vorbereiten.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Importvorschau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Fehlerzeile prüfen und nur die gültige Testzeile importieren.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8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09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Produktstatus Entwurf, Prüfung, aktiv und inaktiv nacheinander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Anbieterprofil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Anbieterbeschreibung, Kontakt und Testzahlungsinformationen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Anbieterstandort anlegen.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Adresse, Öffnungszeiten und Status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0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11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Importvalidierung, Produktstatus, Anbieterprofil, Standort, Kampagne, Creative, Website-Anfrage und Auszahlung besitzen klare Status und Berechtigungen. Fehlerhafte Zeilen verändern keine gültigen Datensätze.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2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13" name=""/>
          <p:cNvSpPr/>
          <p:nvPr/>
        </p:nvSpPr>
        <p:spPr>
          <a:xfrm>
            <a:off x="7992000" y="4212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Echte Auszahlung ausgelöst: Nein / Fehler: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4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206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5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16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UC-87: Verkäufer-Commerce mit Import, Standort, Kampagne und Auszahlung · Teil 2/3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7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8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20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Standort bearbeiten und anschließend löschen, wenn es ein Teststandort ist.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Kampagne erstellen.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Zielgruppe, Zeitraum, Budget und Status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Kampagnengruppe anlegen.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Test-Creative oder Bild hinzufügen.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1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22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Kampagne bearbeiten, pausieren und wieder aktivieren.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Website-/Partneranfrage erstellen.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Anfrage im Admin-Commerce öffnen und Status sowie Antwort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Auszahlungsprofil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Auszahlung als Testanfrage erstellen.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2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Importvalidierung, Produktstatus, Anbieterprofil, Standort, Kampagne, Creative, Website-Anfrage und Auszahlung besitzen klare Status und Berechtigungen. Fehlerhafte Zeilen verändern keine gültigen Datensätze.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5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26" name=""/>
          <p:cNvSpPr/>
          <p:nvPr/>
        </p:nvSpPr>
        <p:spPr>
          <a:xfrm>
            <a:off x="7992000" y="3276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Echte Auszahlung ausgelöst: Nein / Fehler: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207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29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UC-87: Verkäufer-Commerce mit Import, Standort, Kampagne und Auszahlung · Teil 3/3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0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21–21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1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21–21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2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33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21. Auszahlung nicht als echt bezahlt markieren, sondern nur den Workflow-Status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35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Importvalidierung, Produktstatus, Anbieterprofil, Standort, Kampagne, Creative, Website-Anfrage und Auszahlung besitzen klare Status und Berechtigungen. Fehlerhafte Zeilen verändern keine gültigen Datensätze.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6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37" name=""/>
          <p:cNvSpPr/>
          <p:nvPr/>
        </p:nvSpPr>
        <p:spPr>
          <a:xfrm>
            <a:off x="7992000" y="3276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Echte Auszahlung ausgelöst: Nein / Fehler: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8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208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9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40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UC-88: Vereinsinventar und Ausleihe mit QR, Rückgabe und Wartung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1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2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43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Verein verwaltet Material, Ausleihe, Rückgabe, Schäden, QR-Code, Wartung und Audit.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4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45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6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7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48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Vereins-Cockpit &gt; „Inventar &amp; Ausleihe“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Ein Testobjekt mit Name, Kategorie, Standort, Seriennummer und Zustand anlegen.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QR-Code anzeigen oder erzeugen.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Objekt einem Team oder Standort zuordnen.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Ausleihe an ein Testmitglied starten.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9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50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Zeitraum, Zustand, Kaution und Rückgabehinweis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Ausleihe speichern und im Mitgliedskonto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QR-Code mit dem zweiten Handy scannen.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Objektstatus und Ausleihhistorie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Rückgabe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1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52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Objekt, Ausleihe, Rückgabe, Schaden, Foto, QR-Zugriff, Wartung und Audit sind chronologisch nachvollziehbar und nur für Vereinsberechtigte sichtbar.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3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54" name=""/>
          <p:cNvSpPr/>
          <p:nvPr/>
        </p:nvSpPr>
        <p:spPr>
          <a:xfrm>
            <a:off x="7992000" y="4212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Modul API-angebunden / nur UI: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5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209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57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UC-88: Vereinsinventar und Ausleihe mit QR, Rückgabe und Wartung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8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11–18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9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11–18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0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61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Zustand, Rückgabefoto und Kommentar eintragen.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Testschaden oder Gebühr erfassen.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Rückgabe bestätigen.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Wartung mit Prüffrist oder Reparaturauftrag planen.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Admin-Benachrichtigung und Eskalation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2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63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Auditverlauf mit Benutzer und Statuswechsel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Objekt als verfügbar, ausgeliehen, reserviert oder kritisch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Nur das Testobjekt löschen oder archivieren.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65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Objekt, Ausleihe, Rückgabe, Schaden, Foto, QR-Zugriff, Wartung und Audit sind chronologisch nachvollziehbar und nur für Vereinsberechtigte sichtbar.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6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67" name=""/>
          <p:cNvSpPr/>
          <p:nvPr/>
        </p:nvSpPr>
        <p:spPr>
          <a:xfrm>
            <a:off x="7992000" y="3276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Modul API-angebunden / nur UI: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8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210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9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70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UC-89: Team-Lebenszyklus, Kader, Einladungen und Wettbewerbsdaten · Teil 1/3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1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2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73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Trainer oder Verein verwaltet ein Team von der Erstellung bis zur Auflösung inklusive Kader und Teamkennzahlen.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4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75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6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7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78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„Teams“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Ein Testteam mit Name, Sportart, Saison und Beschreibung erstellen.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Teamlogo oder Testbild hochladen.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Teamprofil öffnen und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Sportler direkt in den Kader aufnehmen.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9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80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Einen Sportler als Testeinladung einladen.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Einladung mit dem Sportlerkonto annehmen.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Eine zweite Einladung ablehnen.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Eine öffentliche Beitrittsanfrage auslösen.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Mit dem Trainerkonto Beitrittsanfrage annehmen.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1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82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Teamprofil, Bild, Kader, Rollen, Einladungen, Beitrittsanfragen, Statistiken und Löschung sind synchron und rollenrichtig.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3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84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5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211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87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UC-89: Team-Lebenszyklus, Kader, Einladungen und Wettbewerbsdaten · Teil 2/3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8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9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0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91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Eine zweite Anfrage ablehnen.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Teamrolle oder Kaderstatus ändern.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Ein Mitglied entfernen.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Anwesenheitsstatistik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Daily-Life-, Wettbewerbs- oder Competitiveness-Insights öffnen, sofern Daten vorhanden sind.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2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93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Prüfen, dass nur Trainer und Verein interne Insights sehen.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Team umbenennen.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Testteam löschen oder archivieren und alle Folgehinweise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Bottom-Navigation &gt; „Teams“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Team erstellen oder Testteam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95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Teamprofil, Bild, Kader, Rollen, Einladungen, Beitrittsanfragen, Statistiken und Löschung sind synchron und rollenrichtig.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6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97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8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212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9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00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UC-89: Team-Lebenszyklus, Kader, Einladungen und Wettbewerbsdaten · Teil 3/3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1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21–22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2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21–22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3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04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21. Einladung, Kader, Rollen, Beitrittsanfrage und Teamdetail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22. App neu starten und prüfen, dass Team und Status erhalten bleiben.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5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06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Teamprofil, Bild, Kader, Rollen, Einladungen, Beitrittsanfragen, Statistiken und Löschung sind synchron und rollenrichtig.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7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08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9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213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0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11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UC-90: Admin-Plattform, inaktive Nutzer, Systemstatus und Rechte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2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3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14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Der Plattform-Admin verwaltet Nutzerstatus, Plattformdaten, Systemeinstellungen und Rechte mit nachvollziehbarem Schutz.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5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16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7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8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19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Admin &gt; „Nutzer“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Testnutzer suchen und Profil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Status aktiv, inaktiv, gesperrt oder wieder aktiv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Eine Admin-Notiz als Testwert speichern, sofern vorhanden.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Inaktive-Nutzer-Liste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0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21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Eine Testbenachrichtigung zur Inaktivität auslösen, sofern angeboten.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Rollen &amp; Rechte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Testrolle erstellen oder eine Testberechtigung ändern.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Mit einem Testkonto die Wirkung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Berechtigung zurücksetzen.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2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23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Status, Rollen, Rechte, Sportarten, Badges, Gamification, Systemstatus und Planlimits werden getrennt verwaltet. Nicht-Admins können keine Plattformaktion ausführen.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4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25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6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214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7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28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UC-90: Admin-Plattform, inaktive Nutzer, Systemstatus und Rechte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9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0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1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32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„Sportarten“ öffnen und eine Test-Sportart oder Disziplin bearbeiten.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„Badges“ öffnen und Testbadge anlegen, bearbeiten und entfernen.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„Gamification“ öffnen und eine Testregel ändern.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„System“ oder „Plattform-Einstellungen“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Nur ungefährliche Testeinstellung ändern und speichern.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3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34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Systemstatus, API-/Mail-/Pushstatus und Fehlerhinweise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Admin-Subscription einem Testnutzer zuweisen oder Planstatus ansehen.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Planlimits mit dem betroffenen Testkonto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Direktzugriff als Nicht-Admin testen.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Alle Teständerungen zurücksetzen.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5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36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Status, Rollen, Rechte, Sportarten, Badges, Gamification, Systemstatus und Planlimits werden getrennt verwaltet. Nicht-Admins können keine Plattformaktion ausführen.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7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38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9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215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0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41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UC-91: Benachrichtigungen, Präferenzen, Lesen, Zurücksetzen und Löschen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2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3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44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Nutzer verwaltet jede Benachrichtigung einzeln und global; Zähler, Push und E-Mail-Präferenzen bleiben konsistent.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5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46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7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8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49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„Benachrichtigungen“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Ungelesene und gelesene Einträge unterscheiden.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Eine einzelne Benachrichtigung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Als gelesen markieren.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Eine gelesene Benachrichtigung wieder als ungelesen markieren.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0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51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„Alle als gelesen markieren“ ausführen.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Prüfen, dass der Zähler auf null oder den korrekten Restwert fällt.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Einen Eintrag löschen.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Benachrichtigungseinstellungen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Push, E-Mail und In-App-Kategorie getrennt konfigurieren.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2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53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Einzelstatus, globale Lesemarkierung, Löschen, Präferenzen, Push und Zähler stimmen über Web und App überein.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4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55" name=""/>
          <p:cNvSpPr/>
          <p:nvPr/>
        </p:nvSpPr>
        <p:spPr>
          <a:xfrm>
            <a:off x="7992000" y="4212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6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216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7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58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UC-91: Benachrichtigungen, Präferenzen, Lesen, Zurücksetzen und Löschen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9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11–14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0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11–14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1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62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Mit dem zweiten Konto eine passende Aktion auslösen.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Push- und In-App-Verhalten vergleichen.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Die App schließen und nach einer Testaktion neu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Prüfen, dass kein alter Zähler im App-Icon oder in der Topbar bleibt.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6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Einzelstatus, globale Lesemarkierung, Löschen, Präferenzen, Push und Zähler stimmen über Web und App überein.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5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66" name=""/>
          <p:cNvSpPr/>
          <p:nvPr/>
        </p:nvSpPr>
        <p:spPr>
          <a:xfrm>
            <a:off x="7992000" y="3276000"/>
            <a:ext cx="345528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217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69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UC-92: Öffentliche Interessen, Standortvorschlag, Sponsor-Ads und Leadstatus · Teil 1/2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0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1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72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Öffentliche Besucher können Interesse oder einen Standort vorschlagen; Sponsor-/Werbekampagnen zeigen korrekte Klick- und Conversion-Zustände.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3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74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5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6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77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Öffentliche Seite oder Appbereich „Interesse, Ads &amp; Sponsoren“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Filter „Leads“, „Ads“ und „Sponsors“ einzeln auswählen.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„Interesse senden“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Testkontakt und Anliegen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Anfrage absenden und Bestätigung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8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79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„Standort vorschlagen“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Teststandort, Adresse, Sportart und Kontakt eingeben.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Vorschlag absenden.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„Verein empfehlen“ öffnen und einen Testverein vorschlagen.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Werbeagentur-Landingpage öffnen und Leistungen, Zielgruppen und Formate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0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81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Leads, Standortvorschläge, Vereinsvorschläge, Ads, Klicks und Conversions zeigen einen eindeutigen Status. UI-only-Aktionen sind erkennbar und werden als Integrationslücke dokumentiert.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2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83" name=""/>
          <p:cNvSpPr/>
          <p:nvPr/>
        </p:nvSpPr>
        <p:spPr>
          <a:xfrm>
            <a:off x="7992000" y="4212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API-Integration vorhanden: Ja / Nein / Prüfen.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4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218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5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86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UC-92: Öffentliche Interessen, Standortvorschlag, Sponsor-Ads und Leadstatus · Teil 2/2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7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11–17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8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11–17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90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Test-Kampagne mit Zeitraum, Zielgruppe und Budget öffnen oder anlegen, sofern berechtigt.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Sponsor-Anzeige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Anzeige anklicken und Zielseite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Eine Conversion-Testaktion ausführen, falls ein Testbutton vorhanden ist.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Mit Sponsor-/Admin-Konto Lead, Klick und Conversion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1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92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Status von neu, in Bearbeitung, freigegeben und abgeschlossen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Prüfen, dass eine als „UI bereit“ gekennzeichnete Aktion nicht fälschlich als echte Serveraktion gilt.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94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Leads, Standortvorschläge, Vereinsvorschläge, Ads, Klicks und Conversions zeigen einen eindeutigen Status. UI-only-Aktionen sind erkennbar und werden als Integrationslücke dokumentiert.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5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96" name=""/>
          <p:cNvSpPr/>
          <p:nvPr/>
        </p:nvSpPr>
        <p:spPr>
          <a:xfrm>
            <a:off x="7992000" y="3276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API-Integration vorhanden: Ja / Nein / Prüfen.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219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99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UC-93: Android-Entwicklungsmodus, USB-Debugging und Geräteverbindung · Teil 1/4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0" name=""/>
          <p:cNvSpPr/>
          <p:nvPr/>
        </p:nvSpPr>
        <p:spPr>
          <a:xfrm>
            <a:off x="360000" y="558000"/>
            <a:ext cx="1799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Ziel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1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02" name=""/>
          <p:cNvSpPr/>
          <p:nvPr/>
        </p:nvSpPr>
        <p:spPr>
          <a:xfrm>
            <a:off x="360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Ziel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Ein Testhandy wird sicher mit dem Laptop verbunden, die App wird mit der richtigen Testumgebung gestartet und die Verbindung wird nach dem Test wieder abgesichert.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3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04" name=""/>
          <p:cNvSpPr/>
          <p:nvPr/>
        </p:nvSpPr>
        <p:spPr>
          <a:xfrm>
            <a:off x="6012000" y="720000"/>
            <a:ext cx="5435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Voraussetzungen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Testkonto und passendes Gerät vorbereiten.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5" name=""/>
          <p:cNvSpPr/>
          <p:nvPr/>
        </p:nvSpPr>
        <p:spPr>
          <a:xfrm>
            <a:off x="360000" y="1620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1–10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6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07" name=""/>
          <p:cNvSpPr/>
          <p:nvPr/>
        </p:nvSpPr>
        <p:spPr>
          <a:xfrm>
            <a:off x="360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1. „Einstellungen“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2. „Über das Telefon“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3. „Build-Nummer“ siebenmal antippen, bis „Sie sind jetzt Entwickler“ erscheint.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4. Zurück zu „System“ oder „Weitere Einstellungen“ gehen.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5. „Entwickleroptionen“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8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09" name=""/>
          <p:cNvSpPr/>
          <p:nvPr/>
        </p:nvSpPr>
        <p:spPr>
          <a:xfrm>
            <a:off x="6012000" y="1818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6. „USB-Debugging“ aktivieren.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7. „USB-Installation“ oder ähnliche Optionen nur aktivieren, wenn sie für den Test notwendig sind.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8. Das Handy mit einem Datenkabel am Laptop anschließen.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9. Auf dem Handy den RSA-/Computer-Fingerprint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10. Nur auf dem eigenen Test-Laptop „Von diesem Computer immer zulassen“ aktivieren.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0" name=""/>
          <p:cNvSpPr/>
          <p:nvPr/>
        </p:nvSpPr>
        <p:spPr>
          <a:xfrm>
            <a:off x="360000" y="4212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11" name=""/>
          <p:cNvSpPr/>
          <p:nvPr/>
        </p:nvSpPr>
        <p:spPr>
          <a:xfrm>
            <a:off x="360000" y="4212000"/>
            <a:ext cx="7487280" cy="72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Das richtige Testgerät ist eindeutig verbunden, die App erreicht die vorgesehene Umgebung und es werden keine Zugangsdaten in Logs oder auf einem fremden Rechner hinterlassen. Nach dem Test ist USB-Debugging wieder deaktiviert.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2" name=""/>
          <p:cNvSpPr/>
          <p:nvPr/>
        </p:nvSpPr>
        <p:spPr>
          <a:xfrm>
            <a:off x="7992000" y="4212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13" name=""/>
          <p:cNvSpPr/>
          <p:nvPr/>
        </p:nvSpPr>
        <p:spPr>
          <a:xfrm>
            <a:off x="7992000" y="4212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Gerät: ________. API-Adresse: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4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220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16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UC-93: Android-Entwicklungsmodus, USB-Debugging und Geräteverbindung · Teil 2/4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7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11–20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8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11–20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9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20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11. Nicht benötigte Berechtigungen wie Standort, Kamera oder Dateien nur beim konkreten App-Test erlauben.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12. Terminal oder PowerShell öffnen.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13. adb devices -l ausführen.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14. Prüfen, dass das eigene Handy mit Status „device“ und nicht „unauthorized“ erscheint.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15. Bei „unauthorized“ das Handy entsperren und den RSA-Dialog bestätigen.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1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22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16. Bei „offline“ USB-Kabel, USB-Modus und Debugging neu prüfen.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17. App aus Android Studio, Flutter oder der vorgesehenen Testverteilung starten.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18. Vor dem Login prüfen, welche API-Testadresse verwendet wird.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19. Auf einem echten Handy nicht localhost oder 127.0.0.1 verwenden.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20. Für einen Android-Emulator die vorgesehene Host-Adresse wie 10.0.2.2 verwenden.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3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24" name=""/>
          <p:cNvSpPr/>
          <p:nvPr/>
        </p:nvSpPr>
        <p:spPr>
          <a:xfrm>
            <a:off x="360000" y="3276000"/>
            <a:ext cx="7487280" cy="72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Das richtige Testgerät ist eindeutig verbunden, die App erreicht die vorgesehene Umgebung und es werden keine Zugangsdaten in Logs oder auf einem fremden Rechner hinterlassen. Nach dem Test ist USB-Debugging wieder deaktiviert.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5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26" name=""/>
          <p:cNvSpPr/>
          <p:nvPr/>
        </p:nvSpPr>
        <p:spPr>
          <a:xfrm>
            <a:off x="7992000" y="3276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Gerät: ________. API-Adresse: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221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29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UC-93: Android-Entwicklungsmodus, USB-Debugging und Geräteverbindung · Teil 3/4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0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21–30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1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21–30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2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33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21. Für ein echtes Handy die erreichbare LAN-IP des Entwicklungsrechners und denselben WLAN-Testzugang verwenden.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22. Prüfen, dass Firewall, HTTPS oder Zertifikat die Verbindung nicht blockieren.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23. Die App öffnen und Login, Feed, Nachrichten, Push, Upload und Logout testen.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24. adb logcat nur mit Testdaten und ohne Passwörter oder Tokens als sichtbaren Nachweis verwenden.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25. App abmelden.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4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35" name=""/>
          <p:cNvSpPr/>
          <p:nvPr/>
        </p:nvSpPr>
        <p:spPr>
          <a:xfrm>
            <a:off x="6012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26. Testdaten und lokale Logs entfernen, soweit vorgesehen.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27. USB-Debugging deaktivieren.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28. Entwickleroptionen vollständig deaktivieren, wenn sie nicht mehr benötigt werden.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29. Bei fremdem oder verlorenem Laptop die zugelassenen Debugging-Computer widerrufen.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30. USB-Kabel abziehen.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6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37" name=""/>
          <p:cNvSpPr/>
          <p:nvPr/>
        </p:nvSpPr>
        <p:spPr>
          <a:xfrm>
            <a:off x="360000" y="3276000"/>
            <a:ext cx="7487280" cy="72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Das richtige Testgerät ist eindeutig verbunden, die App erreicht die vorgesehene Umgebung und es werden keine Zugangsdaten in Logs oder auf einem fremden Rechner hinterlassen. Nach dem Test ist USB-Debugging wieder deaktiviert.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8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39" name=""/>
          <p:cNvSpPr/>
          <p:nvPr/>
        </p:nvSpPr>
        <p:spPr>
          <a:xfrm>
            <a:off x="7992000" y="3276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Gerät: ________. API-Adresse: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0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222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1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42" name=""/>
          <p:cNvSpPr/>
          <p:nvPr/>
        </p:nvSpPr>
        <p:spPr>
          <a:xfrm>
            <a:off x="360000" y="198000"/>
            <a:ext cx="10799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UC-93: Android-Entwicklungsmodus, USB-Debugging und Geräteverbindung · Teil 4/4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3" name=""/>
          <p:cNvSpPr/>
          <p:nvPr/>
        </p:nvSpPr>
        <p:spPr>
          <a:xfrm>
            <a:off x="360000" y="558000"/>
            <a:ext cx="179928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  <a:ea typeface="DejaVu Sans"/>
              </a:rPr>
              <a:t>Fortsetzung · Klickschritte 31–31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4" name=""/>
          <p:cNvSpPr/>
          <p:nvPr/>
        </p:nvSpPr>
        <p:spPr>
          <a:xfrm>
            <a:off x="360000" y="756000"/>
            <a:ext cx="4679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Klickschritte 31–31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5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46" name=""/>
          <p:cNvSpPr/>
          <p:nvPr/>
        </p:nvSpPr>
        <p:spPr>
          <a:xfrm>
            <a:off x="360000" y="954000"/>
            <a:ext cx="543528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☐ </a:t>
            </a:r>
            <a:r>
              <a:rPr b="0" lang="de-DE" sz="900" spc="-1" strike="noStrike">
                <a:solidFill>
                  <a:srgbClr val="334155"/>
                </a:solidFill>
                <a:latin typeface="Arial"/>
                <a:ea typeface="DejaVu Sans"/>
              </a:rPr>
              <a:t>31. Prüfen, dass die App ohne Entwicklungsserver nicht versehentlich auf eine falsche Test- oder lokale Adresse zeigt.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7" name=""/>
          <p:cNvSpPr/>
          <p:nvPr/>
        </p:nvSpPr>
        <p:spPr>
          <a:xfrm>
            <a:off x="360000" y="3276000"/>
            <a:ext cx="7487280" cy="593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48" name=""/>
          <p:cNvSpPr/>
          <p:nvPr/>
        </p:nvSpPr>
        <p:spPr>
          <a:xfrm>
            <a:off x="360000" y="3276000"/>
            <a:ext cx="7487280" cy="72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Erwartetes Ergebnis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Das richtige Testgerät ist eindeutig verbunden, die App erreicht die vorgesehene Umgebung und es werden keine Zugangsdaten in Logs oder auf einem fremden Rechner hinterlassen. Nach dem Test ist USB-Debugging wieder deaktiviert.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9" name=""/>
          <p:cNvSpPr/>
          <p:nvPr/>
        </p:nvSpPr>
        <p:spPr>
          <a:xfrm>
            <a:off x="7992000" y="3276000"/>
            <a:ext cx="3455280" cy="593280"/>
          </a:xfrm>
          <a:prstGeom prst="rect">
            <a:avLst/>
          </a:prstGeom>
          <a:solidFill>
            <a:srgbClr val="fff8e1"/>
          </a:solidFill>
          <a:ln w="12600">
            <a:solidFill>
              <a:srgbClr val="ca8a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50" name=""/>
          <p:cNvSpPr/>
          <p:nvPr/>
        </p:nvSpPr>
        <p:spPr>
          <a:xfrm>
            <a:off x="7992000" y="3276000"/>
            <a:ext cx="345528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Status / Nachweis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Bestanden / Fehler / Nachtest: ________. Gerät: ________. API-Adresse: ________.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Status: 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Screenshot/Fehlertext: ____________________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1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223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2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53" name=""/>
          <p:cNvSpPr/>
          <p:nvPr/>
        </p:nvSpPr>
        <p:spPr>
          <a:xfrm>
            <a:off x="396000" y="252000"/>
            <a:ext cx="971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Funktionskatalog · Kern- und Kommunikationsbereiche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4" name=""/>
          <p:cNvSpPr/>
          <p:nvPr/>
        </p:nvSpPr>
        <p:spPr>
          <a:xfrm>
            <a:off x="396000" y="576000"/>
            <a:ext cx="8999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1300" spc="-1" strike="noStrike">
                <a:solidFill>
                  <a:srgbClr val="475569"/>
                </a:solidFill>
                <a:latin typeface="Arial"/>
                <a:ea typeface="DejaVu Sans"/>
              </a:rPr>
              <a:t>Diese Folie ist der Funktionsabgleich hinter den Use Cases.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5" name=""/>
          <p:cNvSpPr/>
          <p:nvPr/>
        </p:nvSpPr>
        <p:spPr>
          <a:xfrm>
            <a:off x="396000" y="972000"/>
            <a:ext cx="5327280" cy="647280"/>
          </a:xfrm>
          <a:prstGeom prst="rect">
            <a:avLst/>
          </a:prstGeom>
          <a:solidFill>
            <a:srgbClr val="ffff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56" name=""/>
          <p:cNvSpPr/>
          <p:nvPr/>
        </p:nvSpPr>
        <p:spPr>
          <a:xfrm>
            <a:off x="396000" y="972000"/>
            <a:ext cx="53272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✓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Zugang: Registrierung, Login, Passwort, E-Mail, 2FA, Sessions, Profilfoto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7" name=""/>
          <p:cNvSpPr/>
          <p:nvPr/>
        </p:nvSpPr>
        <p:spPr>
          <a:xfrm>
            <a:off x="6084000" y="972000"/>
            <a:ext cx="5327280" cy="647280"/>
          </a:xfrm>
          <a:prstGeom prst="rect">
            <a:avLst/>
          </a:prstGeom>
          <a:solidFill>
            <a:srgbClr val="ffff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58" name=""/>
          <p:cNvSpPr/>
          <p:nvPr/>
        </p:nvSpPr>
        <p:spPr>
          <a:xfrm>
            <a:off x="6084000" y="972000"/>
            <a:ext cx="53272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✓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Profile: Status, Sprache, Sportprofil, Skills, Follow, Block, Empfehlungen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9" name=""/>
          <p:cNvSpPr/>
          <p:nvPr/>
        </p:nvSpPr>
        <p:spPr>
          <a:xfrm>
            <a:off x="396000" y="1836000"/>
            <a:ext cx="5327280" cy="647280"/>
          </a:xfrm>
          <a:prstGeom prst="rect">
            <a:avLst/>
          </a:prstGeom>
          <a:solidFill>
            <a:srgbClr val="ffff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60" name=""/>
          <p:cNvSpPr/>
          <p:nvPr/>
        </p:nvSpPr>
        <p:spPr>
          <a:xfrm>
            <a:off x="396000" y="1836000"/>
            <a:ext cx="53272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✓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Feed: Posts, Kommentare, Likes, hilfreich, Stories, Meldungen, Einsprüche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1" name=""/>
          <p:cNvSpPr/>
          <p:nvPr/>
        </p:nvSpPr>
        <p:spPr>
          <a:xfrm>
            <a:off x="6084000" y="1836000"/>
            <a:ext cx="5327280" cy="647280"/>
          </a:xfrm>
          <a:prstGeom prst="rect">
            <a:avLst/>
          </a:prstGeom>
          <a:solidFill>
            <a:srgbClr val="ffff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62" name=""/>
          <p:cNvSpPr/>
          <p:nvPr/>
        </p:nvSpPr>
        <p:spPr>
          <a:xfrm>
            <a:off x="6084000" y="1836000"/>
            <a:ext cx="53272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✓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Chat: Gespräche, Gruppen, Einladungen, Teilnehmer, Mute, Read, Reaktionen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3" name=""/>
          <p:cNvSpPr/>
          <p:nvPr/>
        </p:nvSpPr>
        <p:spPr>
          <a:xfrm>
            <a:off x="396000" y="2700000"/>
            <a:ext cx="5327280" cy="647280"/>
          </a:xfrm>
          <a:prstGeom prst="rect">
            <a:avLst/>
          </a:prstGeom>
          <a:solidFill>
            <a:srgbClr val="ffff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64" name=""/>
          <p:cNvSpPr/>
          <p:nvPr/>
        </p:nvSpPr>
        <p:spPr>
          <a:xfrm>
            <a:off x="396000" y="2700000"/>
            <a:ext cx="53272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✓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Dateien: Upload, Vorschau, Download, Ordner, Freigabe, Shared-Link, Löschen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5" name=""/>
          <p:cNvSpPr/>
          <p:nvPr/>
        </p:nvSpPr>
        <p:spPr>
          <a:xfrm>
            <a:off x="6084000" y="2700000"/>
            <a:ext cx="5327280" cy="647280"/>
          </a:xfrm>
          <a:prstGeom prst="rect">
            <a:avLst/>
          </a:prstGeom>
          <a:solidFill>
            <a:srgbClr val="ffff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66" name=""/>
          <p:cNvSpPr/>
          <p:nvPr/>
        </p:nvSpPr>
        <p:spPr>
          <a:xfrm>
            <a:off x="6084000" y="2700000"/>
            <a:ext cx="53272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✓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Sport: Aktivitäten, Integrationen, Matching, Orte, Routen, Tracks, Ernährung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7" name=""/>
          <p:cNvSpPr/>
          <p:nvPr/>
        </p:nvSpPr>
        <p:spPr>
          <a:xfrm>
            <a:off x="396000" y="3564000"/>
            <a:ext cx="5327280" cy="647280"/>
          </a:xfrm>
          <a:prstGeom prst="rect">
            <a:avLst/>
          </a:prstGeom>
          <a:solidFill>
            <a:srgbClr val="ffff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68" name=""/>
          <p:cNvSpPr/>
          <p:nvPr/>
        </p:nvSpPr>
        <p:spPr>
          <a:xfrm>
            <a:off x="396000" y="3564000"/>
            <a:ext cx="53272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✓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Training: Übungen, Pläne, Vorlagen, AI, Logs, Drafts, Feedback, Analytics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9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224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0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71" name=""/>
          <p:cNvSpPr/>
          <p:nvPr/>
        </p:nvSpPr>
        <p:spPr>
          <a:xfrm>
            <a:off x="396000" y="252000"/>
            <a:ext cx="971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Funktionskatalog · Verein, Team und Lernen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2" name=""/>
          <p:cNvSpPr/>
          <p:nvPr/>
        </p:nvSpPr>
        <p:spPr>
          <a:xfrm>
            <a:off x="396000" y="576000"/>
            <a:ext cx="8999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1300" spc="-1" strike="noStrike">
                <a:solidFill>
                  <a:srgbClr val="475569"/>
                </a:solidFill>
                <a:latin typeface="Arial"/>
                <a:ea typeface="DejaVu Sans"/>
              </a:rPr>
              <a:t>Diese Folie ist der Funktionsabgleich hinter den Use Cases.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3" name=""/>
          <p:cNvSpPr/>
          <p:nvPr/>
        </p:nvSpPr>
        <p:spPr>
          <a:xfrm>
            <a:off x="396000" y="972000"/>
            <a:ext cx="5327280" cy="647280"/>
          </a:xfrm>
          <a:prstGeom prst="rect">
            <a:avLst/>
          </a:prstGeom>
          <a:solidFill>
            <a:srgbClr val="ffffff"/>
          </a:solidFill>
          <a:ln w="126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74" name=""/>
          <p:cNvSpPr/>
          <p:nvPr/>
        </p:nvSpPr>
        <p:spPr>
          <a:xfrm>
            <a:off x="396000" y="972000"/>
            <a:ext cx="53272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✓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Verein: Profil, Bilder, Sichtbarkeit, öffentliche Vorschau, Sponsoren, Jobs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5" name=""/>
          <p:cNvSpPr/>
          <p:nvPr/>
        </p:nvSpPr>
        <p:spPr>
          <a:xfrm>
            <a:off x="6084000" y="972000"/>
            <a:ext cx="5327280" cy="647280"/>
          </a:xfrm>
          <a:prstGeom prst="rect">
            <a:avLst/>
          </a:prstGeom>
          <a:solidFill>
            <a:srgbClr val="ffffff"/>
          </a:solidFill>
          <a:ln w="126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76" name=""/>
          <p:cNvSpPr/>
          <p:nvPr/>
        </p:nvSpPr>
        <p:spPr>
          <a:xfrm>
            <a:off x="6084000" y="972000"/>
            <a:ext cx="53272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✓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Mitglieder: Anträge, externe Mitglieder, Import, Einladung, Rollen, Nummern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7" name=""/>
          <p:cNvSpPr/>
          <p:nvPr/>
        </p:nvSpPr>
        <p:spPr>
          <a:xfrm>
            <a:off x="396000" y="1836000"/>
            <a:ext cx="5327280" cy="647280"/>
          </a:xfrm>
          <a:prstGeom prst="rect">
            <a:avLst/>
          </a:prstGeom>
          <a:solidFill>
            <a:srgbClr val="ffffff"/>
          </a:solidFill>
          <a:ln w="126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78" name=""/>
          <p:cNvSpPr/>
          <p:nvPr/>
        </p:nvSpPr>
        <p:spPr>
          <a:xfrm>
            <a:off x="396000" y="1836000"/>
            <a:ext cx="53272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✓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Beiträge: Mitgliedstypen, Regeln, Rechnungen, Zahlungen, Mahnungen, Bankabgleich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9" name=""/>
          <p:cNvSpPr/>
          <p:nvPr/>
        </p:nvSpPr>
        <p:spPr>
          <a:xfrm>
            <a:off x="6084000" y="1836000"/>
            <a:ext cx="5327280" cy="647280"/>
          </a:xfrm>
          <a:prstGeom prst="rect">
            <a:avLst/>
          </a:prstGeom>
          <a:solidFill>
            <a:srgbClr val="ffffff"/>
          </a:solidFill>
          <a:ln w="126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80" name=""/>
          <p:cNvSpPr/>
          <p:nvPr/>
        </p:nvSpPr>
        <p:spPr>
          <a:xfrm>
            <a:off x="6084000" y="1836000"/>
            <a:ext cx="53272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✓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Export: SEPA, DATEV, Kassenbuch, Spenden, Vorauszahlungen, Audit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1" name=""/>
          <p:cNvSpPr/>
          <p:nvPr/>
        </p:nvSpPr>
        <p:spPr>
          <a:xfrm>
            <a:off x="396000" y="2700000"/>
            <a:ext cx="5327280" cy="647280"/>
          </a:xfrm>
          <a:prstGeom prst="rect">
            <a:avLst/>
          </a:prstGeom>
          <a:solidFill>
            <a:srgbClr val="ffffff"/>
          </a:solidFill>
          <a:ln w="126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82" name=""/>
          <p:cNvSpPr/>
          <p:nvPr/>
        </p:nvSpPr>
        <p:spPr>
          <a:xfrm>
            <a:off x="396000" y="2700000"/>
            <a:ext cx="53272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✓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Team: Erstellen, Bilder, Kader, Rollen, Einladungen, Beitrittsanfragen, Insights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3" name=""/>
          <p:cNvSpPr/>
          <p:nvPr/>
        </p:nvSpPr>
        <p:spPr>
          <a:xfrm>
            <a:off x="6084000" y="2700000"/>
            <a:ext cx="5327280" cy="647280"/>
          </a:xfrm>
          <a:prstGeom prst="rect">
            <a:avLst/>
          </a:prstGeom>
          <a:solidFill>
            <a:srgbClr val="ffffff"/>
          </a:solidFill>
          <a:ln w="126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84" name=""/>
          <p:cNvSpPr/>
          <p:nvPr/>
        </p:nvSpPr>
        <p:spPr>
          <a:xfrm>
            <a:off x="6084000" y="2700000"/>
            <a:ext cx="53272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✓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Events: Filter, Erstellen, Bearbeiten, RSVP, Kommentare, Chat, Anwesenheit, Absage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5" name=""/>
          <p:cNvSpPr/>
          <p:nvPr/>
        </p:nvSpPr>
        <p:spPr>
          <a:xfrm>
            <a:off x="396000" y="3564000"/>
            <a:ext cx="5327280" cy="647280"/>
          </a:xfrm>
          <a:prstGeom prst="rect">
            <a:avLst/>
          </a:prstGeom>
          <a:solidFill>
            <a:srgbClr val="ffffff"/>
          </a:solidFill>
          <a:ln w="126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86" name=""/>
          <p:cNvSpPr/>
          <p:nvPr/>
        </p:nvSpPr>
        <p:spPr>
          <a:xfrm>
            <a:off x="396000" y="3564000"/>
            <a:ext cx="53272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✓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Learning: Kurse, Lektionen, Fortschritt, Notizen, Quiz, Aufgaben, Reviews, Zertifikate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7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225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8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89" name=""/>
          <p:cNvSpPr/>
          <p:nvPr/>
        </p:nvSpPr>
        <p:spPr>
          <a:xfrm>
            <a:off x="396000" y="252000"/>
            <a:ext cx="971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Funktionskatalog · Commerce, Admin und Plattformbetrieb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0" name=""/>
          <p:cNvSpPr/>
          <p:nvPr/>
        </p:nvSpPr>
        <p:spPr>
          <a:xfrm>
            <a:off x="396000" y="576000"/>
            <a:ext cx="8999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1300" spc="-1" strike="noStrike">
                <a:solidFill>
                  <a:srgbClr val="475569"/>
                </a:solidFill>
                <a:latin typeface="Arial"/>
                <a:ea typeface="DejaVu Sans"/>
              </a:rPr>
              <a:t>Diese Folie ist der Funktionsabgleich hinter den Use Cases.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1" name=""/>
          <p:cNvSpPr/>
          <p:nvPr/>
        </p:nvSpPr>
        <p:spPr>
          <a:xfrm>
            <a:off x="396000" y="972000"/>
            <a:ext cx="5327280" cy="647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92" name=""/>
          <p:cNvSpPr/>
          <p:nvPr/>
        </p:nvSpPr>
        <p:spPr>
          <a:xfrm>
            <a:off x="396000" y="972000"/>
            <a:ext cx="53272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✓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Marketplace: Produkte, Anbieter, Suche, Filter, Wunschliste, Warenkorb, Checkout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3" name=""/>
          <p:cNvSpPr/>
          <p:nvPr/>
        </p:nvSpPr>
        <p:spPr>
          <a:xfrm>
            <a:off x="6084000" y="972000"/>
            <a:ext cx="5327280" cy="647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94" name=""/>
          <p:cNvSpPr/>
          <p:nvPr/>
        </p:nvSpPr>
        <p:spPr>
          <a:xfrm>
            <a:off x="6084000" y="972000"/>
            <a:ext cx="53272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✓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Orders: Rechnung, Gutschrift, Überweisung, Versand, Rückgabe, Erstattung, Status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5" name=""/>
          <p:cNvSpPr/>
          <p:nvPr/>
        </p:nvSpPr>
        <p:spPr>
          <a:xfrm>
            <a:off x="396000" y="1836000"/>
            <a:ext cx="5327280" cy="647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96" name=""/>
          <p:cNvSpPr/>
          <p:nvPr/>
        </p:nvSpPr>
        <p:spPr>
          <a:xfrm>
            <a:off x="396000" y="1836000"/>
            <a:ext cx="53272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✓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Seller: Antrag, Produkte, Import, Bestand, Steuern, Versand, Providerstandorte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7" name=""/>
          <p:cNvSpPr/>
          <p:nvPr/>
        </p:nvSpPr>
        <p:spPr>
          <a:xfrm>
            <a:off x="6084000" y="1836000"/>
            <a:ext cx="5327280" cy="647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98" name=""/>
          <p:cNvSpPr/>
          <p:nvPr/>
        </p:nvSpPr>
        <p:spPr>
          <a:xfrm>
            <a:off x="6084000" y="1836000"/>
            <a:ext cx="53272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✓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Marketing: Coupons, Kampagnen, Gruppen, Creatives, Leads, Ads, Website-Anfragen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9" name=""/>
          <p:cNvSpPr/>
          <p:nvPr/>
        </p:nvSpPr>
        <p:spPr>
          <a:xfrm>
            <a:off x="396000" y="2700000"/>
            <a:ext cx="5327280" cy="647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00" name=""/>
          <p:cNvSpPr/>
          <p:nvPr/>
        </p:nvSpPr>
        <p:spPr>
          <a:xfrm>
            <a:off x="396000" y="2700000"/>
            <a:ext cx="53272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✓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Subscriptions: Pläne, Checkout, Banktransfer, Rechnung, Cancel, Renew, Limits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1" name=""/>
          <p:cNvSpPr/>
          <p:nvPr/>
        </p:nvSpPr>
        <p:spPr>
          <a:xfrm>
            <a:off x="6084000" y="2700000"/>
            <a:ext cx="5327280" cy="647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02" name=""/>
          <p:cNvSpPr/>
          <p:nvPr/>
        </p:nvSpPr>
        <p:spPr>
          <a:xfrm>
            <a:off x="6084000" y="2700000"/>
            <a:ext cx="53272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✓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Outfit: Styleprofil, Abo, Pause, Resume, Lieferstatus, Issue, Admin-Pläne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3" name=""/>
          <p:cNvSpPr/>
          <p:nvPr/>
        </p:nvSpPr>
        <p:spPr>
          <a:xfrm>
            <a:off x="396000" y="3564000"/>
            <a:ext cx="5327280" cy="647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04" name=""/>
          <p:cNvSpPr/>
          <p:nvPr/>
        </p:nvSpPr>
        <p:spPr>
          <a:xfrm>
            <a:off x="396000" y="3564000"/>
            <a:ext cx="53272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✓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Admin: Nutzer, Rollen, Rechte, Badges, Gamification, Moderation, Mail, System, Kosten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5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226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614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307" name=""/>
          <p:cNvSpPr/>
          <p:nvPr/>
        </p:nvSpPr>
        <p:spPr>
          <a:xfrm>
            <a:off x="396000" y="288000"/>
            <a:ext cx="9359280" cy="44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500" spc="-1" strike="noStrike">
                <a:solidFill>
                  <a:srgbClr val="ffffff"/>
                </a:solidFill>
                <a:latin typeface="Arial"/>
                <a:ea typeface="DejaVu Sans"/>
              </a:rPr>
              <a:t>Nachweis und Fehlerdokumentation</a:t>
            </a:r>
            <a:endParaRPr b="0" lang="de-DE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8" name=""/>
          <p:cNvSpPr/>
          <p:nvPr/>
        </p:nvSpPr>
        <p:spPr>
          <a:xfrm>
            <a:off x="396000" y="684000"/>
            <a:ext cx="863928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1400" spc="-1" strike="noStrike">
                <a:solidFill>
                  <a:srgbClr val="d8e7ff"/>
                </a:solidFill>
                <a:latin typeface="Arial"/>
                <a:ea typeface="DejaVu Sans"/>
              </a:rPr>
              <a:t>Damit aus „getestet“ ein verwertbarer Befund wird.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9" name=""/>
          <p:cNvSpPr/>
          <p:nvPr/>
        </p:nvSpPr>
        <p:spPr>
          <a:xfrm>
            <a:off x="396000" y="1152000"/>
            <a:ext cx="5327280" cy="791280"/>
          </a:xfrm>
          <a:prstGeom prst="rect">
            <a:avLst/>
          </a:prstGeom>
          <a:solidFill>
            <a:srgbClr val="0f2b52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310" name=""/>
          <p:cNvSpPr/>
          <p:nvPr/>
        </p:nvSpPr>
        <p:spPr>
          <a:xfrm>
            <a:off x="396000" y="1152000"/>
            <a:ext cx="5327280" cy="7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Immer notieren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e8f1ff"/>
                </a:solidFill>
                <a:latin typeface="Arial"/>
                <a:ea typeface="DejaVu Sans"/>
              </a:rPr>
              <a:t>Use Case · Konto · Gerät · Browser/App-Version · Uhrzeit · Status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1" name=""/>
          <p:cNvSpPr/>
          <p:nvPr/>
        </p:nvSpPr>
        <p:spPr>
          <a:xfrm>
            <a:off x="5976000" y="1152000"/>
            <a:ext cx="5399280" cy="791280"/>
          </a:xfrm>
          <a:prstGeom prst="rect">
            <a:avLst/>
          </a:prstGeom>
          <a:solidFill>
            <a:srgbClr val="0f2b52"/>
          </a:solidFill>
          <a:ln w="126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312" name=""/>
          <p:cNvSpPr/>
          <p:nvPr/>
        </p:nvSpPr>
        <p:spPr>
          <a:xfrm>
            <a:off x="5976000" y="1152000"/>
            <a:ext cx="5399280" cy="7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Bei Fehlern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e8f1ff"/>
                </a:solidFill>
                <a:latin typeface="Arial"/>
                <a:ea typeface="DejaVu Sans"/>
              </a:rPr>
              <a:t>Exakter Klickweg · Eingabedaten · erwartetes Ergebnis · tatsächliches Ergebnis · Screenshot · Fehlermeldung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3" name=""/>
          <p:cNvSpPr/>
          <p:nvPr/>
        </p:nvSpPr>
        <p:spPr>
          <a:xfrm>
            <a:off x="396000" y="2232000"/>
            <a:ext cx="5327280" cy="899280"/>
          </a:xfrm>
          <a:prstGeom prst="rect">
            <a:avLst/>
          </a:prstGeom>
          <a:solidFill>
            <a:srgbClr val="0f2b52"/>
          </a:solidFill>
          <a:ln w="126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314" name=""/>
          <p:cNvSpPr/>
          <p:nvPr/>
        </p:nvSpPr>
        <p:spPr>
          <a:xfrm>
            <a:off x="396000" y="2232000"/>
            <a:ext cx="532728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Bei Berechtigungen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e8f1ff"/>
                </a:solidFill>
                <a:latin typeface="Arial"/>
                <a:ea typeface="DejaVu Sans"/>
              </a:rPr>
              <a:t>Mit Gegenkonto und direktem Link prüfen. Zugriff verweigert, Umleitung und Datenleck getrennt dokumentieren.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5" name=""/>
          <p:cNvSpPr/>
          <p:nvPr/>
        </p:nvSpPr>
        <p:spPr>
          <a:xfrm>
            <a:off x="5976000" y="2232000"/>
            <a:ext cx="5399280" cy="899280"/>
          </a:xfrm>
          <a:prstGeom prst="rect">
            <a:avLst/>
          </a:prstGeom>
          <a:solidFill>
            <a:srgbClr val="0f2b52"/>
          </a:solidFill>
          <a:ln w="126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316" name=""/>
          <p:cNvSpPr/>
          <p:nvPr/>
        </p:nvSpPr>
        <p:spPr>
          <a:xfrm>
            <a:off x="5976000" y="2232000"/>
            <a:ext cx="539928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Bei Zahlungen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e8f1ff"/>
                </a:solidFill>
                <a:latin typeface="Arial"/>
                <a:ea typeface="DejaVu Sans"/>
              </a:rPr>
              <a:t>Nur Testmodus, Überweisung oder Mock verwenden. Keine echte SEPA-Datei und keine echte Auszahlung auslösen.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7" name=""/>
          <p:cNvSpPr/>
          <p:nvPr/>
        </p:nvSpPr>
        <p:spPr>
          <a:xfrm>
            <a:off x="396000" y="3960000"/>
            <a:ext cx="971928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1400" spc="-1" strike="noStrike">
                <a:solidFill>
                  <a:srgbClr val="d8e7ff"/>
                </a:solidFill>
                <a:latin typeface="Arial"/>
                <a:ea typeface="DejaVu Sans"/>
              </a:rPr>
              <a:t>Abschluss: Testdaten löschen, alle Geräte abmelden, USB-Debugging deaktivieren.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8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227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9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20" name=""/>
          <p:cNvSpPr/>
          <p:nvPr/>
        </p:nvSpPr>
        <p:spPr>
          <a:xfrm>
            <a:off x="396000" y="288000"/>
            <a:ext cx="8999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2400" spc="-1" strike="noStrike">
                <a:solidFill>
                  <a:srgbClr val="0f2b52"/>
                </a:solidFill>
                <a:latin typeface="Arial"/>
                <a:ea typeface="DejaVu Sans"/>
              </a:rPr>
              <a:t>Startpunkt für die Live-Begleitung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1" name=""/>
          <p:cNvSpPr/>
          <p:nvPr/>
        </p:nvSpPr>
        <p:spPr>
          <a:xfrm>
            <a:off x="396000" y="648000"/>
            <a:ext cx="971928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1300" spc="-1" strike="noStrike">
                <a:solidFill>
                  <a:srgbClr val="475569"/>
                </a:solidFill>
                <a:latin typeface="Arial"/>
                <a:ea typeface="DejaVu Sans"/>
              </a:rPr>
              <a:t>Beginne mit UC-01. Danach gehen wir die Use Cases in der Reihenfolge der Kapitel gemeinsam durch.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2" name=""/>
          <p:cNvSpPr/>
          <p:nvPr/>
        </p:nvSpPr>
        <p:spPr>
          <a:xfrm>
            <a:off x="396000" y="1224000"/>
            <a:ext cx="7199280" cy="1115280"/>
          </a:xfrm>
          <a:prstGeom prst="rect">
            <a:avLst/>
          </a:prstGeom>
          <a:solidFill>
            <a:srgbClr val="e8f1ff"/>
          </a:solidFill>
          <a:ln w="126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23" name=""/>
          <p:cNvSpPr/>
          <p:nvPr/>
        </p:nvSpPr>
        <p:spPr>
          <a:xfrm>
            <a:off x="396000" y="1224000"/>
            <a:ext cx="719928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Als Nächstes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Du öffnest die Präsentation und sagst mir nur: „Ich bin bei UC-01, Schritt 1.“ Dann begleite ich dich Klick für Klick.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4" name=""/>
          <p:cNvSpPr/>
          <p:nvPr/>
        </p:nvSpPr>
        <p:spPr>
          <a:xfrm>
            <a:off x="7920000" y="1224000"/>
            <a:ext cx="3599280" cy="1115280"/>
          </a:xfrm>
          <a:prstGeom prst="rect">
            <a:avLst/>
          </a:prstGeom>
          <a:solidFill>
            <a:srgbClr val="e8f8f1"/>
          </a:solidFill>
          <a:ln w="126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25" name=""/>
          <p:cNvSpPr/>
          <p:nvPr/>
        </p:nvSpPr>
        <p:spPr>
          <a:xfrm>
            <a:off x="7920000" y="1224000"/>
            <a:ext cx="359928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0f2b52"/>
                </a:solidFill>
                <a:latin typeface="Arial"/>
                <a:ea typeface="DejaVu Sans"/>
              </a:rPr>
              <a:t>Bereit zur Prüfung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pc="-1" strike="noStrike">
                <a:solidFill>
                  <a:srgbClr val="1e293b"/>
                </a:solidFill>
                <a:latin typeface="Arial"/>
                <a:ea typeface="DejaVu Sans"/>
              </a:rPr>
              <a:t>Web · App · zwei Handys · zwei Laptops · Testkonten · Testdaten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6" name=""/>
          <p:cNvSpPr/>
          <p:nvPr/>
        </p:nvSpPr>
        <p:spPr>
          <a:xfrm>
            <a:off x="396000" y="2880000"/>
            <a:ext cx="8999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300" spc="-1" strike="noStrike">
                <a:solidFill>
                  <a:srgbClr val="0f2b52"/>
                </a:solidFill>
                <a:latin typeface="Arial"/>
                <a:ea typeface="DejaVu Sans"/>
              </a:rPr>
              <a:t>Die vollständige Detailquelle bleibt zusätzlich als Word- und Markdown-Checkliste erhalten.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7" name=""/>
          <p:cNvSpPr/>
          <p:nvPr/>
        </p:nvSpPr>
        <p:spPr>
          <a:xfrm>
            <a:off x="396000" y="3600000"/>
            <a:ext cx="93592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de-DE" sz="1100" spc="-1" strike="noStrike">
                <a:solidFill>
                  <a:srgbClr val="9a3412"/>
                </a:solidFill>
                <a:latin typeface="Arial"/>
                <a:ea typeface="DejaVu Sans"/>
              </a:rPr>
              <a:t>Nicht vergessen: UI-only oder „API folgt“ als offenes Integrationsthema markieren.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8" name=""/>
          <p:cNvSpPr/>
          <p:nvPr/>
        </p:nvSpPr>
        <p:spPr>
          <a:xfrm>
            <a:off x="11304000" y="6534000"/>
            <a:ext cx="3952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de-DE" sz="800" spc="-1" strike="noStrike">
                <a:solidFill>
                  <a:srgbClr val="64748b"/>
                </a:solidFill>
                <a:latin typeface="Arial"/>
                <a:ea typeface="DejaVu Sans"/>
              </a:rPr>
              <a:t>228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2026-08-03T19:07:19Z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