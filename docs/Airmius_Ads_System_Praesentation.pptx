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22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90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63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17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16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51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766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40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975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06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1454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8E6BE-543E-4B3F-BEF6-7C8F45FFF868}" type="datetimeFigureOut">
              <a:rPr lang="de-DE" smtClean="0"/>
              <a:t>16.05.2026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A2355-FC71-432D-87D1-46F78E35A5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930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SYSTEMDECK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Airmius Ads: vom Kampagnenkauf bis zur Ausspielung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Alles, was Admins, Entwickler und Business-Seite über Struktur, Funktionen, Algorithmus, Finance, Datenschutz und Use Cases wissen müssen.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01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PRODUKT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768600"/>
            <a:ext cx="22352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b="1" dirty="0" smtClean="0">
                <a:solidFill>
                  <a:srgbClr val="F8FAFC"/>
                </a:solidFill>
                <a:latin typeface="Aptos Display"/>
              </a:rPr>
              <a:t>Ads in Commerce</a:t>
            </a:r>
            <a:endParaRPr lang="de-DE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Kampagnen kaufen, verwalten, prüfen und ausspielen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1242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33020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TECHNIK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302000" y="2768600"/>
            <a:ext cx="2057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b="1" dirty="0" smtClean="0">
                <a:solidFill>
                  <a:srgbClr val="F8FAFC"/>
                </a:solidFill>
                <a:latin typeface="Aptos Display"/>
              </a:rPr>
              <a:t>Event Engine</a:t>
            </a:r>
            <a:endParaRPr lang="de-DE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3020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Impressions, Clicks, Leads, Sales und Attribution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7150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8928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FINANCE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892799" y="2768600"/>
            <a:ext cx="2301289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de-DE" b="1" dirty="0" smtClean="0">
                <a:solidFill>
                  <a:srgbClr val="F8FAFC"/>
                </a:solidFill>
                <a:latin typeface="Aptos Display"/>
              </a:rPr>
              <a:t>CPM/CPC/CPL/CPA</a:t>
            </a:r>
            <a:endParaRPr lang="de-DE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8928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Budgetverbrauch je nach Ziel und Event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305800" y="23876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8483600" y="25400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PRIVACY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8483600" y="2768600"/>
            <a:ext cx="20574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b="1" dirty="0" err="1" smtClean="0">
                <a:solidFill>
                  <a:srgbClr val="F8FAFC"/>
                </a:solidFill>
                <a:latin typeface="Aptos Display"/>
              </a:rPr>
              <a:t>Consent</a:t>
            </a:r>
            <a:r>
              <a:rPr lang="de-DE" b="1" dirty="0" smtClean="0">
                <a:solidFill>
                  <a:srgbClr val="F8FAFC"/>
                </a:solidFill>
                <a:latin typeface="Aptos Display"/>
              </a:rPr>
              <a:t>-first</a:t>
            </a:r>
            <a:endParaRPr lang="de-DE" b="1" dirty="0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483600" y="31750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dirty="0" smtClean="0">
                <a:solidFill>
                  <a:srgbClr val="BECDE6"/>
                </a:solidFill>
                <a:latin typeface="Aptos"/>
              </a:rPr>
              <a:t>Personalisierung und Messung nur mit Einwilligung</a:t>
            </a:r>
            <a:endParaRPr lang="de-DE" sz="850" dirty="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533400" y="4064000"/>
            <a:ext cx="10414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300" smtClean="0">
                <a:solidFill>
                  <a:srgbClr val="BECDE6"/>
                </a:solidFill>
                <a:latin typeface="Aptos"/>
              </a:rPr>
              <a:t>Kurzthese: Airmius Ads ist kein loses Banner-System, sondern ein Commerce-Modul mit Zahlung, Review, Auslieferung, Messung, Reporting und DSGVO-Grenzen.</a:t>
            </a:r>
          </a:p>
          <a:p>
            <a:r>
              <a:rPr lang="de-DE" sz="1300" smtClean="0">
                <a:solidFill>
                  <a:srgbClr val="BECDE6"/>
                </a:solidFill>
                <a:latin typeface="Aptos"/>
              </a:rPr>
              <a:t>Der aktuelle Stand ist eine starke interne Grundlage; für Skalierung braucht es später Consent-Banner, Self-Service-Reports, mehr Inventarsteuerung und produktive Rechtsprüfung.</a:t>
            </a:r>
            <a:endParaRPr lang="de-DE" sz="130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999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EXECUTIVE SUMMARY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das Ads-System heute leistet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Kern ist bereits produktnah: User können Kampagnen kaufen, Admins prüfen, die Plattform liefert nach Budget, Zielgruppe, Placement und Performance aus.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02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35200"/>
            <a:ext cx="3302000" cy="1651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35200"/>
            <a:ext cx="63500" cy="1651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876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1. Kaufen &amp; verwalten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17800"/>
            <a:ext cx="29718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Kampagnen entstehen im Commerce-Bereich. Bezahlte User-Kampagnen gehen nach Zahlung in Admin-Prüfung, interne Kampagnen können Admins direkt steuern.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235200"/>
            <a:ext cx="3302000" cy="1651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235200"/>
            <a:ext cx="63500" cy="1651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876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2. Ausspielen &amp; messen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7178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GET /ads/active wählt eine passende Kampagne aus, erzeugt Impression-Events und liefert JSON für Frontend-Placements zurück.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235200"/>
            <a:ext cx="3302000" cy="1651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235200"/>
            <a:ext cx="63500" cy="1651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876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3. Optimieren &amp; schützen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7178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Frequency Caps, Budget Pacing, Audience Matching, Fairness, A/B-Gewichtung und Fraud-Dämpfung verhindern Chaos und Budget-Burn.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Wichtigste Produktentscheidung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6736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Interne Airmius-Kampagnen können priorisiert werden, aber nur für Admins sichtbar angelegt und weiterhin durch Frequency Capping begrenzt. Das schützt Nutzererlebnis und kleine bezahlte Kampagnen.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788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PRODUKTSTRUKTUR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95410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Die vier Ebenen: Kampagne, Anzeigegruppe, Anzeige, Variante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Diese Trennung macht das System verständlich für User und skalierbar für Technik und Reporting.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03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3495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Kampagne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8321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Strategie: Ziel, Budget, Laufzeit, Status, Zahlung, Freigabe.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3495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Anzeigegruppe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832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Zielgruppe: Placement, Region, Alter, Interessen, Sprache, Gerät, Tagesbudget.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3495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Anzeige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8321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Werbemittel: Headline, Text, CTA, Ziel-URL und Bildformat.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3495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Variante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832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A/B-Test: mehrere Creatives mit Gewichtung, CTR und Conversion-Feedback.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82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349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3495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501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Event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832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Messpunkt: Impression, Click, Lead, Sale mit Kosten und Wert.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533400" y="4318000"/>
            <a:ext cx="1041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Warum das wichtig ist: Ein Sponsor kann eine Kampagne für ein Camp haben, eine Anzeigegruppe für Saarland-Fußballer und mehrere Anzeigenvarianten testen.</a:t>
            </a:r>
          </a:p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Für Admins bleibt nachvollziehbar, welche Ebene Budget, Zielgruppe, Creative oder Performance verantwortet.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35221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DATENMODELL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Tabellen und Models das System tragen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Das Ads-System ist eng mit Commerce, User-Consent, Settings und Orders verbunden.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04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473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AdCampaign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Owner, Budget, Ziel, Placement, Status, Review, Laufzeit, interne Priorität, Zielgruppe.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2258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3225800" y="2184400"/>
            <a:ext cx="63500" cy="1473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34290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AdGroup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4290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Kampagnen-Unterstruktur für Zielgruppe, Placement, Status und Tagesbudget.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9182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918200" y="2184400"/>
            <a:ext cx="63500" cy="1473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61214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AdCreative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61214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Varianten mit Headline, Text, CTA, Bild, Gewicht, Aktivstatus und Performance.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610600" y="2184400"/>
            <a:ext cx="2476500" cy="1473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8610600" y="2184400"/>
            <a:ext cx="63500" cy="1473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8813800" y="23368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AdEvent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813800" y="26670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Eventlog mit Kosten, Wert, Hashes, Placement, Objective, Creative und Metadata.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3987800"/>
            <a:ext cx="33020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39878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1402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AdCampaignStat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4704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Tägliche Summen für Impressions, Klicks und Spend. Wichtig für Reporting und Pacing.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4140200" y="3987800"/>
            <a:ext cx="33020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4140200" y="39878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4343400" y="41402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Setting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4343400" y="44704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Preise, Mindestbudget, Frequency Caps, Retention und Commerce-Finance-Regeln.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7747000" y="3987800"/>
            <a:ext cx="33020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7747000" y="3987800"/>
            <a:ext cx="63500" cy="1422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950200" y="41402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User + CommerceOrder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950200" y="44704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Consent-Flags, Käuferbezug, Ads-Zahlung, Rechnungen, Aktivierung nach Provider-Zahlung.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035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LIFECYCLE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Statuslogik vom Entwurf bis Live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Eine Kampagne wird nicht einfach live gestellt. Zahlung und Admin-Prüfung sind bewusst getrennt.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05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860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draft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Entwurf, noch nicht eingereicht oder bezahlt.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860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438400"/>
            <a:ext cx="1549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pending_payment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68600"/>
            <a:ext cx="1549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Checkout gestartet, Zahlung offen.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860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pending_review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68600"/>
            <a:ext cx="1549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Zahlung erledigt; Admin muss prüfen.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860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active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Live, solange Laufzeit, Budget, Caps und Targeting passen.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860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438400"/>
            <a:ext cx="15494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paused/completed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Manuell pausiert oder beendet; wird nicht ausgeliefert.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33400" y="4191000"/>
            <a:ext cx="5105400" cy="1168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33400" y="4191000"/>
            <a:ext cx="63500" cy="11684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36600" y="4343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Ablehnung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36600" y="4673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Status rejected mit review_note. User braucht nachvollziehbare Begründung: Bild, Text, Ziel-URL, Recht, Budget oder Policy.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6" name="Abgerundetes Rechteck 35"/>
          <p:cNvSpPr/>
          <p:nvPr/>
        </p:nvSpPr>
        <p:spPr>
          <a:xfrm>
            <a:off x="5943600" y="4191000"/>
            <a:ext cx="5105400" cy="1168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/>
          <p:cNvSpPr/>
          <p:nvPr/>
        </p:nvSpPr>
        <p:spPr>
          <a:xfrm>
            <a:off x="5943600" y="4191000"/>
            <a:ext cx="63500" cy="1168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/>
          <p:cNvSpPr txBox="1"/>
          <p:nvPr/>
        </p:nvSpPr>
        <p:spPr>
          <a:xfrm>
            <a:off x="6146800" y="4343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Zahlungs-Gate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9" name="Textfeld 38"/>
          <p:cNvSpPr txBox="1"/>
          <p:nvPr/>
        </p:nvSpPr>
        <p:spPr>
          <a:xfrm>
            <a:off x="6146800" y="4673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User-Kampagnen dürfen erst aktiv werden, wenn eine CommerceOrder vom Typ ads_campaign completed ist. Admin-Update prüft das ebenfalls.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6316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USER FLOW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ein Käufer oder Sponsor Ads bucht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Flow ist commerce-nah: erst Struktur erstellen, dann bezahlen, dann Review, dann Ausspielung.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06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860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1 Setup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Name, Ziel, Budget, Laufzeit, Placement, Creative und Ziel-URL.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860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2 Checkout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Stripe, PayPal oder Überweisung als Commerce-Bestellung.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860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3 Review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686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Admin prüft Inhalt, Zielseite, Recht, Jugendschutz und Qualität.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860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4 Live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Aktive Kampagne wird über /ads/active ausgeliefert.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860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5 Reporting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Impressions, Klicks, Spend, CTR, Leads, Sales und Diagnose.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Textfeld 31"/>
          <p:cNvSpPr txBox="1"/>
          <p:nvPr/>
        </p:nvSpPr>
        <p:spPr>
          <a:xfrm>
            <a:off x="533400" y="4292600"/>
            <a:ext cx="10414000" cy="6232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150" smtClean="0">
                <a:solidFill>
                  <a:srgbClr val="BECDE6"/>
                </a:solidFill>
                <a:latin typeface="Aptos"/>
              </a:rPr>
              <a:t>User Case: Ein Kursanbieter bewirbt ein Sommer-Camp. Ziel traffic oder leads, Placement marketplace_card, Region Saarland, Interessen Fußball/Camp, Laufzeit zwei Wochen.</a:t>
            </a:r>
          </a:p>
          <a:p>
            <a:r>
              <a:rPr lang="de-DE" sz="1150" smtClean="0">
                <a:solidFill>
                  <a:srgbClr val="BECDE6"/>
                </a:solidFill>
                <a:latin typeface="Aptos"/>
              </a:rPr>
              <a:t>User Case: Ein Sponsor bewirbt eine Plattform-Aktion. Ziel awareness, CPM-Abrechnung, breite Zielgruppe, Admin-Review vor Livegang.</a:t>
            </a:r>
            <a:endParaRPr lang="de-DE" sz="115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6219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ADMIN WORKFLOW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Admins kontrollieren müssen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Admin-Commerce ist nicht nur eine Liste. Es ist die Schaltzentrale für Preise, Freigabe, Diagnose, Finance und Qualität.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07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Freigabe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Status ändern, review_note setzen, bezahlte User-Kampagnen aktivieren oder ablehnen.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524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Pricing &amp; Caps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CPM, CPC, CPL, CPA, Mindestbudget und Placement-Caps konfigurieren.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524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Diagnose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Warum liefert Kampagne X nicht? Status, Budget, Pacing, Laufzeit, Audience, Conversion-Signal.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Interne Kampagnen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Nur Admins dürfen interne Kampagnen und force_priority setzen. Diese kosten kein Budget, können Airmius-Flächen strategisch besetzen und bleiben trotzdem capped.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Reports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Gesamtwerte und Placement-Berichte: Impressions, Klicks, Leads, Sales, Kosten, Wert und CTR pro Placement.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81889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DELIVERY PIPELINE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smtClean="0">
                <a:solidFill>
                  <a:srgbClr val="F8FAFC"/>
                </a:solidFill>
                <a:latin typeface="Aptos Display"/>
              </a:rPr>
              <a:t>Was bei GET /ads/active passiert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Ausspielung ist eine Filter- und Gewichtungsmaschine, kein simples latest campaign.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08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860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Request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Placement und optional Objective kommen vom Frontend.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860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Kandidaten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Nur active, Laufzeit gültig, Budget vorhanden oder intern.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860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Filter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Budget, Frequency Cap, Pacing und Audience Matching.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860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Gewichtung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686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Ziel, CTR, Freshness, Pacing, Fairness, Conversion, Retargeting.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8194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860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860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4384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Response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686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Creative JSON + Click-URL; Impression wird gespeichert.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33400" y="4191000"/>
            <a:ext cx="10515600" cy="1016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33400" y="4191000"/>
            <a:ext cx="63500" cy="1016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Ergebnis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36600" y="46736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Das Frontend bekommt id, creative_id, headline, description, primary_text, CTA, objective, placement, format, image_url und click_url. Jeder Klick läuft über /ads/{campaign}/click.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0804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ALGORITHMUS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Kampagnen gewichtet werden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Gewichtung kombiniert Performance und Schutzmechanismen. Gewinner bekommen mehr Chancen, neue und kleine Kampagnen werden nicht sofort verdrängt.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09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08200"/>
            <a:ext cx="5105400" cy="1676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08200"/>
            <a:ext cx="63500" cy="1676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Basisformel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weight ≈ objectiveWeight × budgetRemaining × freshness × pacing × fairness × conversion × retargeting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943600" y="2108200"/>
            <a:ext cx="5105400" cy="1676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943600" y="2108200"/>
            <a:ext cx="63500" cy="1676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1468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Objective Weight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61468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Traffic: CTR zählt stark. Awareness: niedrige Impressionzahl hilft. Leads/Sales: CTR plus Conversion-Signal.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34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33400" y="4140200"/>
            <a:ext cx="63500" cy="11938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366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Freshness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366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Neue Kampagnen bekommen Startluft, damit Daten entstehen.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32258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3225800" y="4140200"/>
            <a:ext cx="63500" cy="11938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34290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Fairness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34290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Kleine Budgets erhalten Schutz vor sofortiger Verdrängung.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182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18200" y="4140200"/>
            <a:ext cx="63500" cy="11938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214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Pacing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214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Zu langsam: Boost. Zu schnell: Dämpfung.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8610600" y="4140200"/>
            <a:ext cx="2476500" cy="11938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8610600" y="4140200"/>
            <a:ext cx="63500" cy="11938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8813800" y="42926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Retargeting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8813800" y="46228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Nur mit Consent; Interessen und letzte Klicks erhöhen Relevanz.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7166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PRIORITÄT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Interne Airmius-Ads ohne Nutzererlebnis zu ruinieren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force_priority existiert für Plattformkampagnen, Onboarding-Hinweise oder strategische interne Flächen.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10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600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Wer darf es sehen?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Die Admin-UI zeigt interne Kampagnen und force_priority nur für Admins beziehungsweise berechtigte Commerce-Manager.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600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Was passiert technisch?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Interne priorisierte Kampagnen werden zuerst im Kandidatenpool gewählt und erhalten sehr hohes Gewicht.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600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Was begrenzt es?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Frequency Caps, Laufzeit, Placement und Audience-Regeln gelten weiterhin. Interne Ads kosten kein Budget.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Empfehlung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673600"/>
            <a:ext cx="10185400" cy="2492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Interne Priorität sparsam nutzen: Produktlaunches, rechtliche Hinweise, wichtige Plattformaktionen. Nicht als Dauerzustand, sonst verlieren bezahlte Kampagnen Vertrauen.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55366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FINANCE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Airmius mit Ads Geld verdient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Abrechnung hängt am Kampagnenziel. Das verhindert, dass jedes Event immer Geld kostet.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11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CPM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5,00 EUR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2971800"/>
            <a:ext cx="1803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Standard pro 1.000 Impressions bei awareness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2946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3124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CPC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124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0,30 EUR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124200" y="2971800"/>
            <a:ext cx="1803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Standard pro Klick bei traffic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59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537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CPL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537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2,00 EUR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537200" y="2971800"/>
            <a:ext cx="1803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 smtClean="0">
                <a:solidFill>
                  <a:srgbClr val="BECDE6"/>
                </a:solidFill>
                <a:latin typeface="Aptos"/>
              </a:rPr>
              <a:t>Standard pro Lead bei leads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7772400" y="2184400"/>
            <a:ext cx="2159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7950200" y="2336800"/>
            <a:ext cx="1803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CPA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7950200" y="2565400"/>
            <a:ext cx="1803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10 %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950200" y="2971800"/>
            <a:ext cx="1803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Standard vom Warenwert bei sales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39370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3937000"/>
            <a:ext cx="63500" cy="1422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089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Budgetverbrauch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419600"/>
            <a:ext cx="47752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spent_cents steigt nur, wenn ein Event für das Ziel abrechnungsrelevant ist und Budget vorhanden ist. Daily Budget stoppt Tagesverbrauch, Gesamtbudget stoppt Kampagne.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5943600" y="39370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5943600" y="39370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6146800" y="4089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Commerce-Verknüpfung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6146800" y="4419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Ads-Käufe sind CommerceOrders vom Typ ads_campaign. Nach Provider-Zahlung wird die Kampagne pending_review und erhält später Freigabe.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70406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EVENT ACCOUNTING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Events das System kennt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AdEvent ist die Wahrheit für spätere Reports, Diagnosen, Kosten und Attribution.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12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49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impression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Anzeige wurde ausgeliefert. Bei awareness kann CPM-Kostenlogik greifen.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2258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3225800" y="2133600"/>
            <a:ext cx="63500" cy="1549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34290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click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429000" y="2616200"/>
            <a:ext cx="21463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Klick auf Click-URL. Bei traffic kann CPC berechnet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9182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918200" y="2133600"/>
            <a:ext cx="63500" cy="1549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61214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lead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6121400" y="26162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Registrierung, Anfrage oder Checkout-Start. Bei leads kann CPL berechnet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610600" y="2133600"/>
            <a:ext cx="24765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8610600" y="2133600"/>
            <a:ext cx="63500" cy="1549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8813800" y="2286000"/>
            <a:ext cx="21463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sale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813800" y="2616200"/>
            <a:ext cx="21463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Bezahlte Bestellung. Bei sales kann CPA vom Warenwert berechnet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4038600"/>
            <a:ext cx="105156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4038600"/>
            <a:ext cx="63500" cy="12192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1910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Schutz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5212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Doppelte Events werden per Zeitfenster verhindert: Impression 10 Min, Click 30 Min, Conversions 60 Min. Verdächtiger Traffic wird pro Minute gedämpft: ca. 20 Impressions oder 5 Clicks pro Nutzer/Session/IP+User-Agent.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3963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TARGETING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Zielgruppenlogik heute möglich ist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Audience Matching filtert und gewichtet nach echten Kriterien, soweit Daten vorhanden sind.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13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Inklusion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Regionen, Interessen, Geräte, Sprachen, Zeitfenster, Alter von/bis.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33600"/>
            <a:ext cx="63500" cy="1524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Exklusion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Ausgeschlossene Regionen und Interessen verhindern unpassende Ausspielung.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33600"/>
            <a:ext cx="63500" cy="1524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Fallback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Bei Gästen ohne Profil wird restriktiver bewertet, besonders wenn Alter oder Interessen gebraucht werden.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Sportlicher Kontext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Später stark: Sportart, Rolle, Verein, Teamnähe, Trainingsinteresse, Kurse, Events und Marketplace-Kategorien.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Grenze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Targeting ist nur so gut wie die vorhandenen Profildaten und Consent-Lage. Minderjährige brauchen besonders vorsichtige Regeln.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60122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PLACEMENTS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Wo Anzeigen ausgespielt werden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Placements steuern Format, Nutzerkontext und Frequency Caps.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14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FEED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3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2971800"/>
            <a:ext cx="2057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Sozialer Kontext; vorsichtig dosieren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31242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33020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SIDEBAR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33020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6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3302000" y="2971800"/>
            <a:ext cx="2057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Desktop/Navigation; mehr Wiederholung möglich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7150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8928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MARKETPLACE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8928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3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5892800" y="2971800"/>
            <a:ext cx="2057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Kaufkontext und Produktempfehlungen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8305800" y="2184400"/>
            <a:ext cx="2413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8483600" y="2336800"/>
            <a:ext cx="2057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SPONSOR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8483600" y="2565400"/>
            <a:ext cx="2057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Cap 4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8483600" y="2971800"/>
            <a:ext cx="2057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Partner- und Sponsorenbereiche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33400" y="3987800"/>
            <a:ext cx="10515600" cy="12446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33400" y="3987800"/>
            <a:ext cx="63500" cy="1244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736600" y="41402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Formate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736600" y="44704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Feed Square 1080×1080, Portrait 1080×1350, Story 1080×1920, Wide Banner 1200×628. Upload gewinnt vor externer Bild-URL; Bildformate sind für saubere UX entscheidend.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42913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A/B-TESTS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Creatives lernen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Eine Kampagne kann mehrere Anzeigenvarianten haben. Das System verteilt nicht blind gleichmäßig, sondern gewichtete Chancen.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15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600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Startphase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Neue Creatives bekommen Freshness Boost, damit genug Daten entstehen.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600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CTR-Signal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Ab ca. 30 Impressions fließt CTR stärker in die Gewichtung ein.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600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600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Conversion-Signal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Leads und Sales erhöhen Creative-Gewicht; schwache Varianten werden gedämpft.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Produktnutzen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673600"/>
            <a:ext cx="10185400" cy="2492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Der User muss nicht wissen, welche Variante gewinnt. Airmius kann automatisch bessere Bilder, Texte und CTAs häufiger zeigen und trotzdem Mindestlernen zulassen.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1009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ATTRIBUTION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Wie Klicks zu Leads und Sales werden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Airmius nutzt aktuell Last-Click-Attribution innerhalb eines 14-Tage-Fensters, aber nur mit passender Einwilligung.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16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222500"/>
            <a:ext cx="63500" cy="1397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Click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705100"/>
            <a:ext cx="1549400" cy="8771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20" smtClean="0">
                <a:solidFill>
                  <a:srgbClr val="BECDE6"/>
                </a:solidFill>
                <a:latin typeface="Aptos"/>
              </a:rPr>
              <a:t>Klick speichert campaign_id, creative_id, placement, objective, target_url, clicked_at.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2438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2692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92400" y="2222500"/>
            <a:ext cx="63500" cy="13970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895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Session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2895600" y="2705100"/>
            <a:ext cx="1549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last_ad_click bleibt für Attribution verfügbar.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4597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4851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/>
          <p:cNvSpPr/>
          <p:nvPr/>
        </p:nvSpPr>
        <p:spPr>
          <a:xfrm>
            <a:off x="4851400" y="2222500"/>
            <a:ext cx="63500" cy="1397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5054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Lead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54600" y="2705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Registrierung, Checkout-Start oder Anfrage erzeugt Lead-Event.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6756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7010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/>
          <p:cNvSpPr/>
          <p:nvPr/>
        </p:nvSpPr>
        <p:spPr>
          <a:xfrm>
            <a:off x="7010400" y="2222500"/>
            <a:ext cx="63500" cy="1397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7213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Sale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213600" y="2705100"/>
            <a:ext cx="1549400" cy="7201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Nach bezahlter Order wird Sale-Event mit order_id und value_cents erstellt.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8915400" y="2755900"/>
            <a:ext cx="2667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7E97B8"/>
                </a:solidFill>
                <a:latin typeface="Aptos Display"/>
              </a:rPr>
              <a:t>-&gt;</a:t>
            </a:r>
            <a:endParaRPr lang="de-DE" sz="1400" b="1">
              <a:solidFill>
                <a:srgbClr val="7E97B8"/>
              </a:solidFill>
              <a:latin typeface="Aptos Display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9169400" y="2222500"/>
            <a:ext cx="1879600" cy="1397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9169400" y="2222500"/>
            <a:ext cx="63500" cy="13970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9372600" y="2374900"/>
            <a:ext cx="1549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Kosten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9372600" y="2705100"/>
            <a:ext cx="15494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CPL/CPA werden nur bei passendem Objective berechnet.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33400" y="4191000"/>
            <a:ext cx="10515600" cy="1041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33400" y="4191000"/>
            <a:ext cx="63500" cy="1041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736600" y="43434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Grenze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736600" y="4673600"/>
            <a:ext cx="10185400" cy="2492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Ohne ads_measurement_consent wird keine Conversion-Attribution gespeichert. Ohne ads_personalization_consent gibt es kein Retargeting aus Marketplace-Interessen.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50635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DSGVO &amp; PRIVACY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Consent-first statt heimliches Tracking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Die technische Umsetzung trennt notwendige Auslieferung von personalisierter Werbung und Conversion-Messung.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17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844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User-Flags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ads_personalization_consent und ads_measurement_consent liegen am User und steuern Funktionen getrennt.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84400"/>
            <a:ext cx="63500" cy="1524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Datenminimierung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Session, IP und User-Agent werden gehasht; Guest-E-Mail wird nicht in Ad-Metadata gespeichert.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844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84400"/>
            <a:ext cx="63500" cy="1524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3368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Retention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670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airmius:prune-ad-events löscht alte AdEvents nach konfigurierter Frist, Standard 180 Tage, Minimum 30.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10515600" cy="12446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2446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101854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Was noch fehlt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101854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Für echten Livebetrieb: Consent-Banner/CMP, finale Datenschutzerklärung, AV-Verträge, Lösch-/Exportprozesse, Minderjährigenregeln und dokumentierte Interessenabwägung für kontextuelle Ads.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82681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REPORTING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Welche Kennzahlen Admins sehen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Reporting ist aktuell admin-zentriert und kombiniert Kampagnen-, Placement- und Diagnoseperspektive.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18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/>
          <p:cNvSpPr txBox="1"/>
          <p:nvPr/>
        </p:nvSpPr>
        <p:spPr>
          <a:xfrm>
            <a:off x="7112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884FF"/>
                </a:solidFill>
                <a:latin typeface="Aptos"/>
              </a:rPr>
              <a:t>BASIS</a:t>
            </a:r>
            <a:endParaRPr lang="de-DE" sz="8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711200" y="2590800"/>
            <a:ext cx="15494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Impr./Clicks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11200" y="2997200"/>
            <a:ext cx="1549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Reichweite und Interesse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26416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28194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26C6DA"/>
                </a:solidFill>
                <a:latin typeface="Aptos"/>
              </a:rPr>
              <a:t>KOSTEN</a:t>
            </a:r>
            <a:endParaRPr lang="de-DE" sz="800" b="1">
              <a:solidFill>
                <a:srgbClr val="26C6DA"/>
              </a:solidFill>
              <a:latin typeface="Aptos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28194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Spend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819400" y="2997200"/>
            <a:ext cx="1549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Budgetverbrauch in Cent/EUR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47498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49276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WERT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49276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Value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4927600" y="2997200"/>
            <a:ext cx="15494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Sales-/Order-Wert bei Conversions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68580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/>
          <p:cNvSpPr txBox="1"/>
          <p:nvPr/>
        </p:nvSpPr>
        <p:spPr>
          <a:xfrm>
            <a:off x="70358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FFB142"/>
                </a:solidFill>
                <a:latin typeface="Aptos"/>
              </a:rPr>
              <a:t>QUALITÄT</a:t>
            </a:r>
            <a:endParaRPr lang="de-DE" sz="800" b="1">
              <a:solidFill>
                <a:srgbClr val="FFB142"/>
              </a:solidFill>
              <a:latin typeface="Aptos"/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70358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CTR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035800" y="2997200"/>
            <a:ext cx="1549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Klicks / Impressionen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8966200" y="2209800"/>
            <a:ext cx="1905000" cy="1168400"/>
          </a:xfrm>
          <a:prstGeom prst="roundRect">
            <a:avLst/>
          </a:prstGeom>
          <a:solidFill>
            <a:srgbClr val="182233"/>
          </a:solidFill>
          <a:ln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/>
          <p:cNvSpPr txBox="1"/>
          <p:nvPr/>
        </p:nvSpPr>
        <p:spPr>
          <a:xfrm>
            <a:off x="9144000" y="2362200"/>
            <a:ext cx="15494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b="1" smtClean="0">
                <a:solidFill>
                  <a:srgbClr val="3AD39F"/>
                </a:solidFill>
                <a:latin typeface="Aptos"/>
              </a:rPr>
              <a:t>OUTCOME</a:t>
            </a:r>
            <a:endParaRPr lang="de-DE" sz="800" b="1">
              <a:solidFill>
                <a:srgbClr val="3AD39F"/>
              </a:solidFill>
              <a:latin typeface="Aptos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9144000" y="2590800"/>
            <a:ext cx="1549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000" b="1" smtClean="0">
                <a:solidFill>
                  <a:srgbClr val="F8FAFC"/>
                </a:solidFill>
                <a:latin typeface="Aptos Display"/>
              </a:rPr>
              <a:t>Lead/Sale</a:t>
            </a:r>
            <a:endParaRPr lang="de-DE" sz="20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9144000" y="2997200"/>
            <a:ext cx="15494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50" smtClean="0">
                <a:solidFill>
                  <a:srgbClr val="BECDE6"/>
                </a:solidFill>
                <a:latin typeface="Aptos"/>
              </a:rPr>
              <a:t>Geschäftlicher Erfolg</a:t>
            </a:r>
            <a:endParaRPr lang="de-DE" sz="85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8" name="Abgerundetes Rechteck 27"/>
          <p:cNvSpPr/>
          <p:nvPr/>
        </p:nvSpPr>
        <p:spPr>
          <a:xfrm>
            <a:off x="533400" y="4038600"/>
            <a:ext cx="5105400" cy="1346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/>
          <p:cNvSpPr/>
          <p:nvPr/>
        </p:nvSpPr>
        <p:spPr>
          <a:xfrm>
            <a:off x="533400" y="4038600"/>
            <a:ext cx="63500" cy="1346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Placement Report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Aggregiert Events der letzten 30 Tage nach Placement und Event-Typ: Impressions, Clicks, Leads, Sales, Kosten, Wert, CTR.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32" name="Abgerundetes Rechteck 31"/>
          <p:cNvSpPr/>
          <p:nvPr/>
        </p:nvSpPr>
        <p:spPr>
          <a:xfrm>
            <a:off x="5943600" y="4038600"/>
            <a:ext cx="5105400" cy="1346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/>
          <p:cNvSpPr/>
          <p:nvPr/>
        </p:nvSpPr>
        <p:spPr>
          <a:xfrm>
            <a:off x="5943600" y="4038600"/>
            <a:ext cx="63500" cy="1346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Admin Diagnose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35" name="Textfeld 34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Zeigt Gründe: nicht aktiv, Budget verbraucht, Pacing bremst, Laufzeit, Audience aktiv, keine Conversions, interne Priorität.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2696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USE CASES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Wofür Airmius Ads konkret eingesetzt wird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Wert entsteht aus Sportkontext plus Commerce: Anzeigen sind näher an Training, Teams, Vereinen und Marketplace als generische Banner.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19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240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Marketplace Seller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Produkte, Kurse, Camps oder Services bewerben und Sales/Checkout-Starts messen.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33600"/>
            <a:ext cx="63500" cy="15240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Verein &amp; Trainer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Probetraining, Feriencamp, Turnier, neue Teams, Sponsorenfläche oder Kursangebot sichtbar machen.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33600"/>
            <a:ext cx="3302000" cy="15240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33600"/>
            <a:ext cx="63500" cy="15240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Sponsor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16200"/>
            <a:ext cx="29718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Markensichtbarkeit in Sportkontexten, regional oder thematisch begrenzt.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Airmius intern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Upgrade Pro, Outfit-Abo, neue Features, rechtliche Hinweise, Marketplace-Launch, E-Learning oder Onboarding.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Agentur/Website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Airmius kann Website- und Kampagnenanfragen mit Ads verbinden: Landingpage, Zielgruppe, Budget, Reporting.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15822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OPERATIONS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im Betrieb wichtig ist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Ein Ads-System braucht nicht nur Algorithmus, sondern tägliche Regeln und Verantwortlichkeiten.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20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33600"/>
            <a:ext cx="33020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33600"/>
            <a:ext cx="63500" cy="15494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Review SLA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Klare Admin-Zeit für Freigabe/Ablehnung: z. B. 24-48h. Sonst zahlen User und warten ohne Vertrauen.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4140200" y="2133600"/>
            <a:ext cx="33020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4140200" y="2133600"/>
            <a:ext cx="63500" cy="1549400"/>
          </a:xfrm>
          <a:prstGeom prst="rect">
            <a:avLst/>
          </a:prstGeom>
          <a:solidFill>
            <a:srgbClr val="FF6B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43434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Policy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43434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Verbotene Produkte, irreführende Claims, Minderjährige, Glücksspiel, Gesundheit, Rechte, Zielseiten.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7747000" y="2133600"/>
            <a:ext cx="3302000" cy="1549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747000" y="2133600"/>
            <a:ext cx="63500" cy="15494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950200" y="2286000"/>
            <a:ext cx="2971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Finance Check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950200" y="2616200"/>
            <a:ext cx="2971800" cy="5632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Zahlung abgeschlossen? Rechnung erzeugt? Budget korrekt? Refund/Chargeback-Prozess definiert?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334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33400" y="4038600"/>
            <a:ext cx="63500" cy="14224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7366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Monitoring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366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Täglich prüfen: Kampagnen ohne Auslieferung, Budget zu schnell, verdächtige Klicks, Conversion-Spikes, leere Creatives.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Abgerundetes Rechteck 23"/>
          <p:cNvSpPr/>
          <p:nvPr/>
        </p:nvSpPr>
        <p:spPr>
          <a:xfrm>
            <a:off x="5943600" y="4038600"/>
            <a:ext cx="5105400" cy="14224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5943600" y="4038600"/>
            <a:ext cx="63500" cy="14224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6146800" y="41910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Wartung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6146800" y="45212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Scheduler für Pruning aktiv halten, Settings dokumentieren, Reports exportierbar machen, Consent-Änderungen testen.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91699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ROADMAP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als Nächstes sinnvoll ist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Der Stand ist gut für eine eigene Plattform, aber noch nicht Facebook/Google-Niveau. Die nächsten Schritte sind klar.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21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108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108200"/>
            <a:ext cx="63500" cy="1219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Kurzfristig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Consent-Banner, Self-Service-Reports für Käufer, klare Review-Kommentare, Vorschau je Placement, bessere leere Zustände.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943600" y="2108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943600" y="2108200"/>
            <a:ext cx="63500" cy="1219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146800" y="2260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Mittelfristig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6146800" y="2590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Frequency pro User+Placement, Inventarprognose, Zielgruppen-Segmente, Export, Creative-Library, Kampagnen-Duplizieren.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3400" y="37084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33400" y="3708400"/>
            <a:ext cx="63500" cy="1219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36600" y="38608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Langfristig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36600" y="41910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Lookalike-ähnliche Sportsegmente, Bidding/Auktion, Forecasting, Multi-Touch Attribution, Fraud Scoring, Sponsor Marketplace.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943600" y="37084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43600" y="3708400"/>
            <a:ext cx="63500" cy="1219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6146800" y="38608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Recht &amp; Vertrauen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6146800" y="41910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DSGVO-Doku, Auftragsverarbeiter, Minderjährigen-Policy, Werbekennzeichnung, Beschwerde-/Storno-Regeln, Audit-Logs.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33444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/>
          <p:cNvSpPr txBox="1"/>
          <p:nvPr/>
        </p:nvSpPr>
        <p:spPr>
          <a:xfrm>
            <a:off x="533400" y="431800"/>
            <a:ext cx="330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900" b="1" smtClean="0">
                <a:solidFill>
                  <a:srgbClr val="3884FF"/>
                </a:solidFill>
                <a:latin typeface="Aptos"/>
              </a:rPr>
              <a:t>CHEAT SHEET</a:t>
            </a:r>
            <a:endParaRPr lang="de-DE" sz="900" b="1">
              <a:solidFill>
                <a:srgbClr val="3884FF"/>
              </a:solidFill>
              <a:latin typeface="Aptos"/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533400" y="736600"/>
            <a:ext cx="102235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2800" b="1" smtClean="0">
                <a:solidFill>
                  <a:srgbClr val="F8FAFC"/>
                </a:solidFill>
                <a:latin typeface="Aptos Display"/>
              </a:rPr>
              <a:t>Was man sich merken muss</a:t>
            </a:r>
            <a:endParaRPr lang="de-DE" sz="28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533400" y="14224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200" smtClean="0">
                <a:solidFill>
                  <a:srgbClr val="BECDE6"/>
                </a:solidFill>
                <a:latin typeface="Aptos"/>
              </a:rPr>
              <a:t>Das Ads-System ist Commerce, Algorithmus, Reporting und Datenschutz in einem Produktbereich.</a:t>
            </a:r>
            <a:endParaRPr lang="de-DE" sz="1200">
              <a:solidFill>
                <a:srgbClr val="BECDE6"/>
              </a:solidFill>
              <a:latin typeface="Aptos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533400" y="6451600"/>
            <a:ext cx="6604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800" smtClean="0">
                <a:solidFill>
                  <a:srgbClr val="7E97B8"/>
                </a:solidFill>
                <a:latin typeface="Aptos"/>
              </a:rPr>
              <a:t>Airmius Ads System | Produkt-, Technik- und Finance-Dokumentation</a:t>
            </a:r>
            <a:endParaRPr lang="de-DE" sz="800">
              <a:solidFill>
                <a:srgbClr val="7E97B8"/>
              </a:solidFill>
              <a:latin typeface="Aptos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1112500" y="64516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00" b="1" smtClean="0">
                <a:solidFill>
                  <a:srgbClr val="3884FF"/>
                </a:solidFill>
                <a:latin typeface="Aptos Display"/>
              </a:rPr>
              <a:t>22</a:t>
            </a:r>
            <a:endParaRPr lang="de-DE" sz="1000" b="1">
              <a:solidFill>
                <a:srgbClr val="3884FF"/>
              </a:solidFill>
              <a:latin typeface="Aptos Display"/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533400" y="20320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33400" y="2032000"/>
            <a:ext cx="63500" cy="1219200"/>
          </a:xfrm>
          <a:prstGeom prst="rect">
            <a:avLst/>
          </a:prstGeom>
          <a:solidFill>
            <a:srgbClr val="3884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736600" y="2184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Struktur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736600" y="2514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Kampagne = Strategie. Anzeigegruppe = Zielgruppe. Anzeige/Creative = Inhalt. Event = Messung. Setting = Preis/Regel.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943600" y="20320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943600" y="2032000"/>
            <a:ext cx="63500" cy="1219200"/>
          </a:xfrm>
          <a:prstGeom prst="rect">
            <a:avLst/>
          </a:prstGeom>
          <a:solidFill>
            <a:srgbClr val="26C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6146800" y="21844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Ausspielung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6146800" y="25146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Active + Laufzeit + Budget + Cap + Pacing + Audience + Gewichtung. Dann Impression speichern und Creative ausliefern.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16" name="Abgerundetes Rechteck 15"/>
          <p:cNvSpPr/>
          <p:nvPr/>
        </p:nvSpPr>
        <p:spPr>
          <a:xfrm>
            <a:off x="533400" y="3632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533400" y="3632200"/>
            <a:ext cx="63500" cy="1219200"/>
          </a:xfrm>
          <a:prstGeom prst="rect">
            <a:avLst/>
          </a:prstGeom>
          <a:solidFill>
            <a:srgbClr val="3AD39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/>
          <p:cNvSpPr txBox="1"/>
          <p:nvPr/>
        </p:nvSpPr>
        <p:spPr>
          <a:xfrm>
            <a:off x="736600" y="3784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Finance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19" name="Textfeld 18"/>
          <p:cNvSpPr txBox="1"/>
          <p:nvPr/>
        </p:nvSpPr>
        <p:spPr>
          <a:xfrm>
            <a:off x="736600" y="4114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Awareness kostet CPM, Traffic CPC, Leads CPL, Sales CPA. Interne Kampagnen kosten 0 und bleiben capped.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0" name="Abgerundetes Rechteck 19"/>
          <p:cNvSpPr/>
          <p:nvPr/>
        </p:nvSpPr>
        <p:spPr>
          <a:xfrm>
            <a:off x="5943600" y="3632200"/>
            <a:ext cx="5105400" cy="1219200"/>
          </a:xfrm>
          <a:prstGeom prst="roundRect">
            <a:avLst/>
          </a:prstGeom>
          <a:solidFill>
            <a:srgbClr val="111927"/>
          </a:solidFill>
          <a:ln w="12700">
            <a:solidFill>
              <a:srgbClr val="2F3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/>
          <p:cNvSpPr/>
          <p:nvPr/>
        </p:nvSpPr>
        <p:spPr>
          <a:xfrm>
            <a:off x="5943600" y="3632200"/>
            <a:ext cx="63500" cy="1219200"/>
          </a:xfrm>
          <a:prstGeom prst="rect">
            <a:avLst/>
          </a:prstGeom>
          <a:solidFill>
            <a:srgbClr val="FFB1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6146800" y="3784600"/>
            <a:ext cx="4775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400" b="1" smtClean="0">
                <a:solidFill>
                  <a:srgbClr val="F8FAFC"/>
                </a:solidFill>
                <a:latin typeface="Aptos Display"/>
              </a:rPr>
              <a:t>Datenschutz</a:t>
            </a:r>
            <a:endParaRPr lang="de-DE" sz="1400" b="1">
              <a:solidFill>
                <a:srgbClr val="F8FAFC"/>
              </a:solidFill>
              <a:latin typeface="Aptos Display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6146800" y="4114800"/>
            <a:ext cx="4775200" cy="4062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020" smtClean="0">
                <a:solidFill>
                  <a:srgbClr val="BECDE6"/>
                </a:solidFill>
                <a:latin typeface="Aptos"/>
              </a:rPr>
              <a:t>Personalisierung und Conversion-Messung nur mit Consent. Hashes statt Rohdaten, Retention/Pruning, keine Guest-E-Mail in AdEvents.</a:t>
            </a:r>
            <a:endParaRPr lang="de-DE" sz="1020">
              <a:solidFill>
                <a:srgbClr val="BECDE6"/>
              </a:solidFill>
              <a:latin typeface="Aptos"/>
            </a:endParaRPr>
          </a:p>
        </p:txBody>
      </p:sp>
      <p:sp>
        <p:nvSpPr>
          <p:cNvPr id="24" name="Textfeld 23"/>
          <p:cNvSpPr txBox="1"/>
          <p:nvPr/>
        </p:nvSpPr>
        <p:spPr>
          <a:xfrm>
            <a:off x="533400" y="53340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e-DE" sz="1300" smtClean="0">
                <a:solidFill>
                  <a:srgbClr val="BECDE6"/>
                </a:solidFill>
                <a:latin typeface="Aptos"/>
              </a:rPr>
              <a:t>Produktleitsatz: Anzeigen sollen Sportangebote finanzieren und sichtbar machen, ohne Nutzer zu überfordern oder Vertrauen zu verbrennen.</a:t>
            </a:r>
            <a:endParaRPr lang="de-DE" sz="1300">
              <a:solidFill>
                <a:srgbClr val="BECDE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685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2639</Words>
  <Application>Microsoft Office PowerPoint</Application>
  <PresentationFormat>Breitbild</PresentationFormat>
  <Paragraphs>380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Amin Masri</dc:creator>
  <cp:lastModifiedBy>Amin Masri</cp:lastModifiedBy>
  <cp:revision>3</cp:revision>
  <dcterms:created xsi:type="dcterms:W3CDTF">2026-05-16T10:21:50Z</dcterms:created>
  <dcterms:modified xsi:type="dcterms:W3CDTF">2026-05-17T10:26:38Z</dcterms:modified>
</cp:coreProperties>
</file>