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4677f108be4912" /><Relationship Type="http://schemas.openxmlformats.org/officeDocument/2006/relationships/extended-properties" Target="/docProps/app.xml" Id="Rd27f0be0e9f243a9" /><Relationship Type="http://schemas.openxmlformats.org/officeDocument/2006/relationships/officeDocument" Target="/ppt/presentation.xml" Id="Rb0abb9348e4042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70b6a674ee42e9"/>
  </p:sldMasterIdLst>
  <p:notesMasterIdLst>
    <p:notesMasterId xmlns:r="http://schemas.openxmlformats.org/officeDocument/2006/relationships" r:id="R4c261c81ba6547f1"/>
  </p:notesMasterIdLst>
  <p:sldIdLst>
    <p:sldId xmlns:r="http://schemas.openxmlformats.org/officeDocument/2006/relationships" id="256" r:id="Rabf63340e6234d5d"/>
    <p:sldId xmlns:r="http://schemas.openxmlformats.org/officeDocument/2006/relationships" id="257" r:id="Rf7181a1e7dc0435a"/>
    <p:sldId xmlns:r="http://schemas.openxmlformats.org/officeDocument/2006/relationships" id="258" r:id="R7182640a556b42a4"/>
    <p:sldId xmlns:r="http://schemas.openxmlformats.org/officeDocument/2006/relationships" id="259" r:id="Rec9a513b5c8d44b0"/>
    <p:sldId xmlns:r="http://schemas.openxmlformats.org/officeDocument/2006/relationships" id="260" r:id="Rb2b8e73edecf4ac8"/>
    <p:sldId xmlns:r="http://schemas.openxmlformats.org/officeDocument/2006/relationships" id="261" r:id="Rd69c135c82194d53"/>
    <p:sldId xmlns:r="http://schemas.openxmlformats.org/officeDocument/2006/relationships" id="262" r:id="Ra282c49799ce4ccf"/>
    <p:sldId xmlns:r="http://schemas.openxmlformats.org/officeDocument/2006/relationships" id="263" r:id="R159d4093d6074d1e"/>
    <p:sldId xmlns:r="http://schemas.openxmlformats.org/officeDocument/2006/relationships" id="264" r:id="Reb6453f7248e461b"/>
    <p:sldId xmlns:r="http://schemas.openxmlformats.org/officeDocument/2006/relationships" id="265" r:id="R3ab7942bb1c243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0b6a674ee42e9" /><Relationship Type="http://schemas.openxmlformats.org/officeDocument/2006/relationships/theme" Target="/ppt/theme/theme1.xml" Id="R4f2ce5813ef7407a" /><Relationship Type="http://schemas.openxmlformats.org/officeDocument/2006/relationships/notesMaster" Target="/ppt/notesMasters/notesMaster1.xml" Id="R4c261c81ba6547f1" /><Relationship Type="http://schemas.openxmlformats.org/officeDocument/2006/relationships/presProps" Target="/ppt/presProps.xml" Id="R557c7deb103d44c2" /><Relationship Type="http://schemas.openxmlformats.org/officeDocument/2006/relationships/viewProps" Target="/ppt/viewProps.xml" Id="Reff7f0bea8a94c32" /><Relationship Type="http://schemas.openxmlformats.org/officeDocument/2006/relationships/tableStyles" Target="/ppt/tableStyles.xml" Id="Rb6c18d0d85b146a1" /><Relationship Type="http://schemas.openxmlformats.org/officeDocument/2006/relationships/slide" Target="/ppt/slides/slide1.xml" Id="Rabf63340e6234d5d" /><Relationship Type="http://schemas.openxmlformats.org/officeDocument/2006/relationships/slide" Target="/ppt/slides/slide2.xml" Id="Rf7181a1e7dc0435a" /><Relationship Type="http://schemas.openxmlformats.org/officeDocument/2006/relationships/slide" Target="/ppt/slides/slide3.xml" Id="R7182640a556b42a4" /><Relationship Type="http://schemas.openxmlformats.org/officeDocument/2006/relationships/slide" Target="/ppt/slides/slide4.xml" Id="Rec9a513b5c8d44b0" /><Relationship Type="http://schemas.openxmlformats.org/officeDocument/2006/relationships/slide" Target="/ppt/slides/slide5.xml" Id="Rb2b8e73edecf4ac8" /><Relationship Type="http://schemas.openxmlformats.org/officeDocument/2006/relationships/slide" Target="/ppt/slides/slide6.xml" Id="Rd69c135c82194d53" /><Relationship Type="http://schemas.openxmlformats.org/officeDocument/2006/relationships/slide" Target="/ppt/slides/slide7.xml" Id="Ra282c49799ce4ccf" /><Relationship Type="http://schemas.openxmlformats.org/officeDocument/2006/relationships/slide" Target="/ppt/slides/slide8.xml" Id="R159d4093d6074d1e" /><Relationship Type="http://schemas.openxmlformats.org/officeDocument/2006/relationships/slide" Target="/ppt/slides/slide9.xml" Id="Reb6453f7248e461b" /><Relationship Type="http://schemas.openxmlformats.org/officeDocument/2006/relationships/slide" Target="/ppt/slides/slide10.xml" Id="R3ab7942bb1c243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271e2d16caa42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61ea9cad7d422c" /><Relationship Type="http://schemas.openxmlformats.org/officeDocument/2006/relationships/notesMaster" Target="/ppt/notesMasters/notesMaster1.xml" Id="R8826cf10bbc645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1532ddf094423b" /><Relationship Type="http://schemas.openxmlformats.org/officeDocument/2006/relationships/notesMaster" Target="/ppt/notesMasters/notesMaster1.xml" Id="R1ed652395fa942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e4e26c33984038" /><Relationship Type="http://schemas.openxmlformats.org/officeDocument/2006/relationships/notesMaster" Target="/ppt/notesMasters/notesMaster1.xml" Id="Rea1b74ec666f44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a9dca01ecf4ba6" /><Relationship Type="http://schemas.openxmlformats.org/officeDocument/2006/relationships/notesMaster" Target="/ppt/notesMasters/notesMaster1.xml" Id="R3ea7cd969f7a42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53f1345a094a4a" /><Relationship Type="http://schemas.openxmlformats.org/officeDocument/2006/relationships/notesMaster" Target="/ppt/notesMasters/notesMaster1.xml" Id="R482ae29df6b04f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6378ca9a474b25" /><Relationship Type="http://schemas.openxmlformats.org/officeDocument/2006/relationships/notesMaster" Target="/ppt/notesMasters/notesMaster1.xml" Id="Ra357e8c3522c44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ee063f0ebd40c3" /><Relationship Type="http://schemas.openxmlformats.org/officeDocument/2006/relationships/notesMaster" Target="/ppt/notesMasters/notesMaster1.xml" Id="R4f9aa0a4f8984d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df7e98b65b4b1c" /><Relationship Type="http://schemas.openxmlformats.org/officeDocument/2006/relationships/notesMaster" Target="/ppt/notesMasters/notesMaster1.xml" Id="Re3e42c0d245c4c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855307a3ab49cb" /><Relationship Type="http://schemas.openxmlformats.org/officeDocument/2006/relationships/notesMaster" Target="/ppt/notesMasters/notesMaster1.xml" Id="R25d414da3e5443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bc3cea790a43ac" /><Relationship Type="http://schemas.openxmlformats.org/officeDocument/2006/relationships/notesMaster" Target="/ppt/notesMasters/notesMaster1.xml" Id="R78e9a025975042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3def6e54c47c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bde9bf900e5423d" /><Relationship Type="http://schemas.openxmlformats.org/officeDocument/2006/relationships/slideLayout" Target="/ppt/slideLayouts/slideLayout2.xml" Id="R65a95a4aa82641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a95a4aa82641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bb125bb0334d98" /><Relationship Type="http://schemas.openxmlformats.org/officeDocument/2006/relationships/notesSlide" Target="/ppt/notesSlides/notesSlide1.xml" Id="Rc61772d673804d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8bbd01a6cd47af" /><Relationship Type="http://schemas.openxmlformats.org/officeDocument/2006/relationships/notesSlide" Target="/ppt/notesSlides/notesSlide2.xml" Id="R1230413194f942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87386ed5cd481c" /><Relationship Type="http://schemas.openxmlformats.org/officeDocument/2006/relationships/notesSlide" Target="/ppt/notesSlides/notesSlide3.xml" Id="R981d891d18ed40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85cea4009448bf" /><Relationship Type="http://schemas.openxmlformats.org/officeDocument/2006/relationships/notesSlide" Target="/ppt/notesSlides/notesSlide4.xml" Id="R658a1590cfa14e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fa3f053c2749c5" /><Relationship Type="http://schemas.openxmlformats.org/officeDocument/2006/relationships/notesSlide" Target="/ppt/notesSlides/notesSlide5.xml" Id="Rd1bd7bac6bc545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86abe5ae3411a" /><Relationship Type="http://schemas.openxmlformats.org/officeDocument/2006/relationships/notesSlide" Target="/ppt/notesSlides/notesSlide6.xml" Id="R92267c47c11040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cb35d3fb2b4fd5" /><Relationship Type="http://schemas.openxmlformats.org/officeDocument/2006/relationships/notesSlide" Target="/ppt/notesSlides/notesSlide7.xml" Id="Rb1df7d86f71146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85673eec5d4914" /><Relationship Type="http://schemas.openxmlformats.org/officeDocument/2006/relationships/notesSlide" Target="/ppt/notesSlides/notesSlide8.xml" Id="Re77d4f92dcee46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be2bb4032c466b" /><Relationship Type="http://schemas.openxmlformats.org/officeDocument/2006/relationships/notesSlide" Target="/ppt/notesSlides/notesSlide9.xml" Id="Rb260ad29fb0f4f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e6fa19f1b46ac" /><Relationship Type="http://schemas.openxmlformats.org/officeDocument/2006/relationships/notesSlide" Target="/ppt/notesSlides/notesSlide10.xml" Id="R9c4ea37699c04c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8E4B66-BB82-42A7-8800-BB701BC2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9C71C-B15F-46C5-B723-D43FB236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F8D52-857F-4E0F-AD71-45865DD6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AIRMIUS ADS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EC167-100C-4B9B-874E-6A74849F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742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Kampagnen, Anzeigegruppen, Anzeigen und A/B-Tests sauber verstehen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35E2B-63AF-4F90-A0C3-A7C71891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676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Ein kompaktes Produktdeck mit Begriffen, Formeln, Statuslogik und dem neuen UX-Ablauf: erst Kampagne, dann Anzeigegruppe, dann Anzeige, dann Varianten.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3CFF6-5FB8-4F41-B2EE-E5FC3FEC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1B1F0-1B3F-46DD-8C03-8F33C05D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1811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Kampagne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9F7889-B106-494A-91C0-9B3627AC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6863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A1751-C95A-4C2A-88B4-1FA1CF84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62500"/>
            <a:ext cx="11811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Anzeigegruppe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CC21D-1A1D-4106-A6EC-EFA0EE37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A2E41-CE0E-47FB-AAC8-AE49CC7F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762500"/>
            <a:ext cx="11811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Anzeige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F03A9-24E0-4786-8F8B-F010B85A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863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AD2D8-75F5-4561-8F4D-FD0C3093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762500"/>
            <a:ext cx="11811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Variante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C38AB-F656-4BFE-8E40-3E711C1B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8250"/>
            <a:ext cx="2667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BAEAB2-B2AE-430A-A02D-1EC2D58E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621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Kurzlogik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6C1C4-F635-4A4A-9E98-4CEF96DD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1952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Was bewerbe ich?</a:t>
            </a:r>
          </a:p>
          <a:p xmlns:a="http://schemas.openxmlformats.org/drawingml/2006/main">
            <a:pPr algn="l">
              <a:defRPr sz="157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Wem zeige ich es?</a:t>
            </a:r>
          </a:p>
          <a:p xmlns:a="http://schemas.openxmlformats.org/drawingml/2006/main">
            <a:pPr algn="l">
              <a:defRPr sz="157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Was sieht die Person?</a:t>
            </a:r>
          </a:p>
          <a:p xmlns:a="http://schemas.openxmlformats.org/drawingml/2006/main">
            <a:pPr algn="l">
              <a:defRPr sz="157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Welche Version gewinnt?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A6BEC1-1A20-4D0D-ACF0-25F5DCAA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008371-8662-4209-9E87-112516BF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94A46-0060-45BD-8F2E-5286DEBF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17604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CF5A20-B30D-48DD-A5B7-D312F49F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61F8E77-3EA2-4C5E-8D8F-CE767459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D35E5C1-AF11-4C0D-ADD5-42AE5DD1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STRUKTUR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E9A10-7980-4B75-9510-96F94BD2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9BE3F-D7EA-42A8-8BEA-2D5C2742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Ads werden uebersichtlich, wenn jede Ebene nur eine Aufgabe hat.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E37AF-D5B7-455E-BE10-AD8248E6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Das Modell trennt Strategie, Zielgruppe, Werbemittel und Testvarianten.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E14CFB-8FBD-45E7-95BC-A195EB06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A8043-493A-4579-867D-0B57918A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5212D0-1711-4F30-AB01-602C69D9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Kampagne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39CB2F-2221-4916-84CB-B43ACE71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Container: Name, Ziel, Gesamtbudget, Laufzeit, Zahlung und Freigabe.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A9EA7-33A4-4017-B9C5-B887F6D2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22BC7-9025-4567-8F5C-278A9498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60B1D-20E1-414C-BBA5-423871B8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Anzeigegruppe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97732-AD9F-4581-9072-0B44AD9B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765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Targeting: Sportart, Alter, Geschlecht, Interessen, Ort/Region/Zone, Placement und Tagesbudget.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7EE6B-B737-4AAB-BDDE-C050C02A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69450D-3E3B-4F12-B0EB-64EA4E45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5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B690D6-90FC-4205-A100-1771FF93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336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AC013D-FA03-4E28-8471-F9EC6A4A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Konkretes Werbemittel: Headline, Text, CTA, Ziel-URL, Format und Bild.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39E816-C89E-411D-8F65-9EF9E759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812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65971-51CB-436C-9A47-682FEA93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812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0B7DDB-BD83-4876-96B1-62DB62AA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336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Variante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8100DF-C763-4ADD-A84C-45A2C391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A/B-Test: unterschiedliche Bilder, Texte oder CTAs mit Gewichtung und Statistik.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B411E-B7BA-4310-8FC1-DF586D4C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718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960CED-39D9-4892-998B-0026A374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33775"/>
            <a:ext cx="76200" cy="762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F3DD46-B6DA-4CE5-B426-A30CFD04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718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C400AD-6E42-4B1B-BF48-FE12FF4C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33775"/>
            <a:ext cx="76200" cy="762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3574D0-ADA9-487E-91BB-724EFFB0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718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E449B4-4974-487C-B84F-2ECD30B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33775"/>
            <a:ext cx="76200" cy="762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0B433-7F8E-4BBC-AA78-15FC56D5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DBBAB0-0147-46AF-9403-B8427E19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0E6702-5939-425F-B873-2603F336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494334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86181F-99E2-42F1-8BFA-F9F10896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210CC04-318F-44C8-93D7-26DE2718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E5F0094-5C37-4927-99BA-73AC115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CA12A-9D30-49FF-9035-EB7F8A13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AB008-E60E-499B-8072-997AECBC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Das Kampagnenziel sagt dem System, worauf optimiert werden soll.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1FA0C-7BD8-447D-81F3-B0F89257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Traffic, Reichweite, Leads und Sales sind keine Designs, sondern unterschiedliche Erfolgslogiken.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8F69F-A1D7-4748-8ED1-26AC545E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39A94-7A13-411D-88D7-9B8C900F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ACC80-DA68-47ED-831E-ED433058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193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Traffic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9CC7E-728D-4BF6-A278-9AF8AE36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Ziel: Klicks auf eine Zielseite. Gut fuer Marketplace, Kursseite, Event, Vereinsprofil oder Website.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7A86F-9D61-4FAC-AFE6-1B173E87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669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4AE8C-13C3-47DB-9BF8-725C35A5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669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FB94F-F243-4C45-8243-012B69D6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193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Reichweite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729B30-ACE9-4425-9B3C-8E258E95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622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Ziel: moeglichst viele passende Personen sehen die Anzeige. Gut fuer Bekanntheit und Sponsoren.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4A58A-20C5-44EF-9AEC-17C92885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50CF8D-60A2-4325-97E7-DCB38758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5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C4060-6473-4399-BA3C-AFA7603A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193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Leads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0095FA-91DB-4116-90D2-ACC45CB6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622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Ziel: echte Anfragen. Zum Beispiel Probetraining, Formular, Kontakt oder Kursinteresse.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B4086-5FA9-41C3-BCDD-34792262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2CAC0D-91B0-44AF-8C05-775732A7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38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77C216-AB50-41C2-9484-9711FAC6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193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Sales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9C97A1-0AC1-48BF-B3E1-FA3BDD7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62250"/>
            <a:ext cx="2038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Ziel: Verkauf oder Buchung. Produkte, Kurse, Camps, Abos oder bezahlte Services.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33AEA0-1DAC-4986-8109-FE78D8D1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DCC818-F35E-4F71-9801-3F8C8E3A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D16FAD-124F-4147-8E87-9B088789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966416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AB827F-441A-45F1-8A2E-3C141F65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569126F-FE75-46E4-B2D6-6ABD6E6A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AFDB68C-B639-4CDF-AC43-DEC65EC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TARGETING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BA4EE-1173-4CEA-B94E-992EED1C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1BF9A-A8D4-4BCF-911E-E28877DE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Zielgruppe gehoert auf Anzeigegruppen-Ebene, nicht auf die Kampagne.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97B8A-35B8-44AF-A001-4EC6137F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Eine Kampagne kann mehrere Zielgruppen testen, ohne das Kampagnenbudget oder Ziel zu duplizieren.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6FBB5-6CA6-4B42-8534-654B43EE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9715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95348-BFDC-4812-A235-219D7D39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Anzeigegruppe: Saarland Feed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E85A9-B1AF-48FE-8A20-DBEB74DB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223B9-19A7-4891-9B6E-9FA398DE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Fussball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17130-CCF5-483A-8638-CD2915C1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066F6-CC59-452A-A79A-C18D357C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242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13-18 Jahre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C794E-8CF3-404B-B1C3-F3969E06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480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E1918-E01D-47A0-B132-1B6D2401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alle Geschlechter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F62947-E78A-4671-BA73-1D500D3C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F07A9C-2D83-4D36-9F2B-5D020D58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Saarland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CB106-6E59-4533-8137-FA9AE398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576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7E419-EF23-48AF-8227-4062E7FF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10 km Zone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3A9658-41CC-4948-A49D-DD0542B4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576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09A68-77A2-4191-9E7F-D9A322FB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33800"/>
            <a:ext cx="18192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Interesse: Camps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8E65E-7009-4710-A1E6-BBB74CE5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2000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6BC044-930E-4D66-96CD-9ABEB61E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908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Placement</a:t>
            </a:r>
          </a:p>
          <a:p xmlns:a="http://schemas.openxmlformats.org/drawingml/2006/main">
            <a:pPr algn="ctr">
              <a:defRPr sz="22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Feed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B6C60-AB46-41DB-A840-1357F2A3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720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Tagesbudget und Zeitraum koennen pro Anzeigegruppe gesteuert werden.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6C46F8-9CB3-4787-9326-DDB49903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BC486F-0522-4FFD-891F-2DB2F663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50D31-B97E-4E2A-AF4B-7C350109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022233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345B49-7B75-4075-ACFA-24C92669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FA3233E-5184-4372-8890-49CCE1D1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97C3FB9-F4FD-4456-BAA8-D78C1E97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FORMELN 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C8DC8-4A4C-4A64-A0A2-F3B71D56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451D2-1752-4429-BC7E-5F9EFC12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Die Grundkennzahlen messen Sichtbarkeit und Interesse.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62366-3DA2-4A31-9CDC-B31FFD8B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Diese Werte zeigen, ob eine Anzeige gesehen wird und ob die Zielgruppe darauf reagiert.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D0DA0-CF1B-4699-A4C9-BD87521E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C0D9C-29F2-4BA9-B75A-BA2D717D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95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Impression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02874-B8D0-4B0D-A1FF-42B3196D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86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 wurde angezeigt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FCB4C-CB46-45E2-8F29-B754B5D3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95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Zaehlt jede Ausspielung, auch wenn dieselbe Person sie mehrfach sieht.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ADF860-A7EB-4880-80BD-0A662B66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F0BE0-955C-446E-BE88-12FEE173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95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CTR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B5403-CDF0-4E93-8750-ABB5C0B2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Klicks / Impressionen * 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F72766-DE43-41E5-93A9-5DA18B97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95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Zeigt, wie attraktiv Anzeige und Zielgruppe zusammenpassen.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CC2E1-5901-4917-AB5E-C1225A2F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D4DA80-89C5-4002-BF0C-85CA5427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95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B31FE0-ECFD-4DB6-97B1-3849CF1F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86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Kosten / Klicks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7963BB-054F-4763-8D01-CF506696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95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Durchschnittliche Kosten pro Klick.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2EE926-6DFC-41D4-BCED-510B371D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681C24-45D9-42B7-9AD6-3CC01EFD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38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C4FFB4-2931-4B1F-8B37-94B6DB50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29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Kosten / Impressionen * 1000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EAA8AE-95CF-4BD6-8A1C-0F7C3AC8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Kosten pro 1.000 Einblendungen.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683E8-0CFD-4B37-A5B2-D891B912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4D1E3-8998-4E26-A644-AECE6967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38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Reach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6A95F4-6ECC-424F-B342-DB53864C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29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einzigartige Personen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F140F9-1B53-4ACB-A203-DCCE4D01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38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Nicht jede Impression ist eine neue Person.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A38081-8D9C-4250-9F40-4C455680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070E62-5402-472C-8AB4-764212CC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385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Restbudget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CA31D8-0E29-4B8B-BCF3-27CF04CD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29025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Gesamtbudget - Verbrauch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9CAFC9-F42B-4D6B-9986-85C070A3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38575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Was fuer weitere Ausspielung uebrig bleibt.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F12D80-1671-4C11-B204-14723B8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6008F5-554F-4F15-9817-4A9C10CE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CABE34-A9A2-4D0F-8CAC-EAD3FDC0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34226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B179E-15EF-4A71-8FB0-0DC631E1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3691164-2363-4873-99B8-00ABC3E2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B6B2CD1-0F31-4D19-801C-E42FD2AF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FORMELN II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A0F33-7035-414E-BEC1-E9C2CD0C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5D029-22F3-45BC-A4EB-95D08825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Sales- und Lead-Kennzahlen zeigen, ob Werbung wirtschaftlich 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07E27-B69C-4DA5-9CB0-D0F52B11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Bei Airmius brauchen wir diese Werte besonders fuer Kurse, Camps, Marketplace-Angebote und Probetrainings.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553CB-F9BE-49A3-A43E-F623D50B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AB9BF-018A-4187-9B27-43B42034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1E218-B109-4E87-877B-1FD667DF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Kosten / Leads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8D7E0-E98B-457A-B8B9-FE5438FA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Kosten pro Anfrage oder Interessensmeldung.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9AD97-634C-4576-903C-CE0A67F9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38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E8943-209E-48B3-A066-72BB189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43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Conversion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AA235-7ACF-4FC1-BF27-43298F61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33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Conversions / Klicks * 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04F15-2506-420F-881B-F0AF5AF3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43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Wie viele Klicks fuehren zum Ziel.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CA60C8-656A-4E4C-B3F0-90BBB5A0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38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3E72BA-9040-43F1-9958-7E16BA50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5ECD3-BFFA-430D-A238-6DC41B9A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Kosten / Conversions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5BE92-F666-48B0-AC32-162BA480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43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Kosten pro Abschluss, Buchung oder Verkauf.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DCA00B-2CAB-41CD-893A-283C9813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FD0D17-66A6-4C37-99E6-B6F7D77E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ROAS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5E69D2-3699-493A-8542-7B6E9B22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Umsatz / Werbekosten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8AB106-35A1-4DED-855E-A2ACFF9C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Beispiel: 500 EUR Umsatz / 100 EUR Ads = ROAS 5.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DFF68D-068F-457B-BF6F-56317AC0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81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514EB7-B1B9-491C-9B0E-38B8672B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86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ROAS 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0506C-D4C5-4AA5-B271-EDEF6FEC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76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Umsatz / Werbekosten *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710B5E-8598-4051-A8B0-D73DDCF7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ROAS 5 entspricht 500 Prozent.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A8999E-4CD8-4F99-A4FB-1E049782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81375"/>
            <a:ext cx="3143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52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852BBA-9DA0-4C70-B499-D29BC63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Budget Pace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828A55-5629-440D-AE94-09FAB564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76650"/>
            <a:ext cx="2876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Verbrauch / Laufzeit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B18EBB-A85D-4D39-8563-6DB62C19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876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698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Zeigt, ob Budget zu schnell oder zu langsam verbraucht wird.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1F2F89-2AE6-48C1-8E92-0E1659D8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68BCF0-D8F6-49A2-90E8-2B23C283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B955E-1E0D-456B-A288-0E84255A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11502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FB8907-322D-476C-BB14-580A2DC4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5B61510-73D4-461D-9712-35FB429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3A1073F-9991-4E32-A81C-E3F68296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77EFA-8AB4-4474-9EFB-AB61DD68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41676-DFFC-48B8-979F-93FD0EDC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Der Statusablauf trennt Entwurf, Zahlung, Pruefung und Ausspielung.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D1584-EE77-4BBC-ADB8-7A4DD7E2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So versteht der User, warum eine Anzeige noch nicht sichtbar ist.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69C21-9E5F-47DB-A41F-EEB19D06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0AF36-E1B7-4557-9553-F50CB8C5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7F259-0EFA-4B5D-A404-D2245FC8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Entwurf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69AD0-53ED-45F4-8F41-9EFB2F19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1718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DCA6C-D8A9-4C98-8507-6E878748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0A38D-2745-456C-A575-575673A0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pending_payment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6B7E7-7159-48A7-A242-0D607016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Zahlung offen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D3B50-69B6-4D21-8893-1F98D3C9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1718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58C4CB-E3EF-4D2A-A956-0DD827E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764204-09A0-4982-989D-3FF815DA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pending_review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97D6E0-F182-4C20-A87D-A5EBB06F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Admin-Pruefung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79EDF-0033-4F7A-B7E5-799B38B9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718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F0777-ADBB-4D66-AF61-E2A65BEC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583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47E9D8-6C03-4FA1-AF5C-B2CA83D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D48B31-9D7D-43A1-9535-2759D194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Live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7834C2-198F-499B-A19B-1EF098F9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718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CC8FA7-5811-4ED8-94AA-3B5F9342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01989F-FB49-44BC-9A8A-C8E907DA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paused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4AD133-A8A6-42AC-9003-10AD2253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Pausiert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EF966-9AAA-4C36-BCF2-FFD651CD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718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4EFD7E-1762-4AC3-8CB3-D289BA2F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762250"/>
            <a:ext cx="1447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26146A-67C1-4E82-84A0-FA814702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952750"/>
            <a:ext cx="1219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E2EAE4-C5BC-4A41-8B0D-3723981B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0040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Beendet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0615D-E6AC-42BE-B877-307783CD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Wichtig: Aktiv wird eine Kampagne erst nach Zahlung und Admin-Freigabe. Vorher kann sie vorbereitet, bearbeitet und strukturiert werden.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8AD5E8-D993-459B-A41A-C50E582F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8A7A2-B92B-4ED1-A2CB-32F126C5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ADDB79-20F1-42AD-9829-53C1C6DC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60408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1AF1FC-C5A2-4549-AD35-3C6E5C3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6797D00-A6D8-4D23-9CA5-0108581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2DE5388-8E11-4AFD-89F9-254F6EDC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UX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7B64E-63C3-420D-98D6-311AF85D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DA98F-F53A-4F74-A3FC-432A3BD1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Der neue Ads-Flow reduziert Ueberforderung und macht Ausbau logisch.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9D165-682C-4E6E-B4B7-020DAD76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User erstellen nicht alles auf einmal. Sie bauen schrittweise eine Kampagne auf.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596D5-FA00-4EE7-B163-6B77D062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3B5DD-AEB1-439F-A707-42D4222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857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23CFD-54EF-429D-B5CB-5AD912CD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574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Kampagne erstellen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C4EFA-8F1F-40AF-875A-EBA7E5F6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Name, Ziel, Budget, Laufzeit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E44D5C-A56E-4A66-A1A3-887E2D14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B99BE-F000-49A2-A490-A5E3DE59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857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E690E-1148-4CD6-B6B9-C2E08B9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432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Anzeigegruppe anlegen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3CAFCE-3E19-4768-982B-38922E47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622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Zielgruppe, Placement, Tagesbudget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26F36-1656-498D-B343-D15110DF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31B43-3865-4B5B-AAC4-B7A92011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81400"/>
            <a:ext cx="857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CB6B33-674A-46AE-B0B0-9F150228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290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Anzeige bauen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52961-BD5A-48F3-8092-5677B145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Headline, Text, CTA, Ziel-URL, Format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13D62-CD36-43D5-AC1E-343FA734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DECB9E-4A58-4802-9726-CF64C588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67200"/>
            <a:ext cx="857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7408E-4832-487B-8D76-A3044EDC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148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Varianten testen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DCED5-3E25-4E3E-9E07-55E4A010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33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Bild/Text A-B, Gewichtung, Statistik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5B188A-D371-4E2E-89EE-11454A08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554634-A5C2-4744-BC9B-3ACA47D6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53000"/>
            <a:ext cx="857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267720-4C3B-44DD-8DAD-E08C5DC1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006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Zahlen &amp; pruefen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ECA087-3396-4D15-A799-F5C1297E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196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Budget zahlen, Admin gibt frei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A29F21-1BAF-4B03-B1D0-B33DADC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C2ACE0-22D8-4155-86C6-F08ADB8A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B14E1F-C36D-4F3A-AB03-4A8D7100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57374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F03AB8-42D4-40C9-8FFB-68C200D7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3201A54-C310-4101-BB24-8BEA55A3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D8AF7AD-FF1C-4945-A448-99F57FF7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AIRMIUS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74AAF-FC4A-4FDE-A1B2-CA5226F3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951E9-FF51-49C2-891E-DA8A0B67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Sportplattform-Ads brauchen sportbezogenes Targeting statt generischer Werbung.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4C61F-4C08-45B8-A273-4924D26F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Airmius kann Anzeigen spaeter deutlich praeziser machen als normale Kleinanzeigen.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20701-57CC-4823-BD72-BEBD3893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048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29025-8B51-4201-B9EB-05D7BA66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8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D4031-B8D7-4B71-BB04-0C4E6328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193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Sport-Kontext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AEF81-E4A8-4C41-B9D7-81F0D6F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7051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Sportart, Rolle, Leistungsniveau, Team-/Vereinsnaehe und Events machen Zielgruppen relevanter.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C5042-3A05-4EF9-AB48-026452FE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048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CDE03-C863-4DF7-8B1E-8E90A421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5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BE57F-20E6-404B-A3C0-C809CB2B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193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Lern- &amp; Kurskontext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9D0DF-EB99-4A0A-B577-6D2117D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62250"/>
            <a:ext cx="27051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Kurse, Camps und Trainingsplaene koennen nach Sportart, Ziel und Fortschritt beworben werden.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C89BC4-186B-492A-91F7-31BA68C0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3048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4C358-C74D-4E90-95A6-6A1C8913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38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6F0CA-DE65-4751-8AA4-34C258CA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193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Marketplace-Kontext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CD39A8-BBEE-4C11-923D-2ADB2D1F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051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Produkte und Services werden passender, wenn Anzeige, Angebot und Zielgruppe sportlich zusammenpassen.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A42AD-86E7-4B81-99EA-0E7D941D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Langfristig sollte das System nicht nur Anzeigen ausspielen, sondern lernen: Welche Sportart, Region, Rolle und Anzeigegruppe erzeugt echte Ergebnisse?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86118-D26B-4AA4-88F2-535D7ED6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7BC73F-212A-404E-916B-DF93AEEF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BD6DDC-9CBF-4549-A04A-24005BAC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2844259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0F8FDA-EE19-4E28-B5DE-1568ACD6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F1E2D78-8A71-4648-8194-2DE4E9AF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C3C9B6C-5286-43E0-88D4-38F904BB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8C7DC"/>
                </a:solidFill>
                <a:latin typeface="Aptos"/>
                <a:ea typeface="Aptos"/>
                <a:cs typeface="Aptos"/>
              </a:rPr>
              <a:t>MERKSATZ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5885A-C467-4F01-B629-3F9CFFF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381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1849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A6BC9-06DA-4E39-B149-97551D1B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8477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8FBFF"/>
                </a:solidFill>
                <a:latin typeface="Aptos Display"/>
                <a:ea typeface="Aptos Display"/>
                <a:cs typeface="Aptos Display"/>
              </a:rPr>
              <a:t>Kampagne ist Strategie. Anzeigegruppe ist Zielgruppe. Anzeige ist Inhalt. Variante ist Experiment.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6DE95-C167-48D4-B816-AB48867F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8C7DC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8C7DC"/>
                </a:solidFill>
                <a:latin typeface="Aptos"/>
                <a:ea typeface="Aptos"/>
                <a:cs typeface="Aptos"/>
              </a:rPr>
              <a:t>Diese Trennung macht Ads fuer User verstaendlich und fuer Airmius technisch skalierbar.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5BE89-4ACC-48F1-BC2B-CCC96B82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9906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8"/>
          </a:solidFill>
          <a:ln xmlns:a="http://schemas.openxmlformats.org/drawingml/2006/main" w="9525">
            <a:solidFill>
              <a:srgbClr val="2435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6C144-62A5-4BB4-A460-CDBF8720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99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Kampagne → Anzeigegruppe → Anzeige → Variante → Messen → Optimieren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2FC16-E196-4BCE-A842-8B9A8071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395FE-1260-4E94-9A0A-8A0A8D2F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CTR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17496-09E7-45C9-A5D8-2F7A85BB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45A77-8D36-4AA0-9906-5F900046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4C617-3E87-44B5-9575-CE40E67E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B0CFE-110A-4B00-A56A-14389CC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CPM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3DA8A-02AA-4B9B-9FE3-BB411923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F30929-8971-4A41-AE5B-6A0FE96B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CPL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8B0CEB-F268-49CD-8ED8-333B6A51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4DA3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AF610F-9AAD-4E6A-BD37-DB4AA323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4DA3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4DA3FF"/>
                </a:solidFill>
                <a:latin typeface="Aptos"/>
                <a:ea typeface="Aptos"/>
                <a:cs typeface="Aptos"/>
              </a:rPr>
              <a:t>CPA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28670-484C-4AA4-81C1-04954EA0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5775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FF8A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26098D-5B38-42E3-B240-B2ACE5E0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933950"/>
            <a:ext cx="6477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3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8A3D"/>
                </a:solidFill>
                <a:latin typeface="Aptos"/>
                <a:ea typeface="Aptos"/>
                <a:cs typeface="Aptos"/>
              </a:rPr>
              <a:t>ROAS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ADB603-382B-4E9E-A2D6-A850AA0E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8CFD8-DAAF-482C-B454-F9A05B10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Airmius Ads System | interne Produkt- und UX-Erklaerung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41439C-0B37-4164-A999-FF199B16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38" b="0">
                <a:solidFill>
                  <a:srgbClr val="71849F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1849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1848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2026-05-14T09:00:49.9280000Z</dcterms:created>
  <dcterms:modified xsi:type="dcterms:W3CDTF">2026-05-14T09:00:49.9290000Z</dcterms:modified>
</coreProperties>
</file>